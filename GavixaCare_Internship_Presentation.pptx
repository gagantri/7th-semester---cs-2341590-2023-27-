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Value Score Breakdown</c:v>
                </c:pt>
              </c:strCache>
            </c:strRef>
          </c:tx>
          <c:spPr>
            <a:solidFill>
              <a:schemeClr val="accent1"/>
            </a:solidFill>
            <a:ln w="9525" cap="flat">
              <a:solidFill>
                <a:srgbClr val="F9F9F9"/>
              </a:solidFill>
              <a:prstDash val="solid"/>
              <a:round/>
            </a:ln>
            <a:effectLst/>
          </c:spPr>
          <c:dPt>
            <c:idx val="0"/>
            <c:bubble3D val="0"/>
            <c:spPr>
              <a:solidFill>
                <a:srgbClr val="1A8884"/>
              </a:solidFill>
              <a:effectLst/>
            </c:spPr>
          </c:dPt>
          <c:dPt>
            <c:idx val="1"/>
            <c:bubble3D val="0"/>
            <c:spPr>
              <a:solidFill>
                <a:srgbClr val="1A4B8C"/>
              </a:solidFill>
              <a:effectLst/>
            </c:spPr>
          </c:dPt>
          <c:dPt>
            <c:idx val="2"/>
            <c:bubble3D val="0"/>
            <c:spPr>
              <a:solidFill>
                <a:srgbClr val="D97706"/>
              </a:solidFill>
              <a:effectLst/>
            </c:spPr>
          </c:dPt>
          <c:dPt>
            <c:idx val="3"/>
            <c:bubble3D val="0"/>
            <c:spPr>
              <a:solidFill>
                <a:srgbClr val="059669"/>
              </a:solidFill>
              <a:effectLst/>
            </c:spPr>
          </c:dPt>
          <c:dLbls>
            <c:dLbl>
              <c:idx val="0"/>
              <c:numFmt formatCode="0&quot;%&quot;" sourceLinked="0"/>
              <c:spPr/>
              <c:txPr>
                <a:bodyPr/>
                <a:lstStyle/>
                <a:p>
                  <a:pPr>
                    <a:defRPr sz="1100" b="1" i="0" u="none" strike="noStrike">
                      <a:solidFill>
                        <a:srgbClr val="FFFFFF"/>
                      </a:solidFill>
                      <a:latin typeface="Arial"/>
                    </a:defRPr>
                  </a:pPr>
                </a:p>
              </c:txPr>
              <c:showLegendKey val="0"/>
              <c:showVal val="1"/>
              <c:showCatName val="0"/>
              <c:showSerName val="0"/>
              <c:showPercent val="0"/>
              <c:showBubbleSize val="0"/>
            </c:dLbl>
            <c:dLbl>
              <c:idx val="1"/>
              <c:numFmt formatCode="0&quot;%&quot;" sourceLinked="0"/>
              <c:spPr/>
              <c:txPr>
                <a:bodyPr/>
                <a:lstStyle/>
                <a:p>
                  <a:pPr>
                    <a:defRPr sz="1100" b="1" i="0" u="none" strike="noStrike">
                      <a:solidFill>
                        <a:srgbClr val="FFFFFF"/>
                      </a:solidFill>
                      <a:latin typeface="Arial"/>
                    </a:defRPr>
                  </a:pPr>
                </a:p>
              </c:txPr>
              <c:showLegendKey val="0"/>
              <c:showVal val="1"/>
              <c:showCatName val="0"/>
              <c:showSerName val="0"/>
              <c:showPercent val="0"/>
              <c:showBubbleSize val="0"/>
            </c:dLbl>
            <c:dLbl>
              <c:idx val="2"/>
              <c:numFmt formatCode="0&quot;%&quot;" sourceLinked="0"/>
              <c:spPr/>
              <c:txPr>
                <a:bodyPr/>
                <a:lstStyle/>
                <a:p>
                  <a:pPr>
                    <a:defRPr sz="1100" b="1" i="0" u="none" strike="noStrike">
                      <a:solidFill>
                        <a:srgbClr val="FFFFFF"/>
                      </a:solidFill>
                      <a:latin typeface="Arial"/>
                    </a:defRPr>
                  </a:pPr>
                </a:p>
              </c:txPr>
              <c:showLegendKey val="0"/>
              <c:showVal val="1"/>
              <c:showCatName val="0"/>
              <c:showSerName val="0"/>
              <c:showPercent val="0"/>
              <c:showBubbleSize val="0"/>
            </c:dLbl>
            <c:dLbl>
              <c:idx val="3"/>
              <c:numFmt formatCode="0&quot;%&quot;" sourceLinked="0"/>
              <c:spPr/>
              <c:txPr>
                <a:bodyPr/>
                <a:lstStyle/>
                <a:p>
                  <a:pPr>
                    <a:defRPr sz="1100" b="1" i="0" u="none" strike="noStrike">
                      <a:solidFill>
                        <a:srgbClr val="FFFFFF"/>
                      </a:solidFill>
                      <a:latin typeface="Arial"/>
                    </a:defRPr>
                  </a:pPr>
                </a:p>
              </c:txPr>
              <c:showLegendKey val="0"/>
              <c:showVal val="1"/>
              <c:showCatName val="0"/>
              <c:showSerName val="0"/>
              <c:showPercent val="0"/>
              <c:showBubbleSize val="0"/>
            </c:dLbl>
            <c:numFmt formatCode="0&quot;%&quot;"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Quality (40%)</c:v>
                </c:pt>
                <c:pt idx="1">
                  <c:v>Price (35%)</c:v>
                </c:pt>
                <c:pt idx="2">
                  <c:v>Availability (15%)</c:v>
                </c:pt>
                <c:pt idx="3">
                  <c:v>Trust (10%)</c:v>
                </c:pt>
              </c:strCache>
            </c:strRef>
          </c:cat>
          <c:val>
            <c:numRef>
              <c:f>Sheet1!$B$2:$B$5</c:f>
              <c:numCache>
                <c:ptCount val="4"/>
                <c:pt idx="0">
                  <c:v>40</c:v>
                </c:pt>
                <c:pt idx="1">
                  <c:v>35</c:v>
                </c:pt>
                <c:pt idx="2">
                  <c:v>15</c:v>
                </c:pt>
                <c:pt idx="3">
                  <c:v>10</c:v>
                </c:pt>
              </c:numCache>
            </c:numRef>
          </c:val>
        </c:ser>
        <c:firstSliceAng val="0"/>
        <c:holeSize val="52"/>
      </c:doughnutChart>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Replace [INSERT ENROLLMENT NUMBER], [SEMESTER], and [INSERT DURATION] with your actual details before presenting. This presentation covers the GavixaCare AI-Powered Healthcare Decision Support Platform developed during internship.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GavixaCare is not a medical diagnosis app — it is a financial intelligence and decision-support platform. It helps patients BEFORE (cost estimation, hospital comparison) and AFTER (bill audit) a healthcare event. Parent brand Gavixa; GavixaCare is the consumer-facing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journey map at the top shows the patient experience. Every stage is a pain point. GavixaCare addresses each: hospital search/compare (Find Hospital), AI cost estimator (Estimate Cost), bill analyzer (Receive Bill), emergency finder (emergency scenarios). The stat anchors the business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GavixaCare is a decision-support platform — not a medical app. It serves patients BEFORE treatment (cost estimator, hospital compare) and AFTER (bill analyzer). Emergency finder handles crisis moments. The Health Vault centralizes personal records. Emphasize: no medical diagnosis, no dosage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user is the Indian family — anyone making a high-cost healthcare decision. Secondary audiences benefit from the same underlying platform. The NRI caregiver use case is particularly strong: they cannot visit hospitals physically and rely entirely on digital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5 features form the complete MVP. All were implemented and tested. The Hospital Directory + Value Score support discovery. The Cost Estimator supports pre-treatment planning. The Bill Analyzer supports post-treatment audit. The Emergency Finder helps in crises. The Vault centralizes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Never say "confirmed fraud." Always use "potential variance" or "billing variance." The ₹1.7L figure is the headline proof-of-concept result. 22 line items from an Apollo Delhi bill were analyzed with per-item confidence scores. This is the strongest evidence of the platform's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 estimator is validated on 4 procedure types. Always clarify: this is NOT a hospital quotation — it is a reference estimate to help patients prepare and ask informed questions. Claude Sonnet 4.5 returns a structured JSON response with all output fields populated.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Score prevents patients from choosing the cheapest-but-worst hospital. Quality has the highest weight because poor outcomes at a low-cost hospital are worse than the savings. The weights are based on what matters most for high-stakes healthcare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Three-tier architecture: React 19 frontend (port 3000) → FastAPI backend (port 8001) → MongoDB. AI services route through the Emergent LLM Gateway to Claude Sonnet 4.5. The backend is organized into 5 service modules. All AI outputs are structured JSON for predictable parsing.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technologies are production-grade open-source. React 19 is the latest stable release. FastAPI is Python's highest-performance async web framework. Claude Sonnet 4.5 is Anthropic's balanced capability/cost model. The stack is chosen for scalability, performance, and maintainability.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AIProvider abstraction is the most important architectural decision. It means the platform is NOT locked to Claude or to Anthropic. Any LLM provider can be integrated by implementing the AIProvider interface — no changes to the business logic services. This is critical for cost optimization and regulatory flexibility.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Healthcare data is the most sensitive category under DPDP Act 2023. Emphasize: no user data is shared without explicit consent, all documents are encrypted and access-controlled, and the AI system never provides medical diagnoses. The ABDM certification is a Phase 3 goal — do not claim it is already achieved.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asked "what was the hardest part?" — mention AI latency and hallucination risk. The latency is an AI API constraint, addressed through prompt optimization. Hallucination is addressed through confidence scoring and evidence-based language constraints in the prompts. These are not just design decisions — they are safety requirements for a healthcare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are measured and verified. The ₹1.7L variance on the ₹5.26L Apollo Delhi bill is the headline proof-of-concept. Emphasize: all 5 features are functional and integrated — not just designed or prototyped. The AI layer is production-grade with retry handling and structured output parsing.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focuses on consumer depth and expanding the user surface. Phase 3 focuses on B2B (hospital SaaS) and government partnerships. Emphasize the platform is designed to grow. The MVP proves the core value proposition is real — the commercial opportunity scales on top of this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Be ready to answer: (1) What exactly did YOU build — describe your specific contributions; (2) How does the AI billing variance detection work; (3) What is the difference between MVP and roadmap features; (4) Why Claude Sonnet 4.5 specifically. Key reminder: "potential variance" not "fraud."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ANGLE">
            <a:avLst/>
          </a:prstGeom>
          <a:solidFill>
            <a:srgbClr val="12B5A8"/>
          </a:solidFill>
          <a:ln w="12700">
            <a:solidFill>
              <a:srgbClr val="12B5A8"/>
            </a:solidFill>
            <a:prstDash val="solid"/>
          </a:ln>
        </p:spPr>
      </p:sp>
      <p:sp>
        <p:nvSpPr>
          <p:cNvPr id="3" name="Shape 1"/>
          <p:cNvSpPr/>
          <p:nvPr/>
        </p:nvSpPr>
        <p:spPr>
          <a:xfrm>
            <a:off x="0" y="5093208"/>
            <a:ext cx="9144000" cy="50292"/>
          </a:xfrm>
          <a:prstGeom prst="RECTANGLE">
            <a:avLst/>
          </a:prstGeom>
          <a:solidFill>
            <a:srgbClr val="1A8884"/>
          </a:solidFill>
          <a:ln w="12700">
            <a:solidFill>
              <a:srgbClr val="1A8884"/>
            </a:solidFill>
            <a:prstDash val="solid"/>
          </a:ln>
        </p:spPr>
      </p:sp>
      <p:sp>
        <p:nvSpPr>
          <p:cNvPr id="4" name="Shape 2"/>
          <p:cNvSpPr/>
          <p:nvPr/>
        </p:nvSpPr>
        <p:spPr>
          <a:xfrm>
            <a:off x="457200" y="182880"/>
            <a:ext cx="1874520" cy="512064"/>
          </a:xfrm>
          <a:prstGeom prst="ROUNDED_RECTANGLE">
            <a:avLst>
              <a:gd name="adj" fmla="val 7143"/>
            </a:avLst>
          </a:prstGeom>
          <a:solidFill>
            <a:srgbClr val="FFFFFF"/>
          </a:solidFill>
          <a:ln w="12700">
            <a:solidFill>
              <a:srgbClr val="D0D0D0"/>
            </a:solidFill>
            <a:prstDash val="solid"/>
          </a:ln>
        </p:spPr>
      </p:sp>
      <p:sp>
        <p:nvSpPr>
          <p:cNvPr id="5" name="Text 3"/>
          <p:cNvSpPr/>
          <p:nvPr/>
        </p:nvSpPr>
        <p:spPr>
          <a:xfrm>
            <a:off x="457200" y="182880"/>
            <a:ext cx="1874520" cy="512064"/>
          </a:xfrm>
          <a:prstGeom prst="rect">
            <a:avLst/>
          </a:prstGeom>
          <a:noFill/>
          <a:ln/>
        </p:spPr>
        <p:txBody>
          <a:bodyPr wrap="square" lIns="0" tIns="0" rIns="0" bIns="0" rtlCol="0" anchor="ctr"/>
          <a:lstStyle/>
          <a:p>
            <a:pPr algn="ctr" indent="0" marL="0">
              <a:buNone/>
            </a:pPr>
            <a:r>
              <a:rPr lang="en-US" sz="1250" b="1" dirty="0">
                <a:solidFill>
                  <a:srgbClr val="0D1B2A"/>
                </a:solidFill>
                <a:latin typeface="Cambria" pitchFamily="34" charset="0"/>
                <a:ea typeface="Cambria" pitchFamily="34" charset="-122"/>
                <a:cs typeface="Cambria" pitchFamily="34" charset="-120"/>
              </a:rPr>
              <a:t>IILM</a:t>
            </a:r>
            <a:endParaRPr lang="en-US" sz="1250" dirty="0"/>
          </a:p>
          <a:p>
            <a:pPr algn="ctr" indent="0" marL="0">
              <a:buNone/>
            </a:pPr>
            <a:r>
              <a:rPr lang="en-US" sz="1250" b="1" dirty="0">
                <a:solidFill>
                  <a:srgbClr val="0D1B2A"/>
                </a:solidFill>
                <a:latin typeface="Cambria" pitchFamily="34" charset="0"/>
                <a:ea typeface="Cambria" pitchFamily="34" charset="-122"/>
                <a:cs typeface="Cambria" pitchFamily="34" charset="-120"/>
              </a:rPr>
              <a:t>UNIVERSITY</a:t>
            </a:r>
            <a:endParaRPr lang="en-US" sz="1250" dirty="0"/>
          </a:p>
        </p:txBody>
      </p:sp>
      <p:sp>
        <p:nvSpPr>
          <p:cNvPr id="6" name="Text 4"/>
          <p:cNvSpPr/>
          <p:nvPr/>
        </p:nvSpPr>
        <p:spPr>
          <a:xfrm>
            <a:off x="2468880" y="201168"/>
            <a:ext cx="6217920" cy="228600"/>
          </a:xfrm>
          <a:prstGeom prst="rect">
            <a:avLst/>
          </a:prstGeom>
          <a:noFill/>
          <a:ln/>
        </p:spPr>
        <p:txBody>
          <a:bodyPr wrap="square" rtlCol="0" anchor="ctr"/>
          <a:lstStyle/>
          <a:p>
            <a:pPr indent="0" marL="0">
              <a:buNone/>
            </a:pPr>
            <a:r>
              <a:rPr lang="en-US" sz="950" dirty="0">
                <a:solidFill>
                  <a:srgbClr val="B0C4C3"/>
                </a:solidFill>
                <a:latin typeface="Calibri" pitchFamily="34" charset="0"/>
                <a:ea typeface="Calibri" pitchFamily="34" charset="-122"/>
                <a:cs typeface="Calibri" pitchFamily="34" charset="-120"/>
              </a:rPr>
              <a:t>School of Computer Science &amp; Engineering   |   Greater Noida, U.P.</a:t>
            </a:r>
            <a:endParaRPr lang="en-US" sz="950" dirty="0"/>
          </a:p>
        </p:txBody>
      </p:sp>
      <p:sp>
        <p:nvSpPr>
          <p:cNvPr id="7" name="Text 5"/>
          <p:cNvSpPr/>
          <p:nvPr/>
        </p:nvSpPr>
        <p:spPr>
          <a:xfrm>
            <a:off x="2468880" y="448056"/>
            <a:ext cx="6217920" cy="201168"/>
          </a:xfrm>
          <a:prstGeom prst="rect">
            <a:avLst/>
          </a:prstGeom>
          <a:noFill/>
          <a:ln/>
        </p:spPr>
        <p:txBody>
          <a:bodyPr wrap="square" rtlCol="0" anchor="ctr"/>
          <a:lstStyle/>
          <a:p>
            <a:pPr indent="0" marL="0">
              <a:buNone/>
            </a:pPr>
            <a:r>
              <a:rPr lang="en-US" sz="850" b="1" spc="150" kern="0" dirty="0">
                <a:solidFill>
                  <a:srgbClr val="12B5A8"/>
                </a:solidFill>
                <a:latin typeface="Calibri" pitchFamily="34" charset="0"/>
                <a:ea typeface="Calibri" pitchFamily="34" charset="-122"/>
                <a:cs typeface="Calibri" pitchFamily="34" charset="-120"/>
              </a:rPr>
              <a:t>INTERNSHIP PROJECT PRESENTATION   ·   2026–27</a:t>
            </a:r>
            <a:endParaRPr lang="en-US" sz="850" dirty="0"/>
          </a:p>
        </p:txBody>
      </p:sp>
      <p:sp>
        <p:nvSpPr>
          <p:cNvPr id="8" name="Shape 6"/>
          <p:cNvSpPr/>
          <p:nvPr/>
        </p:nvSpPr>
        <p:spPr>
          <a:xfrm>
            <a:off x="457200" y="960120"/>
            <a:ext cx="1828800" cy="347472"/>
          </a:xfrm>
          <a:prstGeom prst="ROUNDED_RECTANGLE">
            <a:avLst>
              <a:gd name="adj" fmla="val 15789"/>
            </a:avLst>
          </a:prstGeom>
          <a:solidFill>
            <a:srgbClr val="1A8884"/>
          </a:solidFill>
          <a:ln w="12700">
            <a:solidFill>
              <a:srgbClr val="1A8884"/>
            </a:solidFill>
            <a:prstDash val="solid"/>
          </a:ln>
        </p:spPr>
      </p:sp>
      <p:sp>
        <p:nvSpPr>
          <p:cNvPr id="9" name="Text 7"/>
          <p:cNvSpPr/>
          <p:nvPr/>
        </p:nvSpPr>
        <p:spPr>
          <a:xfrm>
            <a:off x="457200" y="960120"/>
            <a:ext cx="182880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GavixaCare</a:t>
            </a:r>
            <a:endParaRPr lang="en-US" sz="1300" dirty="0"/>
          </a:p>
        </p:txBody>
      </p:sp>
      <p:sp>
        <p:nvSpPr>
          <p:cNvPr id="10" name="Text 8"/>
          <p:cNvSpPr/>
          <p:nvPr/>
        </p:nvSpPr>
        <p:spPr>
          <a:xfrm>
            <a:off x="457200" y="1463040"/>
            <a:ext cx="8229600" cy="1261872"/>
          </a:xfrm>
          <a:prstGeom prst="rect">
            <a:avLst/>
          </a:prstGeom>
          <a:noFill/>
          <a:ln/>
        </p:spPr>
        <p:txBody>
          <a:bodyPr wrap="square" rtlCol="0" anchor="ctr"/>
          <a:lstStyle/>
          <a:p>
            <a:pPr indent="0" marL="0">
              <a:lnSpc>
                <a:spcPct val="105000"/>
              </a:lnSpc>
              <a:buNone/>
            </a:pPr>
            <a:r>
              <a:rPr lang="en-US" sz="3600" b="1" dirty="0">
                <a:solidFill>
                  <a:srgbClr val="FFFFFF"/>
                </a:solidFill>
                <a:latin typeface="Cambria" pitchFamily="34" charset="0"/>
                <a:ea typeface="Cambria" pitchFamily="34" charset="-122"/>
                <a:cs typeface="Cambria" pitchFamily="34" charset="-120"/>
              </a:rPr>
              <a:t>AI-Powered Healthcare</a:t>
            </a:r>
            <a:endParaRPr lang="en-US" sz="3600" dirty="0"/>
          </a:p>
          <a:p>
            <a:pPr indent="0" marL="0">
              <a:lnSpc>
                <a:spcPct val="105000"/>
              </a:lnSpc>
              <a:buNone/>
            </a:pPr>
            <a:r>
              <a:rPr lang="en-US" sz="3600" b="1" dirty="0">
                <a:solidFill>
                  <a:srgbClr val="FFFFFF"/>
                </a:solidFill>
                <a:latin typeface="Cambria" pitchFamily="34" charset="0"/>
                <a:ea typeface="Cambria" pitchFamily="34" charset="-122"/>
                <a:cs typeface="Cambria" pitchFamily="34" charset="-120"/>
              </a:rPr>
              <a:t>Decision Support Platform</a:t>
            </a:r>
            <a:endParaRPr lang="en-US" sz="3600" dirty="0"/>
          </a:p>
        </p:txBody>
      </p:sp>
      <p:sp>
        <p:nvSpPr>
          <p:cNvPr id="11" name="Text 9"/>
          <p:cNvSpPr/>
          <p:nvPr/>
        </p:nvSpPr>
        <p:spPr>
          <a:xfrm>
            <a:off x="457200" y="2816352"/>
            <a:ext cx="8229600" cy="347472"/>
          </a:xfrm>
          <a:prstGeom prst="rect">
            <a:avLst/>
          </a:prstGeom>
          <a:noFill/>
          <a:ln/>
        </p:spPr>
        <p:txBody>
          <a:bodyPr wrap="square" rtlCol="0" anchor="ctr"/>
          <a:lstStyle/>
          <a:p>
            <a:pPr indent="0" marL="0">
              <a:buNone/>
            </a:pPr>
            <a:r>
              <a:rPr lang="en-US" sz="1300" i="1" dirty="0">
                <a:solidFill>
                  <a:srgbClr val="12B5A8"/>
                </a:solidFill>
                <a:latin typeface="Calibri" pitchFamily="34" charset="0"/>
                <a:ea typeface="Calibri" pitchFamily="34" charset="-122"/>
                <a:cs typeface="Calibri" pitchFamily="34" charset="-120"/>
              </a:rPr>
              <a:t>"Clarity in Healthcare. Confidence in Every Decision."</a:t>
            </a:r>
            <a:endParaRPr lang="en-US" sz="1300" dirty="0"/>
          </a:p>
        </p:txBody>
      </p:sp>
      <p:sp>
        <p:nvSpPr>
          <p:cNvPr id="12" name="Shape 10"/>
          <p:cNvSpPr/>
          <p:nvPr/>
        </p:nvSpPr>
        <p:spPr>
          <a:xfrm>
            <a:off x="457200" y="3218688"/>
            <a:ext cx="8229600" cy="11887"/>
          </a:xfrm>
          <a:prstGeom prst="RECTANGLE">
            <a:avLst/>
          </a:prstGeom>
          <a:solidFill>
            <a:srgbClr val="253B51"/>
          </a:solidFill>
          <a:ln w="12700">
            <a:solidFill>
              <a:srgbClr val="253B51"/>
            </a:solidFill>
            <a:prstDash val="solid"/>
          </a:ln>
        </p:spPr>
      </p:sp>
      <p:sp>
        <p:nvSpPr>
          <p:cNvPr id="13" name="Text 11"/>
          <p:cNvSpPr/>
          <p:nvPr/>
        </p:nvSpPr>
        <p:spPr>
          <a:xfrm>
            <a:off x="457200" y="3310128"/>
            <a:ext cx="2633472" cy="182880"/>
          </a:xfrm>
          <a:prstGeom prst="rect">
            <a:avLst/>
          </a:prstGeom>
          <a:noFill/>
          <a:ln/>
        </p:spPr>
        <p:txBody>
          <a:bodyPr wrap="square" rtlCol="0" anchor="ctr"/>
          <a:lstStyle/>
          <a:p>
            <a:pPr indent="0" marL="0">
              <a:buNone/>
            </a:pPr>
            <a:r>
              <a:rPr lang="en-US" sz="700" b="1" spc="120" kern="0" dirty="0">
                <a:solidFill>
                  <a:srgbClr val="12B5A8"/>
                </a:solidFill>
                <a:latin typeface="Calibri" pitchFamily="34" charset="0"/>
                <a:ea typeface="Calibri" pitchFamily="34" charset="-122"/>
                <a:cs typeface="Calibri" pitchFamily="34" charset="-120"/>
              </a:rPr>
              <a:t>STUDENT NAME</a:t>
            </a:r>
            <a:endParaRPr lang="en-US" sz="700" dirty="0"/>
          </a:p>
        </p:txBody>
      </p:sp>
      <p:sp>
        <p:nvSpPr>
          <p:cNvPr id="14" name="Text 12"/>
          <p:cNvSpPr/>
          <p:nvPr/>
        </p:nvSpPr>
        <p:spPr>
          <a:xfrm>
            <a:off x="457200" y="3493008"/>
            <a:ext cx="2633472"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Gagan Tiwari</a:t>
            </a:r>
            <a:endParaRPr lang="en-US" sz="1100" dirty="0"/>
          </a:p>
        </p:txBody>
      </p:sp>
      <p:sp>
        <p:nvSpPr>
          <p:cNvPr id="15" name="Text 13"/>
          <p:cNvSpPr/>
          <p:nvPr/>
        </p:nvSpPr>
        <p:spPr>
          <a:xfrm>
            <a:off x="3159252" y="3310128"/>
            <a:ext cx="2633472" cy="182880"/>
          </a:xfrm>
          <a:prstGeom prst="rect">
            <a:avLst/>
          </a:prstGeom>
          <a:noFill/>
          <a:ln/>
        </p:spPr>
        <p:txBody>
          <a:bodyPr wrap="square" rtlCol="0" anchor="ctr"/>
          <a:lstStyle/>
          <a:p>
            <a:pPr indent="0" marL="0">
              <a:buNone/>
            </a:pPr>
            <a:r>
              <a:rPr lang="en-US" sz="700" b="1" spc="120" kern="0" dirty="0">
                <a:solidFill>
                  <a:srgbClr val="12B5A8"/>
                </a:solidFill>
                <a:latin typeface="Calibri" pitchFamily="34" charset="0"/>
                <a:ea typeface="Calibri" pitchFamily="34" charset="-122"/>
                <a:cs typeface="Calibri" pitchFamily="34" charset="-120"/>
              </a:rPr>
              <a:t>ENROLLMENT NO.</a:t>
            </a:r>
            <a:endParaRPr lang="en-US" sz="700" dirty="0"/>
          </a:p>
        </p:txBody>
      </p:sp>
      <p:sp>
        <p:nvSpPr>
          <p:cNvPr id="16" name="Text 14"/>
          <p:cNvSpPr/>
          <p:nvPr/>
        </p:nvSpPr>
        <p:spPr>
          <a:xfrm>
            <a:off x="3159252" y="3493008"/>
            <a:ext cx="2633472"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[INSERT ENROLLMENT NUMBER]</a:t>
            </a:r>
            <a:endParaRPr lang="en-US" sz="1100" dirty="0"/>
          </a:p>
        </p:txBody>
      </p:sp>
      <p:sp>
        <p:nvSpPr>
          <p:cNvPr id="17" name="Text 15"/>
          <p:cNvSpPr/>
          <p:nvPr/>
        </p:nvSpPr>
        <p:spPr>
          <a:xfrm>
            <a:off x="5861304" y="3310128"/>
            <a:ext cx="2633472" cy="182880"/>
          </a:xfrm>
          <a:prstGeom prst="rect">
            <a:avLst/>
          </a:prstGeom>
          <a:noFill/>
          <a:ln/>
        </p:spPr>
        <p:txBody>
          <a:bodyPr wrap="square" rtlCol="0" anchor="ctr"/>
          <a:lstStyle/>
          <a:p>
            <a:pPr indent="0" marL="0">
              <a:buNone/>
            </a:pPr>
            <a:r>
              <a:rPr lang="en-US" sz="700" b="1" spc="120" kern="0" dirty="0">
                <a:solidFill>
                  <a:srgbClr val="12B5A8"/>
                </a:solidFill>
                <a:latin typeface="Calibri" pitchFamily="34" charset="0"/>
                <a:ea typeface="Calibri" pitchFamily="34" charset="-122"/>
                <a:cs typeface="Calibri" pitchFamily="34" charset="-120"/>
              </a:rPr>
              <a:t>PROGRAM &amp; SEMESTER</a:t>
            </a:r>
            <a:endParaRPr lang="en-US" sz="700" dirty="0"/>
          </a:p>
        </p:txBody>
      </p:sp>
      <p:sp>
        <p:nvSpPr>
          <p:cNvPr id="18" name="Text 16"/>
          <p:cNvSpPr/>
          <p:nvPr/>
        </p:nvSpPr>
        <p:spPr>
          <a:xfrm>
            <a:off x="5861304" y="3493008"/>
            <a:ext cx="2633472"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B.Tech AIML — [SEMESTER]</a:t>
            </a:r>
            <a:endParaRPr lang="en-US" sz="1100" dirty="0"/>
          </a:p>
        </p:txBody>
      </p:sp>
      <p:sp>
        <p:nvSpPr>
          <p:cNvPr id="19" name="Text 17"/>
          <p:cNvSpPr/>
          <p:nvPr/>
        </p:nvSpPr>
        <p:spPr>
          <a:xfrm>
            <a:off x="457200" y="3785616"/>
            <a:ext cx="2633472" cy="182880"/>
          </a:xfrm>
          <a:prstGeom prst="rect">
            <a:avLst/>
          </a:prstGeom>
          <a:noFill/>
          <a:ln/>
        </p:spPr>
        <p:txBody>
          <a:bodyPr wrap="square" rtlCol="0" anchor="ctr"/>
          <a:lstStyle/>
          <a:p>
            <a:pPr indent="0" marL="0">
              <a:buNone/>
            </a:pPr>
            <a:r>
              <a:rPr lang="en-US" sz="700" b="1" spc="120" kern="0" dirty="0">
                <a:solidFill>
                  <a:srgbClr val="12B5A8"/>
                </a:solidFill>
                <a:latin typeface="Calibri" pitchFamily="34" charset="0"/>
                <a:ea typeface="Calibri" pitchFamily="34" charset="-122"/>
                <a:cs typeface="Calibri" pitchFamily="34" charset="-120"/>
              </a:rPr>
              <a:t>ORGANIZATION</a:t>
            </a:r>
            <a:endParaRPr lang="en-US" sz="700" dirty="0"/>
          </a:p>
        </p:txBody>
      </p:sp>
      <p:sp>
        <p:nvSpPr>
          <p:cNvPr id="20" name="Text 18"/>
          <p:cNvSpPr/>
          <p:nvPr/>
        </p:nvSpPr>
        <p:spPr>
          <a:xfrm>
            <a:off x="457200" y="3968496"/>
            <a:ext cx="2633472"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GavixaCare</a:t>
            </a:r>
            <a:endParaRPr lang="en-US" sz="1100" dirty="0"/>
          </a:p>
        </p:txBody>
      </p:sp>
      <p:sp>
        <p:nvSpPr>
          <p:cNvPr id="21" name="Text 19"/>
          <p:cNvSpPr/>
          <p:nvPr/>
        </p:nvSpPr>
        <p:spPr>
          <a:xfrm>
            <a:off x="3159252" y="3785616"/>
            <a:ext cx="2633472" cy="182880"/>
          </a:xfrm>
          <a:prstGeom prst="rect">
            <a:avLst/>
          </a:prstGeom>
          <a:noFill/>
          <a:ln/>
        </p:spPr>
        <p:txBody>
          <a:bodyPr wrap="square" rtlCol="0" anchor="ctr"/>
          <a:lstStyle/>
          <a:p>
            <a:pPr indent="0" marL="0">
              <a:buNone/>
            </a:pPr>
            <a:r>
              <a:rPr lang="en-US" sz="700" b="1" spc="120" kern="0" dirty="0">
                <a:solidFill>
                  <a:srgbClr val="12B5A8"/>
                </a:solidFill>
                <a:latin typeface="Calibri" pitchFamily="34" charset="0"/>
                <a:ea typeface="Calibri" pitchFamily="34" charset="-122"/>
                <a:cs typeface="Calibri" pitchFamily="34" charset="-120"/>
              </a:rPr>
              <a:t>INTERNSHIP DURATION</a:t>
            </a:r>
            <a:endParaRPr lang="en-US" sz="700" dirty="0"/>
          </a:p>
        </p:txBody>
      </p:sp>
      <p:sp>
        <p:nvSpPr>
          <p:cNvPr id="22" name="Text 20"/>
          <p:cNvSpPr/>
          <p:nvPr/>
        </p:nvSpPr>
        <p:spPr>
          <a:xfrm>
            <a:off x="3159252" y="3968496"/>
            <a:ext cx="2633472"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[INSERT DURATION]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A"/>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About the Organization</a:t>
            </a:r>
            <a:endParaRPr lang="en-US" sz="2600" dirty="0"/>
          </a:p>
        </p:txBody>
      </p:sp>
      <p:sp>
        <p:nvSpPr>
          <p:cNvPr id="3" name="Shape 1"/>
          <p:cNvSpPr/>
          <p:nvPr/>
        </p:nvSpPr>
        <p:spPr>
          <a:xfrm>
            <a:off x="457200" y="749808"/>
            <a:ext cx="384048" cy="50292"/>
          </a:xfrm>
          <a:prstGeom prst="ROUNDED_RECTANGLE">
            <a:avLst>
              <a:gd name="adj" fmla="val 54545"/>
            </a:avLst>
          </a:prstGeom>
          <a:solidFill>
            <a:srgbClr val="12B5A8"/>
          </a:solidFill>
          <a:ln w="12700">
            <a:solidFill>
              <a:srgbClr val="12B5A8"/>
            </a:solidFill>
            <a:prstDash val="solid"/>
          </a:ln>
        </p:spPr>
      </p:sp>
      <p:sp>
        <p:nvSpPr>
          <p:cNvPr id="4" name="Text 2"/>
          <p:cNvSpPr/>
          <p:nvPr/>
        </p:nvSpPr>
        <p:spPr>
          <a:xfrm>
            <a:off x="457200" y="914400"/>
            <a:ext cx="4114800" cy="438912"/>
          </a:xfrm>
          <a:prstGeom prst="rect">
            <a:avLst/>
          </a:prstGeom>
          <a:noFill/>
          <a:ln/>
        </p:spPr>
        <p:txBody>
          <a:bodyPr wrap="square" rtlCol="0" anchor="ctr"/>
          <a:lstStyle/>
          <a:p>
            <a:pPr indent="0" marL="0">
              <a:buNone/>
            </a:pPr>
            <a:r>
              <a:rPr lang="en-US" sz="2400" b="1" dirty="0">
                <a:solidFill>
                  <a:srgbClr val="1A8884"/>
                </a:solidFill>
                <a:latin typeface="Cambria" pitchFamily="34" charset="0"/>
                <a:ea typeface="Cambria" pitchFamily="34" charset="-122"/>
                <a:cs typeface="Cambria" pitchFamily="34" charset="-120"/>
              </a:rPr>
              <a:t>GavixaCare</a:t>
            </a:r>
            <a:endParaRPr lang="en-US" sz="2400" dirty="0"/>
          </a:p>
        </p:txBody>
      </p:sp>
      <p:sp>
        <p:nvSpPr>
          <p:cNvPr id="5" name="Text 3"/>
          <p:cNvSpPr/>
          <p:nvPr/>
        </p:nvSpPr>
        <p:spPr>
          <a:xfrm>
            <a:off x="457200" y="1335024"/>
            <a:ext cx="4114800" cy="228600"/>
          </a:xfrm>
          <a:prstGeom prst="rect">
            <a:avLst/>
          </a:prstGeom>
          <a:noFill/>
          <a:ln/>
        </p:spPr>
        <p:txBody>
          <a:bodyPr wrap="square" rtlCol="0" anchor="ctr"/>
          <a:lstStyle/>
          <a:p>
            <a:pPr indent="0" marL="0">
              <a:buNone/>
            </a:pPr>
            <a:r>
              <a:rPr lang="en-US" sz="1000" i="1" dirty="0">
                <a:solidFill>
                  <a:srgbClr val="718096"/>
                </a:solidFill>
                <a:latin typeface="Calibri" pitchFamily="34" charset="0"/>
                <a:ea typeface="Calibri" pitchFamily="34" charset="-122"/>
                <a:cs typeface="Calibri" pitchFamily="34" charset="-120"/>
              </a:rPr>
              <a:t>Consumer brand of Gavixa  ·  Healthcare Technology Platform</a:t>
            </a:r>
            <a:endParaRPr lang="en-US" sz="1000" dirty="0"/>
          </a:p>
        </p:txBody>
      </p:sp>
      <p:sp>
        <p:nvSpPr>
          <p:cNvPr id="6" name="Shape 4"/>
          <p:cNvSpPr/>
          <p:nvPr/>
        </p:nvSpPr>
        <p:spPr>
          <a:xfrm>
            <a:off x="457200" y="1618488"/>
            <a:ext cx="4114800" cy="548640"/>
          </a:xfrm>
          <a:prstGeom prst="ROUNDED_RECTANGLE">
            <a:avLst>
              <a:gd name="adj" fmla="val 11667"/>
            </a:avLst>
          </a:prstGeom>
          <a:solidFill>
            <a:srgbClr val="E6F5F4"/>
          </a:solidFill>
          <a:ln w="12700">
            <a:solidFill>
              <a:srgbClr val="D6EDEC"/>
            </a:solidFill>
            <a:prstDash val="solid"/>
          </a:ln>
        </p:spPr>
      </p:sp>
      <p:sp>
        <p:nvSpPr>
          <p:cNvPr id="7" name="Text 5"/>
          <p:cNvSpPr/>
          <p:nvPr/>
        </p:nvSpPr>
        <p:spPr>
          <a:xfrm>
            <a:off x="594360" y="1664208"/>
            <a:ext cx="3840480" cy="457200"/>
          </a:xfrm>
          <a:prstGeom prst="rect">
            <a:avLst/>
          </a:prstGeom>
          <a:noFill/>
          <a:ln/>
        </p:spPr>
        <p:txBody>
          <a:bodyPr wrap="square" lIns="0" tIns="0" rIns="0" bIns="0" rtlCol="0" anchor="ctr"/>
          <a:lstStyle/>
          <a:p>
            <a:pPr indent="0" marL="0">
              <a:buNone/>
            </a:pPr>
            <a:r>
              <a:rPr lang="en-US" sz="1250" b="1" i="1" dirty="0">
                <a:solidFill>
                  <a:srgbClr val="1A8884"/>
                </a:solidFill>
                <a:latin typeface="Cambria" pitchFamily="34" charset="0"/>
                <a:ea typeface="Cambria" pitchFamily="34" charset="-122"/>
                <a:cs typeface="Cambria" pitchFamily="34" charset="-120"/>
              </a:rPr>
              <a:t>"Clarity in Healthcare.</a:t>
            </a:r>
            <a:endParaRPr lang="en-US" sz="1250" dirty="0"/>
          </a:p>
          <a:p>
            <a:pPr indent="0" marL="0">
              <a:buNone/>
            </a:pPr>
            <a:r>
              <a:rPr lang="en-US" sz="1250" b="1" i="1" dirty="0">
                <a:solidFill>
                  <a:srgbClr val="1A8884"/>
                </a:solidFill>
                <a:latin typeface="Cambria" pitchFamily="34" charset="0"/>
                <a:ea typeface="Cambria" pitchFamily="34" charset="-122"/>
                <a:cs typeface="Cambria" pitchFamily="34" charset="-120"/>
              </a:rPr>
              <a:t>Confidence in Every Decision."</a:t>
            </a:r>
            <a:endParaRPr lang="en-US" sz="1250" dirty="0"/>
          </a:p>
        </p:txBody>
      </p:sp>
      <p:sp>
        <p:nvSpPr>
          <p:cNvPr id="8" name="Text 6"/>
          <p:cNvSpPr/>
          <p:nvPr/>
        </p:nvSpPr>
        <p:spPr>
          <a:xfrm>
            <a:off x="457200" y="2286000"/>
            <a:ext cx="4114800" cy="201168"/>
          </a:xfrm>
          <a:prstGeom prst="rect">
            <a:avLst/>
          </a:prstGeom>
          <a:noFill/>
          <a:ln/>
        </p:spPr>
        <p:txBody>
          <a:bodyPr wrap="square" rtlCol="0" anchor="ctr"/>
          <a:lstStyle/>
          <a:p>
            <a:pPr indent="0" marL="0">
              <a:buNone/>
            </a:pPr>
            <a:r>
              <a:rPr lang="en-US" sz="750" b="1" spc="200" kern="0" dirty="0">
                <a:solidFill>
                  <a:srgbClr val="12B5A8"/>
                </a:solidFill>
                <a:latin typeface="Calibri" pitchFamily="34" charset="0"/>
                <a:ea typeface="Calibri" pitchFamily="34" charset="-122"/>
                <a:cs typeface="Calibri" pitchFamily="34" charset="-120"/>
              </a:rPr>
              <a:t>OUR MISSION</a:t>
            </a:r>
            <a:endParaRPr lang="en-US" sz="750" dirty="0"/>
          </a:p>
        </p:txBody>
      </p:sp>
      <p:sp>
        <p:nvSpPr>
          <p:cNvPr id="9" name="Text 7"/>
          <p:cNvSpPr/>
          <p:nvPr/>
        </p:nvSpPr>
        <p:spPr>
          <a:xfrm>
            <a:off x="457200" y="2487168"/>
            <a:ext cx="4114800" cy="621792"/>
          </a:xfrm>
          <a:prstGeom prst="rect">
            <a:avLst/>
          </a:prstGeom>
          <a:noFill/>
          <a:ln/>
        </p:spPr>
        <p:txBody>
          <a:bodyPr wrap="square" rtlCol="0" anchor="ctr"/>
          <a:lstStyle/>
          <a:p>
            <a:pPr indent="0" marL="0">
              <a:lnSpc>
                <a:spcPct val="130000"/>
              </a:lnSpc>
              <a:buNone/>
            </a:pPr>
            <a:r>
              <a:rPr lang="en-US" sz="1100" dirty="0">
                <a:solidFill>
                  <a:srgbClr val="0F172A"/>
                </a:solidFill>
                <a:latin typeface="Calibri" pitchFamily="34" charset="0"/>
                <a:ea typeface="Calibri" pitchFamily="34" charset="-122"/>
                <a:cs typeface="Calibri" pitchFamily="34" charset="-120"/>
              </a:rPr>
              <a:t>Give Indian families price transparency, AI-powered bill audits, and emergency hospital navigation — so no family faces a healthcare bill they cannot understand or challenge.</a:t>
            </a:r>
            <a:endParaRPr lang="en-US" sz="1100" dirty="0"/>
          </a:p>
        </p:txBody>
      </p:sp>
      <p:sp>
        <p:nvSpPr>
          <p:cNvPr id="10" name="Text 8"/>
          <p:cNvSpPr/>
          <p:nvPr/>
        </p:nvSpPr>
        <p:spPr>
          <a:xfrm>
            <a:off x="457200" y="3200400"/>
            <a:ext cx="4114800" cy="201168"/>
          </a:xfrm>
          <a:prstGeom prst="rect">
            <a:avLst/>
          </a:prstGeom>
          <a:noFill/>
          <a:ln/>
        </p:spPr>
        <p:txBody>
          <a:bodyPr wrap="square" rtlCol="0" anchor="ctr"/>
          <a:lstStyle/>
          <a:p>
            <a:pPr indent="0" marL="0">
              <a:buNone/>
            </a:pPr>
            <a:r>
              <a:rPr lang="en-US" sz="750" b="1" spc="200" kern="0" dirty="0">
                <a:solidFill>
                  <a:srgbClr val="12B5A8"/>
                </a:solidFill>
                <a:latin typeface="Calibri" pitchFamily="34" charset="0"/>
                <a:ea typeface="Calibri" pitchFamily="34" charset="-122"/>
                <a:cs typeface="Calibri" pitchFamily="34" charset="-120"/>
              </a:rPr>
              <a:t>OUR VISION</a:t>
            </a:r>
            <a:endParaRPr lang="en-US" sz="750" dirty="0"/>
          </a:p>
        </p:txBody>
      </p:sp>
      <p:sp>
        <p:nvSpPr>
          <p:cNvPr id="11" name="Text 9"/>
          <p:cNvSpPr/>
          <p:nvPr/>
        </p:nvSpPr>
        <p:spPr>
          <a:xfrm>
            <a:off x="457200" y="3401568"/>
            <a:ext cx="4114800" cy="548640"/>
          </a:xfrm>
          <a:prstGeom prst="rect">
            <a:avLst/>
          </a:prstGeom>
          <a:noFill/>
          <a:ln/>
        </p:spPr>
        <p:txBody>
          <a:bodyPr wrap="square" rtlCol="0" anchor="ctr"/>
          <a:lstStyle/>
          <a:p>
            <a:pPr indent="0" marL="0">
              <a:lnSpc>
                <a:spcPct val="130000"/>
              </a:lnSpc>
              <a:buNone/>
            </a:pPr>
            <a:r>
              <a:rPr lang="en-US" sz="1100" dirty="0">
                <a:solidFill>
                  <a:srgbClr val="0F172A"/>
                </a:solidFill>
                <a:latin typeface="Calibri" pitchFamily="34" charset="0"/>
                <a:ea typeface="Calibri" pitchFamily="34" charset="-122"/>
                <a:cs typeface="Calibri" pitchFamily="34" charset="-120"/>
              </a:rPr>
              <a:t>A future where no Indian family is financially destroyed by a medical event they could not predict or prepare for.</a:t>
            </a:r>
            <a:endParaRPr lang="en-US" sz="1100" dirty="0"/>
          </a:p>
        </p:txBody>
      </p:sp>
      <p:sp>
        <p:nvSpPr>
          <p:cNvPr id="12" name="Shape 10"/>
          <p:cNvSpPr/>
          <p:nvPr/>
        </p:nvSpPr>
        <p:spPr>
          <a:xfrm>
            <a:off x="4754880" y="914400"/>
            <a:ext cx="1920240" cy="1325880"/>
          </a:xfrm>
          <a:prstGeom prst="ROUNDED_RECTANGLE">
            <a:avLst>
              <a:gd name="adj" fmla="val 6207"/>
            </a:avLst>
          </a:prstGeom>
          <a:solidFill>
            <a:srgbClr val="E6F5F4"/>
          </a:solidFill>
          <a:ln w="12700">
            <a:solidFill>
              <a:srgbClr val="D6EDEC"/>
            </a:solidFill>
            <a:prstDash val="solid"/>
          </a:ln>
        </p:spPr>
      </p:sp>
      <p:sp>
        <p:nvSpPr>
          <p:cNvPr id="13" name="Text 11"/>
          <p:cNvSpPr/>
          <p:nvPr/>
        </p:nvSpPr>
        <p:spPr>
          <a:xfrm>
            <a:off x="4754880" y="1005840"/>
            <a:ext cx="1920240" cy="384048"/>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4" name="Text 12"/>
          <p:cNvSpPr/>
          <p:nvPr/>
        </p:nvSpPr>
        <p:spPr>
          <a:xfrm>
            <a:off x="4846320" y="1426464"/>
            <a:ext cx="1737360" cy="274320"/>
          </a:xfrm>
          <a:prstGeom prst="rect">
            <a:avLst/>
          </a:prstGeom>
          <a:noFill/>
          <a:ln/>
        </p:spPr>
        <p:txBody>
          <a:bodyPr wrap="square"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Patient-First Design</a:t>
            </a:r>
            <a:endParaRPr lang="en-US" sz="1050" dirty="0"/>
          </a:p>
        </p:txBody>
      </p:sp>
      <p:sp>
        <p:nvSpPr>
          <p:cNvPr id="15" name="Text 13"/>
          <p:cNvSpPr/>
          <p:nvPr/>
        </p:nvSpPr>
        <p:spPr>
          <a:xfrm>
            <a:off x="4846320" y="1700784"/>
            <a:ext cx="1737360" cy="438912"/>
          </a:xfrm>
          <a:prstGeom prst="rect">
            <a:avLst/>
          </a:prstGeom>
          <a:noFill/>
          <a:ln/>
        </p:spPr>
        <p:txBody>
          <a:bodyPr wrap="square" rtlCol="0" anchor="ctr"/>
          <a:lstStyle/>
          <a:p>
            <a:pPr indent="0" marL="0">
              <a:lnSpc>
                <a:spcPct val="115000"/>
              </a:lnSpc>
              <a:buNone/>
            </a:pPr>
            <a:r>
              <a:rPr lang="en-US" sz="900" dirty="0">
                <a:solidFill>
                  <a:srgbClr val="475569"/>
                </a:solidFill>
                <a:latin typeface="Calibri" pitchFamily="34" charset="0"/>
                <a:ea typeface="Calibri" pitchFamily="34" charset="-122"/>
                <a:cs typeface="Calibri" pitchFamily="34" charset="-120"/>
              </a:rPr>
              <a:t>Built for the patient — not the hospital or insurer</a:t>
            </a:r>
            <a:endParaRPr lang="en-US" sz="900" dirty="0"/>
          </a:p>
        </p:txBody>
      </p:sp>
      <p:sp>
        <p:nvSpPr>
          <p:cNvPr id="16" name="Shape 14"/>
          <p:cNvSpPr/>
          <p:nvPr/>
        </p:nvSpPr>
        <p:spPr>
          <a:xfrm>
            <a:off x="6784848" y="914400"/>
            <a:ext cx="1920240" cy="1325880"/>
          </a:xfrm>
          <a:prstGeom prst="ROUNDED_RECTANGLE">
            <a:avLst>
              <a:gd name="adj" fmla="val 6207"/>
            </a:avLst>
          </a:prstGeom>
          <a:solidFill>
            <a:srgbClr val="E6F5F4"/>
          </a:solidFill>
          <a:ln w="12700">
            <a:solidFill>
              <a:srgbClr val="D6EDEC"/>
            </a:solidFill>
            <a:prstDash val="solid"/>
          </a:ln>
        </p:spPr>
      </p:sp>
      <p:sp>
        <p:nvSpPr>
          <p:cNvPr id="17" name="Text 15"/>
          <p:cNvSpPr/>
          <p:nvPr/>
        </p:nvSpPr>
        <p:spPr>
          <a:xfrm>
            <a:off x="6784848" y="1005840"/>
            <a:ext cx="1920240" cy="384048"/>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8" name="Text 16"/>
          <p:cNvSpPr/>
          <p:nvPr/>
        </p:nvSpPr>
        <p:spPr>
          <a:xfrm>
            <a:off x="6876288" y="1426464"/>
            <a:ext cx="1737360" cy="274320"/>
          </a:xfrm>
          <a:prstGeom prst="rect">
            <a:avLst/>
          </a:prstGeom>
          <a:noFill/>
          <a:ln/>
        </p:spPr>
        <p:txBody>
          <a:bodyPr wrap="square"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India-Native Platform</a:t>
            </a:r>
            <a:endParaRPr lang="en-US" sz="1050" dirty="0"/>
          </a:p>
        </p:txBody>
      </p:sp>
      <p:sp>
        <p:nvSpPr>
          <p:cNvPr id="19" name="Text 17"/>
          <p:cNvSpPr/>
          <p:nvPr/>
        </p:nvSpPr>
        <p:spPr>
          <a:xfrm>
            <a:off x="6876288" y="1700784"/>
            <a:ext cx="1737360" cy="438912"/>
          </a:xfrm>
          <a:prstGeom prst="rect">
            <a:avLst/>
          </a:prstGeom>
          <a:noFill/>
          <a:ln/>
        </p:spPr>
        <p:txBody>
          <a:bodyPr wrap="square" rtlCol="0" anchor="ctr"/>
          <a:lstStyle/>
          <a:p>
            <a:pPr indent="0" marL="0">
              <a:lnSpc>
                <a:spcPct val="115000"/>
              </a:lnSpc>
              <a:buNone/>
            </a:pPr>
            <a:r>
              <a:rPr lang="en-US" sz="900" dirty="0">
                <a:solidFill>
                  <a:srgbClr val="475569"/>
                </a:solidFill>
                <a:latin typeface="Calibri" pitchFamily="34" charset="0"/>
                <a:ea typeface="Calibri" pitchFamily="34" charset="-122"/>
                <a:cs typeface="Calibri" pitchFamily="34" charset="-120"/>
              </a:rPr>
              <a:t>Tier-1 to Tier-3 cities, all hospital types covered</a:t>
            </a:r>
            <a:endParaRPr lang="en-US" sz="900" dirty="0"/>
          </a:p>
        </p:txBody>
      </p:sp>
      <p:sp>
        <p:nvSpPr>
          <p:cNvPr id="20" name="Shape 18"/>
          <p:cNvSpPr/>
          <p:nvPr/>
        </p:nvSpPr>
        <p:spPr>
          <a:xfrm>
            <a:off x="4754880" y="2359152"/>
            <a:ext cx="1920240" cy="1325880"/>
          </a:xfrm>
          <a:prstGeom prst="ROUNDED_RECTANGLE">
            <a:avLst>
              <a:gd name="adj" fmla="val 6207"/>
            </a:avLst>
          </a:prstGeom>
          <a:solidFill>
            <a:srgbClr val="E6F5F4"/>
          </a:solidFill>
          <a:ln w="12700">
            <a:solidFill>
              <a:srgbClr val="D6EDEC"/>
            </a:solidFill>
            <a:prstDash val="solid"/>
          </a:ln>
        </p:spPr>
      </p:sp>
      <p:sp>
        <p:nvSpPr>
          <p:cNvPr id="21" name="Text 19"/>
          <p:cNvSpPr/>
          <p:nvPr/>
        </p:nvSpPr>
        <p:spPr>
          <a:xfrm>
            <a:off x="4754880" y="2450592"/>
            <a:ext cx="1920240" cy="384048"/>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2" name="Text 20"/>
          <p:cNvSpPr/>
          <p:nvPr/>
        </p:nvSpPr>
        <p:spPr>
          <a:xfrm>
            <a:off x="4846320" y="2871216"/>
            <a:ext cx="1737360" cy="274320"/>
          </a:xfrm>
          <a:prstGeom prst="rect">
            <a:avLst/>
          </a:prstGeom>
          <a:noFill/>
          <a:ln/>
        </p:spPr>
        <p:txBody>
          <a:bodyPr wrap="square"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AI-Powered Core</a:t>
            </a:r>
            <a:endParaRPr lang="en-US" sz="1050" dirty="0"/>
          </a:p>
        </p:txBody>
      </p:sp>
      <p:sp>
        <p:nvSpPr>
          <p:cNvPr id="23" name="Text 21"/>
          <p:cNvSpPr/>
          <p:nvPr/>
        </p:nvSpPr>
        <p:spPr>
          <a:xfrm>
            <a:off x="4846320" y="3145536"/>
            <a:ext cx="1737360" cy="438912"/>
          </a:xfrm>
          <a:prstGeom prst="rect">
            <a:avLst/>
          </a:prstGeom>
          <a:noFill/>
          <a:ln/>
        </p:spPr>
        <p:txBody>
          <a:bodyPr wrap="square" rtlCol="0" anchor="ctr"/>
          <a:lstStyle/>
          <a:p>
            <a:pPr indent="0" marL="0">
              <a:lnSpc>
                <a:spcPct val="115000"/>
              </a:lnSpc>
              <a:buNone/>
            </a:pPr>
            <a:r>
              <a:rPr lang="en-US" sz="900" dirty="0">
                <a:solidFill>
                  <a:srgbClr val="475569"/>
                </a:solidFill>
                <a:latin typeface="Calibri" pitchFamily="34" charset="0"/>
                <a:ea typeface="Calibri" pitchFamily="34" charset="-122"/>
                <a:cs typeface="Calibri" pitchFamily="34" charset="-120"/>
              </a:rPr>
              <a:t>Claude Sonnet 4.5 drives bill analysis &amp; cost estimation</a:t>
            </a:r>
            <a:endParaRPr lang="en-US" sz="900" dirty="0"/>
          </a:p>
        </p:txBody>
      </p:sp>
      <p:sp>
        <p:nvSpPr>
          <p:cNvPr id="24" name="Shape 22"/>
          <p:cNvSpPr/>
          <p:nvPr/>
        </p:nvSpPr>
        <p:spPr>
          <a:xfrm>
            <a:off x="6784848" y="2359152"/>
            <a:ext cx="1920240" cy="1325880"/>
          </a:xfrm>
          <a:prstGeom prst="ROUNDED_RECTANGLE">
            <a:avLst>
              <a:gd name="adj" fmla="val 6207"/>
            </a:avLst>
          </a:prstGeom>
          <a:solidFill>
            <a:srgbClr val="E6F5F4"/>
          </a:solidFill>
          <a:ln w="12700">
            <a:solidFill>
              <a:srgbClr val="D6EDEC"/>
            </a:solidFill>
            <a:prstDash val="solid"/>
          </a:ln>
        </p:spPr>
      </p:sp>
      <p:sp>
        <p:nvSpPr>
          <p:cNvPr id="25" name="Text 23"/>
          <p:cNvSpPr/>
          <p:nvPr/>
        </p:nvSpPr>
        <p:spPr>
          <a:xfrm>
            <a:off x="6784848" y="2450592"/>
            <a:ext cx="1920240" cy="384048"/>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6" name="Text 24"/>
          <p:cNvSpPr/>
          <p:nvPr/>
        </p:nvSpPr>
        <p:spPr>
          <a:xfrm>
            <a:off x="6876288" y="2871216"/>
            <a:ext cx="1737360" cy="274320"/>
          </a:xfrm>
          <a:prstGeom prst="rect">
            <a:avLst/>
          </a:prstGeom>
          <a:noFill/>
          <a:ln/>
        </p:spPr>
        <p:txBody>
          <a:bodyPr wrap="square"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Privacy by Design</a:t>
            </a:r>
            <a:endParaRPr lang="en-US" sz="1050" dirty="0"/>
          </a:p>
        </p:txBody>
      </p:sp>
      <p:sp>
        <p:nvSpPr>
          <p:cNvPr id="27" name="Text 25"/>
          <p:cNvSpPr/>
          <p:nvPr/>
        </p:nvSpPr>
        <p:spPr>
          <a:xfrm>
            <a:off x="6876288" y="3145536"/>
            <a:ext cx="1737360" cy="438912"/>
          </a:xfrm>
          <a:prstGeom prst="rect">
            <a:avLst/>
          </a:prstGeom>
          <a:noFill/>
          <a:ln/>
        </p:spPr>
        <p:txBody>
          <a:bodyPr wrap="square" rtlCol="0" anchor="ctr"/>
          <a:lstStyle/>
          <a:p>
            <a:pPr indent="0" marL="0">
              <a:lnSpc>
                <a:spcPct val="115000"/>
              </a:lnSpc>
              <a:buNone/>
            </a:pPr>
            <a:r>
              <a:rPr lang="en-US" sz="900" dirty="0">
                <a:solidFill>
                  <a:srgbClr val="475569"/>
                </a:solidFill>
                <a:latin typeface="Calibri" pitchFamily="34" charset="0"/>
                <a:ea typeface="Calibri" pitchFamily="34" charset="-122"/>
                <a:cs typeface="Calibri" pitchFamily="34" charset="-120"/>
              </a:rPr>
              <a:t>DPDP Act 2023 compliant · Encrypted health vault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A"/>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The Problem: Healthcare Decisions in India</a:t>
            </a:r>
            <a:endParaRPr lang="en-US" sz="2600" dirty="0"/>
          </a:p>
        </p:txBody>
      </p:sp>
      <p:sp>
        <p:nvSpPr>
          <p:cNvPr id="3" name="Shape 1"/>
          <p:cNvSpPr/>
          <p:nvPr/>
        </p:nvSpPr>
        <p:spPr>
          <a:xfrm>
            <a:off x="457200" y="749808"/>
            <a:ext cx="384048" cy="50292"/>
          </a:xfrm>
          <a:prstGeom prst="ROUNDED_RECTANGLE">
            <a:avLst>
              <a:gd name="adj" fmla="val 54545"/>
            </a:avLst>
          </a:prstGeom>
          <a:solidFill>
            <a:srgbClr val="12B5A8"/>
          </a:solidFill>
          <a:ln w="12700">
            <a:solidFill>
              <a:srgbClr val="12B5A8"/>
            </a:solidFill>
            <a:prstDash val="solid"/>
          </a:ln>
        </p:spPr>
      </p:sp>
      <p:sp>
        <p:nvSpPr>
          <p:cNvPr id="4" name="Shape 2"/>
          <p:cNvSpPr/>
          <p:nvPr/>
        </p:nvSpPr>
        <p:spPr>
          <a:xfrm>
            <a:off x="347472" y="932688"/>
            <a:ext cx="1207008" cy="822960"/>
          </a:xfrm>
          <a:prstGeom prst="ROUNDED_RECTANGLE">
            <a:avLst>
              <a:gd name="adj" fmla="val 8889"/>
            </a:avLst>
          </a:prstGeom>
          <a:solidFill>
            <a:srgbClr val="E6F5F4"/>
          </a:solidFill>
          <a:ln w="12700">
            <a:solidFill>
              <a:srgbClr val="D6EDEC"/>
            </a:solidFill>
            <a:prstDash val="solid"/>
          </a:ln>
        </p:spPr>
      </p:sp>
      <p:sp>
        <p:nvSpPr>
          <p:cNvPr id="5" name="Text 3"/>
          <p:cNvSpPr/>
          <p:nvPr/>
        </p:nvSpPr>
        <p:spPr>
          <a:xfrm>
            <a:off x="347472" y="996696"/>
            <a:ext cx="1207008" cy="34747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1207008" cy="347472"/>
          </a:xfrm>
          <a:prstGeom prst="rect">
            <a:avLst/>
          </a:prstGeom>
          <a:noFill/>
          <a:ln/>
        </p:spPr>
        <p:txBody>
          <a:bodyPr wrap="square" rtlCol="0" anchor="ctr"/>
          <a:lstStyle/>
          <a:p>
            <a:pPr algn="ctr" indent="0" marL="0">
              <a:lnSpc>
                <a:spcPct val="105000"/>
              </a:lnSpc>
              <a:buNone/>
            </a:pPr>
            <a:r>
              <a:rPr lang="en-US" sz="900" b="1" dirty="0">
                <a:solidFill>
                  <a:srgbClr val="0F172A"/>
                </a:solidFill>
                <a:latin typeface="Calibri" pitchFamily="34" charset="0"/>
                <a:ea typeface="Calibri" pitchFamily="34" charset="-122"/>
                <a:cs typeface="Calibri" pitchFamily="34" charset="-120"/>
              </a:rPr>
              <a:t>Need</a:t>
            </a:r>
            <a:endParaRPr lang="en-US" sz="900" dirty="0"/>
          </a:p>
          <a:p>
            <a:pPr algn="ctr" indent="0" marL="0">
              <a:lnSpc>
                <a:spcPct val="105000"/>
              </a:lnSpc>
              <a:buNone/>
            </a:pPr>
            <a:r>
              <a:rPr lang="en-US" sz="900" b="1" dirty="0">
                <a:solidFill>
                  <a:srgbClr val="0F172A"/>
                </a:solidFill>
                <a:latin typeface="Calibri" pitchFamily="34" charset="0"/>
                <a:ea typeface="Calibri" pitchFamily="34" charset="-122"/>
                <a:cs typeface="Calibri" pitchFamily="34" charset="-120"/>
              </a:rPr>
              <a:t>Treatment</a:t>
            </a:r>
            <a:endParaRPr lang="en-US" sz="900" dirty="0"/>
          </a:p>
        </p:txBody>
      </p:sp>
      <p:sp>
        <p:nvSpPr>
          <p:cNvPr id="7" name="Shape 5"/>
          <p:cNvSpPr/>
          <p:nvPr/>
        </p:nvSpPr>
        <p:spPr>
          <a:xfrm>
            <a:off x="1554480" y="1335024"/>
            <a:ext cx="82296" cy="18288"/>
          </a:xfrm>
          <a:prstGeom prst="RECTANGLE">
            <a:avLst/>
          </a:prstGeom>
          <a:solidFill>
            <a:srgbClr val="B0C4C3"/>
          </a:solidFill>
          <a:ln w="12700">
            <a:solidFill>
              <a:srgbClr val="B0C4C3"/>
            </a:solidFill>
            <a:prstDash val="solid"/>
          </a:ln>
        </p:spPr>
      </p:sp>
      <p:sp>
        <p:nvSpPr>
          <p:cNvPr id="8" name="Shape 6"/>
          <p:cNvSpPr/>
          <p:nvPr/>
        </p:nvSpPr>
        <p:spPr>
          <a:xfrm>
            <a:off x="1627632" y="932688"/>
            <a:ext cx="1207008" cy="822960"/>
          </a:xfrm>
          <a:prstGeom prst="ROUNDED_RECTANGLE">
            <a:avLst>
              <a:gd name="adj" fmla="val 8889"/>
            </a:avLst>
          </a:prstGeom>
          <a:solidFill>
            <a:srgbClr val="E6F5F4"/>
          </a:solidFill>
          <a:ln w="12700">
            <a:solidFill>
              <a:srgbClr val="D6EDEC"/>
            </a:solidFill>
            <a:prstDash val="solid"/>
          </a:ln>
        </p:spPr>
      </p:sp>
      <p:sp>
        <p:nvSpPr>
          <p:cNvPr id="9" name="Text 7"/>
          <p:cNvSpPr/>
          <p:nvPr/>
        </p:nvSpPr>
        <p:spPr>
          <a:xfrm>
            <a:off x="1627632" y="996696"/>
            <a:ext cx="1207008" cy="34747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1627632" y="1371600"/>
            <a:ext cx="1207008" cy="347472"/>
          </a:xfrm>
          <a:prstGeom prst="rect">
            <a:avLst/>
          </a:prstGeom>
          <a:noFill/>
          <a:ln/>
        </p:spPr>
        <p:txBody>
          <a:bodyPr wrap="square" rtlCol="0" anchor="ctr"/>
          <a:lstStyle/>
          <a:p>
            <a:pPr algn="ctr" indent="0" marL="0">
              <a:lnSpc>
                <a:spcPct val="105000"/>
              </a:lnSpc>
              <a:buNone/>
            </a:pPr>
            <a:r>
              <a:rPr lang="en-US" sz="900" b="1" dirty="0">
                <a:solidFill>
                  <a:srgbClr val="0F172A"/>
                </a:solidFill>
                <a:latin typeface="Calibri" pitchFamily="34" charset="0"/>
                <a:ea typeface="Calibri" pitchFamily="34" charset="-122"/>
                <a:cs typeface="Calibri" pitchFamily="34" charset="-120"/>
              </a:rPr>
              <a:t>Find</a:t>
            </a:r>
            <a:endParaRPr lang="en-US" sz="900" dirty="0"/>
          </a:p>
          <a:p>
            <a:pPr algn="ctr" indent="0" marL="0">
              <a:lnSpc>
                <a:spcPct val="105000"/>
              </a:lnSpc>
              <a:buNone/>
            </a:pPr>
            <a:r>
              <a:rPr lang="en-US" sz="900" b="1" dirty="0">
                <a:solidFill>
                  <a:srgbClr val="0F172A"/>
                </a:solidFill>
                <a:latin typeface="Calibri" pitchFamily="34" charset="0"/>
                <a:ea typeface="Calibri" pitchFamily="34" charset="-122"/>
                <a:cs typeface="Calibri" pitchFamily="34" charset="-120"/>
              </a:rPr>
              <a:t>Hospital</a:t>
            </a:r>
            <a:endParaRPr lang="en-US" sz="900" dirty="0"/>
          </a:p>
        </p:txBody>
      </p:sp>
      <p:sp>
        <p:nvSpPr>
          <p:cNvPr id="11" name="Shape 9"/>
          <p:cNvSpPr/>
          <p:nvPr/>
        </p:nvSpPr>
        <p:spPr>
          <a:xfrm>
            <a:off x="2834640" y="1335024"/>
            <a:ext cx="82296" cy="18288"/>
          </a:xfrm>
          <a:prstGeom prst="RECTANGLE">
            <a:avLst/>
          </a:prstGeom>
          <a:solidFill>
            <a:srgbClr val="B0C4C3"/>
          </a:solidFill>
          <a:ln w="12700">
            <a:solidFill>
              <a:srgbClr val="B0C4C3"/>
            </a:solidFill>
            <a:prstDash val="solid"/>
          </a:ln>
        </p:spPr>
      </p:sp>
      <p:sp>
        <p:nvSpPr>
          <p:cNvPr id="12" name="Shape 10"/>
          <p:cNvSpPr/>
          <p:nvPr/>
        </p:nvSpPr>
        <p:spPr>
          <a:xfrm>
            <a:off x="2907792" y="932688"/>
            <a:ext cx="1207008" cy="822960"/>
          </a:xfrm>
          <a:prstGeom prst="ROUNDED_RECTANGLE">
            <a:avLst>
              <a:gd name="adj" fmla="val 8889"/>
            </a:avLst>
          </a:prstGeom>
          <a:solidFill>
            <a:srgbClr val="E6F5F4"/>
          </a:solidFill>
          <a:ln w="12700">
            <a:solidFill>
              <a:srgbClr val="D6EDEC"/>
            </a:solidFill>
            <a:prstDash val="solid"/>
          </a:ln>
        </p:spPr>
      </p:sp>
      <p:sp>
        <p:nvSpPr>
          <p:cNvPr id="13" name="Text 11"/>
          <p:cNvSpPr/>
          <p:nvPr/>
        </p:nvSpPr>
        <p:spPr>
          <a:xfrm>
            <a:off x="2907792" y="996696"/>
            <a:ext cx="1207008" cy="34747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2907792" y="1371600"/>
            <a:ext cx="1207008" cy="347472"/>
          </a:xfrm>
          <a:prstGeom prst="rect">
            <a:avLst/>
          </a:prstGeom>
          <a:noFill/>
          <a:ln/>
        </p:spPr>
        <p:txBody>
          <a:bodyPr wrap="square" rtlCol="0" anchor="ctr"/>
          <a:lstStyle/>
          <a:p>
            <a:pPr algn="ctr" indent="0" marL="0">
              <a:lnSpc>
                <a:spcPct val="105000"/>
              </a:lnSpc>
              <a:buNone/>
            </a:pPr>
            <a:r>
              <a:rPr lang="en-US" sz="900" b="1" dirty="0">
                <a:solidFill>
                  <a:srgbClr val="0F172A"/>
                </a:solidFill>
                <a:latin typeface="Calibri" pitchFamily="34" charset="0"/>
                <a:ea typeface="Calibri" pitchFamily="34" charset="-122"/>
                <a:cs typeface="Calibri" pitchFamily="34" charset="-120"/>
              </a:rPr>
              <a:t>Estimate</a:t>
            </a:r>
            <a:endParaRPr lang="en-US" sz="900" dirty="0"/>
          </a:p>
          <a:p>
            <a:pPr algn="ctr" indent="0" marL="0">
              <a:lnSpc>
                <a:spcPct val="105000"/>
              </a:lnSpc>
              <a:buNone/>
            </a:pPr>
            <a:r>
              <a:rPr lang="en-US" sz="900" b="1" dirty="0">
                <a:solidFill>
                  <a:srgbClr val="0F172A"/>
                </a:solidFill>
                <a:latin typeface="Calibri" pitchFamily="34" charset="0"/>
                <a:ea typeface="Calibri" pitchFamily="34" charset="-122"/>
                <a:cs typeface="Calibri" pitchFamily="34" charset="-120"/>
              </a:rPr>
              <a:t>Cost</a:t>
            </a:r>
            <a:endParaRPr lang="en-US" sz="900" dirty="0"/>
          </a:p>
        </p:txBody>
      </p:sp>
      <p:sp>
        <p:nvSpPr>
          <p:cNvPr id="15" name="Shape 13"/>
          <p:cNvSpPr/>
          <p:nvPr/>
        </p:nvSpPr>
        <p:spPr>
          <a:xfrm>
            <a:off x="4114800" y="1335024"/>
            <a:ext cx="82296" cy="18288"/>
          </a:xfrm>
          <a:prstGeom prst="RECTANGLE">
            <a:avLst/>
          </a:prstGeom>
          <a:solidFill>
            <a:srgbClr val="B0C4C3"/>
          </a:solidFill>
          <a:ln w="12700">
            <a:solidFill>
              <a:srgbClr val="B0C4C3"/>
            </a:solidFill>
            <a:prstDash val="solid"/>
          </a:ln>
        </p:spPr>
      </p:sp>
      <p:sp>
        <p:nvSpPr>
          <p:cNvPr id="16" name="Shape 14"/>
          <p:cNvSpPr/>
          <p:nvPr/>
        </p:nvSpPr>
        <p:spPr>
          <a:xfrm>
            <a:off x="4187952" y="932688"/>
            <a:ext cx="1207008" cy="822960"/>
          </a:xfrm>
          <a:prstGeom prst="ROUNDED_RECTANGLE">
            <a:avLst>
              <a:gd name="adj" fmla="val 8889"/>
            </a:avLst>
          </a:prstGeom>
          <a:solidFill>
            <a:srgbClr val="E6F5F4"/>
          </a:solidFill>
          <a:ln w="12700">
            <a:solidFill>
              <a:srgbClr val="D6EDEC"/>
            </a:solidFill>
            <a:prstDash val="solid"/>
          </a:ln>
        </p:spPr>
      </p:sp>
      <p:sp>
        <p:nvSpPr>
          <p:cNvPr id="17" name="Text 15"/>
          <p:cNvSpPr/>
          <p:nvPr/>
        </p:nvSpPr>
        <p:spPr>
          <a:xfrm>
            <a:off x="4187952" y="996696"/>
            <a:ext cx="1207008" cy="34747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4187952" y="1371600"/>
            <a:ext cx="1207008" cy="347472"/>
          </a:xfrm>
          <a:prstGeom prst="rect">
            <a:avLst/>
          </a:prstGeom>
          <a:noFill/>
          <a:ln/>
        </p:spPr>
        <p:txBody>
          <a:bodyPr wrap="square" rtlCol="0" anchor="ctr"/>
          <a:lstStyle/>
          <a:p>
            <a:pPr algn="ctr" indent="0" marL="0">
              <a:lnSpc>
                <a:spcPct val="105000"/>
              </a:lnSpc>
              <a:buNone/>
            </a:pPr>
            <a:r>
              <a:rPr lang="en-US" sz="900" b="1" dirty="0">
                <a:solidFill>
                  <a:srgbClr val="0F172A"/>
                </a:solidFill>
                <a:latin typeface="Calibri" pitchFamily="34" charset="0"/>
                <a:ea typeface="Calibri" pitchFamily="34" charset="-122"/>
                <a:cs typeface="Calibri" pitchFamily="34" charset="-120"/>
              </a:rPr>
              <a:t>Hospitalized</a:t>
            </a:r>
            <a:endParaRPr lang="en-US" sz="900" dirty="0"/>
          </a:p>
        </p:txBody>
      </p:sp>
      <p:sp>
        <p:nvSpPr>
          <p:cNvPr id="19" name="Shape 17"/>
          <p:cNvSpPr/>
          <p:nvPr/>
        </p:nvSpPr>
        <p:spPr>
          <a:xfrm>
            <a:off x="5394960" y="1335024"/>
            <a:ext cx="82296" cy="18288"/>
          </a:xfrm>
          <a:prstGeom prst="RECTANGLE">
            <a:avLst/>
          </a:prstGeom>
          <a:solidFill>
            <a:srgbClr val="B0C4C3"/>
          </a:solidFill>
          <a:ln w="12700">
            <a:solidFill>
              <a:srgbClr val="B0C4C3"/>
            </a:solidFill>
            <a:prstDash val="solid"/>
          </a:ln>
        </p:spPr>
      </p:sp>
      <p:sp>
        <p:nvSpPr>
          <p:cNvPr id="20" name="Shape 18"/>
          <p:cNvSpPr/>
          <p:nvPr/>
        </p:nvSpPr>
        <p:spPr>
          <a:xfrm>
            <a:off x="5468112" y="932688"/>
            <a:ext cx="1207008" cy="822960"/>
          </a:xfrm>
          <a:prstGeom prst="ROUNDED_RECTANGLE">
            <a:avLst>
              <a:gd name="adj" fmla="val 8889"/>
            </a:avLst>
          </a:prstGeom>
          <a:solidFill>
            <a:srgbClr val="E6F5F4"/>
          </a:solidFill>
          <a:ln w="12700">
            <a:solidFill>
              <a:srgbClr val="D6EDEC"/>
            </a:solidFill>
            <a:prstDash val="solid"/>
          </a:ln>
        </p:spPr>
      </p:sp>
      <p:sp>
        <p:nvSpPr>
          <p:cNvPr id="21" name="Text 19"/>
          <p:cNvSpPr/>
          <p:nvPr/>
        </p:nvSpPr>
        <p:spPr>
          <a:xfrm>
            <a:off x="5468112" y="996696"/>
            <a:ext cx="1207008" cy="34747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2" name="Text 20"/>
          <p:cNvSpPr/>
          <p:nvPr/>
        </p:nvSpPr>
        <p:spPr>
          <a:xfrm>
            <a:off x="5468112" y="1371600"/>
            <a:ext cx="1207008" cy="347472"/>
          </a:xfrm>
          <a:prstGeom prst="rect">
            <a:avLst/>
          </a:prstGeom>
          <a:noFill/>
          <a:ln/>
        </p:spPr>
        <p:txBody>
          <a:bodyPr wrap="square" rtlCol="0" anchor="ctr"/>
          <a:lstStyle/>
          <a:p>
            <a:pPr algn="ctr" indent="0" marL="0">
              <a:lnSpc>
                <a:spcPct val="105000"/>
              </a:lnSpc>
              <a:buNone/>
            </a:pPr>
            <a:r>
              <a:rPr lang="en-US" sz="900" b="1" dirty="0">
                <a:solidFill>
                  <a:srgbClr val="0F172A"/>
                </a:solidFill>
                <a:latin typeface="Calibri" pitchFamily="34" charset="0"/>
                <a:ea typeface="Calibri" pitchFamily="34" charset="-122"/>
                <a:cs typeface="Calibri" pitchFamily="34" charset="-120"/>
              </a:rPr>
              <a:t>Receive</a:t>
            </a:r>
            <a:endParaRPr lang="en-US" sz="900" dirty="0"/>
          </a:p>
          <a:p>
            <a:pPr algn="ctr" indent="0" marL="0">
              <a:lnSpc>
                <a:spcPct val="105000"/>
              </a:lnSpc>
              <a:buNone/>
            </a:pPr>
            <a:r>
              <a:rPr lang="en-US" sz="900" b="1" dirty="0">
                <a:solidFill>
                  <a:srgbClr val="0F172A"/>
                </a:solidFill>
                <a:latin typeface="Calibri" pitchFamily="34" charset="0"/>
                <a:ea typeface="Calibri" pitchFamily="34" charset="-122"/>
                <a:cs typeface="Calibri" pitchFamily="34" charset="-120"/>
              </a:rPr>
              <a:t>Bill</a:t>
            </a:r>
            <a:endParaRPr lang="en-US" sz="900" dirty="0"/>
          </a:p>
        </p:txBody>
      </p:sp>
      <p:sp>
        <p:nvSpPr>
          <p:cNvPr id="23" name="Shape 21"/>
          <p:cNvSpPr/>
          <p:nvPr/>
        </p:nvSpPr>
        <p:spPr>
          <a:xfrm>
            <a:off x="6675120" y="1335024"/>
            <a:ext cx="82296" cy="18288"/>
          </a:xfrm>
          <a:prstGeom prst="RECTANGLE">
            <a:avLst/>
          </a:prstGeom>
          <a:solidFill>
            <a:srgbClr val="B0C4C3"/>
          </a:solidFill>
          <a:ln w="12700">
            <a:solidFill>
              <a:srgbClr val="B0C4C3"/>
            </a:solidFill>
            <a:prstDash val="solid"/>
          </a:ln>
        </p:spPr>
      </p:sp>
      <p:sp>
        <p:nvSpPr>
          <p:cNvPr id="24" name="Shape 22"/>
          <p:cNvSpPr/>
          <p:nvPr/>
        </p:nvSpPr>
        <p:spPr>
          <a:xfrm>
            <a:off x="6748272" y="932688"/>
            <a:ext cx="1207008" cy="822960"/>
          </a:xfrm>
          <a:prstGeom prst="ROUNDED_RECTANGLE">
            <a:avLst>
              <a:gd name="adj" fmla="val 8889"/>
            </a:avLst>
          </a:prstGeom>
          <a:solidFill>
            <a:srgbClr val="FFE5E5"/>
          </a:solidFill>
          <a:ln w="12700">
            <a:solidFill>
              <a:srgbClr val="FFAAAA"/>
            </a:solidFill>
            <a:prstDash val="solid"/>
          </a:ln>
        </p:spPr>
      </p:sp>
      <p:sp>
        <p:nvSpPr>
          <p:cNvPr id="25" name="Text 23"/>
          <p:cNvSpPr/>
          <p:nvPr/>
        </p:nvSpPr>
        <p:spPr>
          <a:xfrm>
            <a:off x="6748272" y="996696"/>
            <a:ext cx="1207008" cy="34747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6" name="Text 24"/>
          <p:cNvSpPr/>
          <p:nvPr/>
        </p:nvSpPr>
        <p:spPr>
          <a:xfrm>
            <a:off x="6748272" y="1371600"/>
            <a:ext cx="1207008" cy="347472"/>
          </a:xfrm>
          <a:prstGeom prst="rect">
            <a:avLst/>
          </a:prstGeom>
          <a:noFill/>
          <a:ln/>
        </p:spPr>
        <p:txBody>
          <a:bodyPr wrap="square" rtlCol="0" anchor="ctr"/>
          <a:lstStyle/>
          <a:p>
            <a:pPr algn="ctr" indent="0" marL="0">
              <a:lnSpc>
                <a:spcPct val="105000"/>
              </a:lnSpc>
              <a:buNone/>
            </a:pPr>
            <a:r>
              <a:rPr lang="en-US" sz="900" b="1" dirty="0">
                <a:solidFill>
                  <a:srgbClr val="DC2626"/>
                </a:solidFill>
                <a:latin typeface="Calibri" pitchFamily="34" charset="0"/>
                <a:ea typeface="Calibri" pitchFamily="34" charset="-122"/>
                <a:cs typeface="Calibri" pitchFamily="34" charset="-120"/>
              </a:rPr>
              <a:t>Financial</a:t>
            </a:r>
            <a:endParaRPr lang="en-US" sz="900" dirty="0"/>
          </a:p>
          <a:p>
            <a:pPr algn="ctr" indent="0" marL="0">
              <a:lnSpc>
                <a:spcPct val="105000"/>
              </a:lnSpc>
              <a:buNone/>
            </a:pPr>
            <a:r>
              <a:rPr lang="en-US" sz="900" b="1" dirty="0">
                <a:solidFill>
                  <a:srgbClr val="DC2626"/>
                </a:solidFill>
                <a:latin typeface="Calibri" pitchFamily="34" charset="0"/>
                <a:ea typeface="Calibri" pitchFamily="34" charset="-122"/>
                <a:cs typeface="Calibri" pitchFamily="34" charset="-120"/>
              </a:rPr>
              <a:t>Stress</a:t>
            </a:r>
            <a:endParaRPr lang="en-US" sz="900" dirty="0"/>
          </a:p>
        </p:txBody>
      </p:sp>
      <p:sp>
        <p:nvSpPr>
          <p:cNvPr id="27" name="Shape 25"/>
          <p:cNvSpPr/>
          <p:nvPr/>
        </p:nvSpPr>
        <p:spPr>
          <a:xfrm>
            <a:off x="457200" y="1920240"/>
            <a:ext cx="3977640" cy="429768"/>
          </a:xfrm>
          <a:prstGeom prst="ROUNDED_RECTANGLE">
            <a:avLst>
              <a:gd name="adj" fmla="val 12766"/>
            </a:avLst>
          </a:prstGeom>
          <a:solidFill>
            <a:srgbClr val="FFFFFF"/>
          </a:solidFill>
          <a:ln w="12700">
            <a:solidFill>
              <a:srgbClr val="D6EDEC"/>
            </a:solidFill>
            <a:prstDash val="solid"/>
          </a:ln>
        </p:spPr>
      </p:sp>
      <p:sp>
        <p:nvSpPr>
          <p:cNvPr id="28" name="Text 26"/>
          <p:cNvSpPr/>
          <p:nvPr/>
        </p:nvSpPr>
        <p:spPr>
          <a:xfrm>
            <a:off x="566928" y="1993392"/>
            <a:ext cx="274320" cy="274320"/>
          </a:xfrm>
          <a:prstGeom prst="rect">
            <a:avLst/>
          </a:prstGeom>
          <a:noFill/>
          <a:ln/>
        </p:spPr>
        <p:txBody>
          <a:bodyPr wrap="square"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a:t>
            </a:r>
            <a:endParaRPr lang="en-US" sz="1100" dirty="0"/>
          </a:p>
        </p:txBody>
      </p:sp>
      <p:sp>
        <p:nvSpPr>
          <p:cNvPr id="29" name="Text 27"/>
          <p:cNvSpPr/>
          <p:nvPr/>
        </p:nvSpPr>
        <p:spPr>
          <a:xfrm>
            <a:off x="896112" y="1993392"/>
            <a:ext cx="3474720" cy="27432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No transparent hospital pricing or standard rate cards</a:t>
            </a:r>
            <a:endParaRPr lang="en-US" sz="1050" dirty="0"/>
          </a:p>
        </p:txBody>
      </p:sp>
      <p:sp>
        <p:nvSpPr>
          <p:cNvPr id="30" name="Shape 28"/>
          <p:cNvSpPr/>
          <p:nvPr/>
        </p:nvSpPr>
        <p:spPr>
          <a:xfrm>
            <a:off x="457200" y="2423160"/>
            <a:ext cx="3977640" cy="429768"/>
          </a:xfrm>
          <a:prstGeom prst="ROUNDED_RECTANGLE">
            <a:avLst>
              <a:gd name="adj" fmla="val 12766"/>
            </a:avLst>
          </a:prstGeom>
          <a:solidFill>
            <a:srgbClr val="FFFFFF"/>
          </a:solidFill>
          <a:ln w="12700">
            <a:solidFill>
              <a:srgbClr val="D6EDEC"/>
            </a:solidFill>
            <a:prstDash val="solid"/>
          </a:ln>
        </p:spPr>
      </p:sp>
      <p:sp>
        <p:nvSpPr>
          <p:cNvPr id="31" name="Text 29"/>
          <p:cNvSpPr/>
          <p:nvPr/>
        </p:nvSpPr>
        <p:spPr>
          <a:xfrm>
            <a:off x="566928" y="2496312"/>
            <a:ext cx="274320" cy="274320"/>
          </a:xfrm>
          <a:prstGeom prst="rect">
            <a:avLst/>
          </a:prstGeom>
          <a:noFill/>
          <a:ln/>
        </p:spPr>
        <p:txBody>
          <a:bodyPr wrap="square"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a:t>
            </a:r>
            <a:endParaRPr lang="en-US" sz="1100" dirty="0"/>
          </a:p>
        </p:txBody>
      </p:sp>
      <p:sp>
        <p:nvSpPr>
          <p:cNvPr id="32" name="Text 30"/>
          <p:cNvSpPr/>
          <p:nvPr/>
        </p:nvSpPr>
        <p:spPr>
          <a:xfrm>
            <a:off x="896112" y="2496312"/>
            <a:ext cx="3474720" cy="27432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Impossible to estimate treatment cost before admission</a:t>
            </a:r>
            <a:endParaRPr lang="en-US" sz="1050" dirty="0"/>
          </a:p>
        </p:txBody>
      </p:sp>
      <p:sp>
        <p:nvSpPr>
          <p:cNvPr id="33" name="Shape 31"/>
          <p:cNvSpPr/>
          <p:nvPr/>
        </p:nvSpPr>
        <p:spPr>
          <a:xfrm>
            <a:off x="457200" y="2926080"/>
            <a:ext cx="3977640" cy="429768"/>
          </a:xfrm>
          <a:prstGeom prst="ROUNDED_RECTANGLE">
            <a:avLst>
              <a:gd name="adj" fmla="val 12766"/>
            </a:avLst>
          </a:prstGeom>
          <a:solidFill>
            <a:srgbClr val="FFFFFF"/>
          </a:solidFill>
          <a:ln w="12700">
            <a:solidFill>
              <a:srgbClr val="D6EDEC"/>
            </a:solidFill>
            <a:prstDash val="solid"/>
          </a:ln>
        </p:spPr>
      </p:sp>
      <p:sp>
        <p:nvSpPr>
          <p:cNvPr id="34" name="Text 32"/>
          <p:cNvSpPr/>
          <p:nvPr/>
        </p:nvSpPr>
        <p:spPr>
          <a:xfrm>
            <a:off x="566928" y="2999232"/>
            <a:ext cx="274320" cy="274320"/>
          </a:xfrm>
          <a:prstGeom prst="rect">
            <a:avLst/>
          </a:prstGeom>
          <a:noFill/>
          <a:ln/>
        </p:spPr>
        <p:txBody>
          <a:bodyPr wrap="square"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a:t>
            </a:r>
            <a:endParaRPr lang="en-US" sz="1100" dirty="0"/>
          </a:p>
        </p:txBody>
      </p:sp>
      <p:sp>
        <p:nvSpPr>
          <p:cNvPr id="35" name="Text 33"/>
          <p:cNvSpPr/>
          <p:nvPr/>
        </p:nvSpPr>
        <p:spPr>
          <a:xfrm>
            <a:off x="896112" y="2999232"/>
            <a:ext cx="3474720" cy="27432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Surprise bills with unverifiable or inflated charges</a:t>
            </a:r>
            <a:endParaRPr lang="en-US" sz="1050" dirty="0"/>
          </a:p>
        </p:txBody>
      </p:sp>
      <p:sp>
        <p:nvSpPr>
          <p:cNvPr id="36" name="Shape 34"/>
          <p:cNvSpPr/>
          <p:nvPr/>
        </p:nvSpPr>
        <p:spPr>
          <a:xfrm>
            <a:off x="4681728" y="1920240"/>
            <a:ext cx="3977640" cy="429768"/>
          </a:xfrm>
          <a:prstGeom prst="ROUNDED_RECTANGLE">
            <a:avLst>
              <a:gd name="adj" fmla="val 12766"/>
            </a:avLst>
          </a:prstGeom>
          <a:solidFill>
            <a:srgbClr val="FFFFFF"/>
          </a:solidFill>
          <a:ln w="12700">
            <a:solidFill>
              <a:srgbClr val="D6EDEC"/>
            </a:solidFill>
            <a:prstDash val="solid"/>
          </a:ln>
        </p:spPr>
      </p:sp>
      <p:sp>
        <p:nvSpPr>
          <p:cNvPr id="37" name="Text 35"/>
          <p:cNvSpPr/>
          <p:nvPr/>
        </p:nvSpPr>
        <p:spPr>
          <a:xfrm>
            <a:off x="4791456" y="1993392"/>
            <a:ext cx="274320" cy="274320"/>
          </a:xfrm>
          <a:prstGeom prst="rect">
            <a:avLst/>
          </a:prstGeom>
          <a:noFill/>
          <a:ln/>
        </p:spPr>
        <p:txBody>
          <a:bodyPr wrap="square"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a:t>
            </a:r>
            <a:endParaRPr lang="en-US" sz="1100" dirty="0"/>
          </a:p>
        </p:txBody>
      </p:sp>
      <p:sp>
        <p:nvSpPr>
          <p:cNvPr id="38" name="Text 36"/>
          <p:cNvSpPr/>
          <p:nvPr/>
        </p:nvSpPr>
        <p:spPr>
          <a:xfrm>
            <a:off x="5120640" y="1993392"/>
            <a:ext cx="3474720" cy="27432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No easy way to compare hospitals on price vs. quality</a:t>
            </a:r>
            <a:endParaRPr lang="en-US" sz="1050" dirty="0"/>
          </a:p>
        </p:txBody>
      </p:sp>
      <p:sp>
        <p:nvSpPr>
          <p:cNvPr id="39" name="Shape 37"/>
          <p:cNvSpPr/>
          <p:nvPr/>
        </p:nvSpPr>
        <p:spPr>
          <a:xfrm>
            <a:off x="4681728" y="2423160"/>
            <a:ext cx="3977640" cy="429768"/>
          </a:xfrm>
          <a:prstGeom prst="ROUNDED_RECTANGLE">
            <a:avLst>
              <a:gd name="adj" fmla="val 12766"/>
            </a:avLst>
          </a:prstGeom>
          <a:solidFill>
            <a:srgbClr val="FFFFFF"/>
          </a:solidFill>
          <a:ln w="12700">
            <a:solidFill>
              <a:srgbClr val="D6EDEC"/>
            </a:solidFill>
            <a:prstDash val="solid"/>
          </a:ln>
        </p:spPr>
      </p:sp>
      <p:sp>
        <p:nvSpPr>
          <p:cNvPr id="40" name="Text 38"/>
          <p:cNvSpPr/>
          <p:nvPr/>
        </p:nvSpPr>
        <p:spPr>
          <a:xfrm>
            <a:off x="4791456" y="2496312"/>
            <a:ext cx="274320" cy="274320"/>
          </a:xfrm>
          <a:prstGeom prst="rect">
            <a:avLst/>
          </a:prstGeom>
          <a:noFill/>
          <a:ln/>
        </p:spPr>
        <p:txBody>
          <a:bodyPr wrap="square"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a:t>
            </a:r>
            <a:endParaRPr lang="en-US" sz="1100" dirty="0"/>
          </a:p>
        </p:txBody>
      </p:sp>
      <p:sp>
        <p:nvSpPr>
          <p:cNvPr id="41" name="Text 39"/>
          <p:cNvSpPr/>
          <p:nvPr/>
        </p:nvSpPr>
        <p:spPr>
          <a:xfrm>
            <a:off x="5120640" y="2496312"/>
            <a:ext cx="3474720" cy="27432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Insurance coverage uncertainty before hospitalization</a:t>
            </a:r>
            <a:endParaRPr lang="en-US" sz="1050" dirty="0"/>
          </a:p>
        </p:txBody>
      </p:sp>
      <p:sp>
        <p:nvSpPr>
          <p:cNvPr id="42" name="Shape 40"/>
          <p:cNvSpPr/>
          <p:nvPr/>
        </p:nvSpPr>
        <p:spPr>
          <a:xfrm>
            <a:off x="4681728" y="2926080"/>
            <a:ext cx="3977640" cy="429768"/>
          </a:xfrm>
          <a:prstGeom prst="ROUNDED_RECTANGLE">
            <a:avLst>
              <a:gd name="adj" fmla="val 12766"/>
            </a:avLst>
          </a:prstGeom>
          <a:solidFill>
            <a:srgbClr val="FFFFFF"/>
          </a:solidFill>
          <a:ln w="12700">
            <a:solidFill>
              <a:srgbClr val="D6EDEC"/>
            </a:solidFill>
            <a:prstDash val="solid"/>
          </a:ln>
        </p:spPr>
      </p:sp>
      <p:sp>
        <p:nvSpPr>
          <p:cNvPr id="43" name="Text 41"/>
          <p:cNvSpPr/>
          <p:nvPr/>
        </p:nvSpPr>
        <p:spPr>
          <a:xfrm>
            <a:off x="4791456" y="2999232"/>
            <a:ext cx="274320" cy="274320"/>
          </a:xfrm>
          <a:prstGeom prst="rect">
            <a:avLst/>
          </a:prstGeom>
          <a:noFill/>
          <a:ln/>
        </p:spPr>
        <p:txBody>
          <a:bodyPr wrap="square"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a:t>
            </a:r>
            <a:endParaRPr lang="en-US" sz="1100" dirty="0"/>
          </a:p>
        </p:txBody>
      </p:sp>
      <p:sp>
        <p:nvSpPr>
          <p:cNvPr id="44" name="Text 42"/>
          <p:cNvSpPr/>
          <p:nvPr/>
        </p:nvSpPr>
        <p:spPr>
          <a:xfrm>
            <a:off x="5120640" y="2999232"/>
            <a:ext cx="3474720" cy="27432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No time for research during a medical emergency</a:t>
            </a:r>
            <a:endParaRPr lang="en-US" sz="1050" dirty="0"/>
          </a:p>
        </p:txBody>
      </p:sp>
      <p:sp>
        <p:nvSpPr>
          <p:cNvPr id="45" name="Shape 43"/>
          <p:cNvSpPr/>
          <p:nvPr/>
        </p:nvSpPr>
        <p:spPr>
          <a:xfrm>
            <a:off x="457200" y="3493008"/>
            <a:ext cx="8229600" cy="457200"/>
          </a:xfrm>
          <a:prstGeom prst="ROUNDED_RECTANGLE">
            <a:avLst>
              <a:gd name="adj" fmla="val 14000"/>
            </a:avLst>
          </a:prstGeom>
          <a:solidFill>
            <a:srgbClr val="FFF3E0"/>
          </a:solidFill>
          <a:ln w="12700">
            <a:solidFill>
              <a:srgbClr val="FFB74D"/>
            </a:solidFill>
            <a:prstDash val="solid"/>
          </a:ln>
        </p:spPr>
      </p:sp>
      <p:sp>
        <p:nvSpPr>
          <p:cNvPr id="46" name="Text 44"/>
          <p:cNvSpPr/>
          <p:nvPr/>
        </p:nvSpPr>
        <p:spPr>
          <a:xfrm>
            <a:off x="594360" y="3538728"/>
            <a:ext cx="7955280" cy="36576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   Medical expenses are the leading cause of household financial distress in India — impacting tens of millions of families every year.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830"/>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Solution: GavixaCare</a:t>
            </a:r>
            <a:endParaRPr lang="en-US" sz="2600" dirty="0"/>
          </a:p>
        </p:txBody>
      </p:sp>
      <p:sp>
        <p:nvSpPr>
          <p:cNvPr id="3" name="Shape 1"/>
          <p:cNvSpPr/>
          <p:nvPr/>
        </p:nvSpPr>
        <p:spPr>
          <a:xfrm>
            <a:off x="457200" y="749808"/>
            <a:ext cx="384048" cy="50292"/>
          </a:xfrm>
          <a:prstGeom prst="ROUNDED_RECTANGLE">
            <a:avLst>
              <a:gd name="adj" fmla="val 54545"/>
            </a:avLst>
          </a:prstGeom>
          <a:solidFill>
            <a:srgbClr val="12B5A8"/>
          </a:solidFill>
          <a:ln w="12700">
            <a:solidFill>
              <a:srgbClr val="12B5A8"/>
            </a:solidFill>
            <a:prstDash val="solid"/>
          </a:ln>
        </p:spPr>
      </p:sp>
      <p:sp>
        <p:nvSpPr>
          <p:cNvPr id="4" name="Text 2"/>
          <p:cNvSpPr/>
          <p:nvPr/>
        </p:nvSpPr>
        <p:spPr>
          <a:xfrm>
            <a:off x="457200" y="914400"/>
            <a:ext cx="8229600" cy="384048"/>
          </a:xfrm>
          <a:prstGeom prst="rect">
            <a:avLst/>
          </a:prstGeom>
          <a:noFill/>
          <a:ln/>
        </p:spPr>
        <p:txBody>
          <a:bodyPr wrap="square" rtlCol="0" anchor="ctr"/>
          <a:lstStyle/>
          <a:p>
            <a:pPr indent="0" marL="0">
              <a:buNone/>
            </a:pPr>
            <a:r>
              <a:rPr lang="en-US" sz="1350" i="1" dirty="0">
                <a:solidFill>
                  <a:srgbClr val="12B5A8"/>
                </a:solidFill>
                <a:latin typeface="Cambria" pitchFamily="34" charset="0"/>
                <a:ea typeface="Cambria" pitchFamily="34" charset="-122"/>
                <a:cs typeface="Cambria" pitchFamily="34" charset="-120"/>
              </a:rPr>
              <a:t>"Gavixa helps people make smarter healthcare decisions — before they spend their money."</a:t>
            </a:r>
            <a:endParaRPr lang="en-US" sz="1350" dirty="0"/>
          </a:p>
        </p:txBody>
      </p:sp>
      <p:sp>
        <p:nvSpPr>
          <p:cNvPr id="5" name="Shape 3"/>
          <p:cNvSpPr/>
          <p:nvPr/>
        </p:nvSpPr>
        <p:spPr>
          <a:xfrm>
            <a:off x="438912" y="1463040"/>
            <a:ext cx="2633472" cy="1024128"/>
          </a:xfrm>
          <a:prstGeom prst="ROUNDED_RECTANGLE">
            <a:avLst>
              <a:gd name="adj" fmla="val 8036"/>
            </a:avLst>
          </a:prstGeom>
          <a:solidFill>
            <a:srgbClr val="162635"/>
          </a:solidFill>
          <a:ln w="12700">
            <a:solidFill>
              <a:srgbClr val="1E3A50"/>
            </a:solidFill>
            <a:prstDash val="solid"/>
          </a:ln>
        </p:spPr>
      </p:sp>
      <p:sp>
        <p:nvSpPr>
          <p:cNvPr id="6" name="Shape 4"/>
          <p:cNvSpPr/>
          <p:nvPr/>
        </p:nvSpPr>
        <p:spPr>
          <a:xfrm>
            <a:off x="438912" y="1463040"/>
            <a:ext cx="64008" cy="1024128"/>
          </a:xfrm>
          <a:prstGeom prst="ROUNDED_RECTANGLE">
            <a:avLst>
              <a:gd name="adj" fmla="val 57143"/>
            </a:avLst>
          </a:prstGeom>
          <a:solidFill>
            <a:srgbClr val="1A4B8C"/>
          </a:solidFill>
          <a:ln w="12700">
            <a:solidFill>
              <a:srgbClr val="1A4B8C"/>
            </a:solidFill>
            <a:prstDash val="solid"/>
          </a:ln>
        </p:spPr>
      </p:sp>
      <p:sp>
        <p:nvSpPr>
          <p:cNvPr id="7" name="Text 5"/>
          <p:cNvSpPr/>
          <p:nvPr/>
        </p:nvSpPr>
        <p:spPr>
          <a:xfrm>
            <a:off x="603504" y="1554480"/>
            <a:ext cx="365760" cy="36576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8" name="Text 6"/>
          <p:cNvSpPr/>
          <p:nvPr/>
        </p:nvSpPr>
        <p:spPr>
          <a:xfrm>
            <a:off x="1033272" y="1536192"/>
            <a:ext cx="1965960" cy="329184"/>
          </a:xfrm>
          <a:prstGeom prst="rect">
            <a:avLst/>
          </a:prstGeom>
          <a:noFill/>
          <a:ln/>
        </p:spPr>
        <p:txBody>
          <a:bodyPr wrap="square" rtlCol="0" anchor="ctr"/>
          <a:lstStyle/>
          <a:p>
            <a:pPr indent="0" marL="0">
              <a:lnSpc>
                <a:spcPct val="100000"/>
              </a:lnSpc>
              <a:buNone/>
            </a:pPr>
            <a:r>
              <a:rPr lang="en-US" sz="1100" b="1" dirty="0">
                <a:solidFill>
                  <a:srgbClr val="FFFFFF"/>
                </a:solidFill>
                <a:latin typeface="Calibri" pitchFamily="34" charset="0"/>
                <a:ea typeface="Calibri" pitchFamily="34" charset="-122"/>
                <a:cs typeface="Calibri" pitchFamily="34" charset="-120"/>
              </a:rPr>
              <a:t>Hospital Directory &amp; Compare</a:t>
            </a:r>
            <a:endParaRPr lang="en-US" sz="1100" dirty="0"/>
          </a:p>
        </p:txBody>
      </p:sp>
      <p:sp>
        <p:nvSpPr>
          <p:cNvPr id="9" name="Text 7"/>
          <p:cNvSpPr/>
          <p:nvPr/>
        </p:nvSpPr>
        <p:spPr>
          <a:xfrm>
            <a:off x="1033272" y="1883664"/>
            <a:ext cx="1965960" cy="512064"/>
          </a:xfrm>
          <a:prstGeom prst="rect">
            <a:avLst/>
          </a:prstGeom>
          <a:noFill/>
          <a:ln/>
        </p:spPr>
        <p:txBody>
          <a:bodyPr wrap="square" rtlCol="0" anchor="ctr"/>
          <a:lstStyle/>
          <a:p>
            <a:pPr indent="0" marL="0">
              <a:lnSpc>
                <a:spcPct val="115000"/>
              </a:lnSpc>
              <a:buNone/>
            </a:pPr>
            <a:r>
              <a:rPr lang="en-US" sz="900" dirty="0">
                <a:solidFill>
                  <a:srgbClr val="B0C4C3"/>
                </a:solidFill>
                <a:latin typeface="Calibri" pitchFamily="34" charset="0"/>
                <a:ea typeface="Calibri" pitchFamily="34" charset="-122"/>
                <a:cs typeface="Calibri" pitchFamily="34" charset="-120"/>
              </a:rPr>
              <a:t>32 hospitals, 11 cities · Search/filter/compare by price, quality &amp; value score</a:t>
            </a:r>
            <a:endParaRPr lang="en-US" sz="900" dirty="0"/>
          </a:p>
        </p:txBody>
      </p:sp>
      <p:sp>
        <p:nvSpPr>
          <p:cNvPr id="10" name="Shape 8"/>
          <p:cNvSpPr/>
          <p:nvPr/>
        </p:nvSpPr>
        <p:spPr>
          <a:xfrm>
            <a:off x="3131820" y="1463040"/>
            <a:ext cx="2633472" cy="1024128"/>
          </a:xfrm>
          <a:prstGeom prst="ROUNDED_RECTANGLE">
            <a:avLst>
              <a:gd name="adj" fmla="val 8036"/>
            </a:avLst>
          </a:prstGeom>
          <a:solidFill>
            <a:srgbClr val="162635"/>
          </a:solidFill>
          <a:ln w="12700">
            <a:solidFill>
              <a:srgbClr val="1E3A50"/>
            </a:solidFill>
            <a:prstDash val="solid"/>
          </a:ln>
        </p:spPr>
      </p:sp>
      <p:sp>
        <p:nvSpPr>
          <p:cNvPr id="11" name="Shape 9"/>
          <p:cNvSpPr/>
          <p:nvPr/>
        </p:nvSpPr>
        <p:spPr>
          <a:xfrm>
            <a:off x="3131820" y="1463040"/>
            <a:ext cx="64008" cy="1024128"/>
          </a:xfrm>
          <a:prstGeom prst="ROUNDED_RECTANGLE">
            <a:avLst>
              <a:gd name="adj" fmla="val 57143"/>
            </a:avLst>
          </a:prstGeom>
          <a:solidFill>
            <a:srgbClr val="1A8884"/>
          </a:solidFill>
          <a:ln w="12700">
            <a:solidFill>
              <a:srgbClr val="1A8884"/>
            </a:solidFill>
            <a:prstDash val="solid"/>
          </a:ln>
        </p:spPr>
      </p:sp>
      <p:sp>
        <p:nvSpPr>
          <p:cNvPr id="12" name="Text 10"/>
          <p:cNvSpPr/>
          <p:nvPr/>
        </p:nvSpPr>
        <p:spPr>
          <a:xfrm>
            <a:off x="3296412" y="1554480"/>
            <a:ext cx="365760" cy="36576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3" name="Text 11"/>
          <p:cNvSpPr/>
          <p:nvPr/>
        </p:nvSpPr>
        <p:spPr>
          <a:xfrm>
            <a:off x="3726180" y="1536192"/>
            <a:ext cx="1965960" cy="329184"/>
          </a:xfrm>
          <a:prstGeom prst="rect">
            <a:avLst/>
          </a:prstGeom>
          <a:noFill/>
          <a:ln/>
        </p:spPr>
        <p:txBody>
          <a:bodyPr wrap="square" rtlCol="0" anchor="ctr"/>
          <a:lstStyle/>
          <a:p>
            <a:pP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AI Cost Estimator</a:t>
            </a:r>
            <a:endParaRPr lang="en-US" sz="1100" dirty="0"/>
          </a:p>
        </p:txBody>
      </p:sp>
      <p:sp>
        <p:nvSpPr>
          <p:cNvPr id="14" name="Text 12"/>
          <p:cNvSpPr/>
          <p:nvPr/>
        </p:nvSpPr>
        <p:spPr>
          <a:xfrm>
            <a:off x="3726180" y="1883664"/>
            <a:ext cx="1965960" cy="512064"/>
          </a:xfrm>
          <a:prstGeom prst="rect">
            <a:avLst/>
          </a:prstGeom>
          <a:noFill/>
          <a:ln/>
        </p:spPr>
        <p:txBody>
          <a:bodyPr wrap="square" rtlCol="0" anchor="ctr"/>
          <a:lstStyle/>
          <a:p>
            <a:pPr indent="0" marL="0">
              <a:lnSpc>
                <a:spcPct val="115000"/>
              </a:lnSpc>
              <a:buNone/>
            </a:pPr>
            <a:r>
              <a:rPr lang="en-US" sz="900" dirty="0">
                <a:solidFill>
                  <a:srgbClr val="B0C4C3"/>
                </a:solidFill>
                <a:latin typeface="Calibri" pitchFamily="34" charset="0"/>
                <a:ea typeface="Calibri" pitchFamily="34" charset="-122"/>
                <a:cs typeface="Calibri" pitchFamily="34" charset="-120"/>
              </a:rPr>
              <a:t>City-aware, tier-aware cost range with itemized breakdown and savings guidance</a:t>
            </a:r>
            <a:endParaRPr lang="en-US" sz="900" dirty="0"/>
          </a:p>
        </p:txBody>
      </p:sp>
      <p:sp>
        <p:nvSpPr>
          <p:cNvPr id="15" name="Shape 13"/>
          <p:cNvSpPr/>
          <p:nvPr/>
        </p:nvSpPr>
        <p:spPr>
          <a:xfrm>
            <a:off x="5824728" y="1463040"/>
            <a:ext cx="2633472" cy="1024128"/>
          </a:xfrm>
          <a:prstGeom prst="ROUNDED_RECTANGLE">
            <a:avLst>
              <a:gd name="adj" fmla="val 8036"/>
            </a:avLst>
          </a:prstGeom>
          <a:solidFill>
            <a:srgbClr val="162635"/>
          </a:solidFill>
          <a:ln w="12700">
            <a:solidFill>
              <a:srgbClr val="1E3A50"/>
            </a:solidFill>
            <a:prstDash val="solid"/>
          </a:ln>
        </p:spPr>
      </p:sp>
      <p:sp>
        <p:nvSpPr>
          <p:cNvPr id="16" name="Shape 14"/>
          <p:cNvSpPr/>
          <p:nvPr/>
        </p:nvSpPr>
        <p:spPr>
          <a:xfrm>
            <a:off x="5824728" y="1463040"/>
            <a:ext cx="64008" cy="1024128"/>
          </a:xfrm>
          <a:prstGeom prst="ROUNDED_RECTANGLE">
            <a:avLst>
              <a:gd name="adj" fmla="val 57143"/>
            </a:avLst>
          </a:prstGeom>
          <a:solidFill>
            <a:srgbClr val="7B1FA2"/>
          </a:solidFill>
          <a:ln w="12700">
            <a:solidFill>
              <a:srgbClr val="7B1FA2"/>
            </a:solidFill>
            <a:prstDash val="solid"/>
          </a:ln>
        </p:spPr>
      </p:sp>
      <p:sp>
        <p:nvSpPr>
          <p:cNvPr id="17" name="Text 15"/>
          <p:cNvSpPr/>
          <p:nvPr/>
        </p:nvSpPr>
        <p:spPr>
          <a:xfrm>
            <a:off x="5989320" y="1554480"/>
            <a:ext cx="365760" cy="36576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6419088" y="1536192"/>
            <a:ext cx="1965960" cy="329184"/>
          </a:xfrm>
          <a:prstGeom prst="rect">
            <a:avLst/>
          </a:prstGeom>
          <a:noFill/>
          <a:ln/>
        </p:spPr>
        <p:txBody>
          <a:bodyPr wrap="square" rtlCol="0" anchor="ctr"/>
          <a:lstStyle/>
          <a:p>
            <a:pP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AI Bill Analyzer</a:t>
            </a:r>
            <a:endParaRPr lang="en-US" sz="1100" dirty="0"/>
          </a:p>
        </p:txBody>
      </p:sp>
      <p:sp>
        <p:nvSpPr>
          <p:cNvPr id="19" name="Text 17"/>
          <p:cNvSpPr/>
          <p:nvPr/>
        </p:nvSpPr>
        <p:spPr>
          <a:xfrm>
            <a:off x="6419088" y="1883664"/>
            <a:ext cx="1965960" cy="512064"/>
          </a:xfrm>
          <a:prstGeom prst="rect">
            <a:avLst/>
          </a:prstGeom>
          <a:noFill/>
          <a:ln/>
        </p:spPr>
        <p:txBody>
          <a:bodyPr wrap="square" rtlCol="0" anchor="ctr"/>
          <a:lstStyle/>
          <a:p>
            <a:pPr indent="0" marL="0">
              <a:lnSpc>
                <a:spcPct val="115000"/>
              </a:lnSpc>
              <a:buNone/>
            </a:pPr>
            <a:r>
              <a:rPr lang="en-US" sz="900" dirty="0">
                <a:solidFill>
                  <a:srgbClr val="B0C4C3"/>
                </a:solidFill>
                <a:latin typeface="Calibri" pitchFamily="34" charset="0"/>
                <a:ea typeface="Calibri" pitchFamily="34" charset="-122"/>
                <a:cs typeface="Calibri" pitchFamily="34" charset="-120"/>
              </a:rPr>
              <a:t>Per-line-item AI audit · Confidence scoring · Potential variance identification</a:t>
            </a:r>
            <a:endParaRPr lang="en-US" sz="900" dirty="0"/>
          </a:p>
        </p:txBody>
      </p:sp>
      <p:sp>
        <p:nvSpPr>
          <p:cNvPr id="20" name="Shape 18"/>
          <p:cNvSpPr/>
          <p:nvPr/>
        </p:nvSpPr>
        <p:spPr>
          <a:xfrm>
            <a:off x="438912" y="2578608"/>
            <a:ext cx="2633472" cy="1024128"/>
          </a:xfrm>
          <a:prstGeom prst="ROUNDED_RECTANGLE">
            <a:avLst>
              <a:gd name="adj" fmla="val 8036"/>
            </a:avLst>
          </a:prstGeom>
          <a:solidFill>
            <a:srgbClr val="162635"/>
          </a:solidFill>
          <a:ln w="12700">
            <a:solidFill>
              <a:srgbClr val="1E3A50"/>
            </a:solidFill>
            <a:prstDash val="solid"/>
          </a:ln>
        </p:spPr>
      </p:sp>
      <p:sp>
        <p:nvSpPr>
          <p:cNvPr id="21" name="Shape 19"/>
          <p:cNvSpPr/>
          <p:nvPr/>
        </p:nvSpPr>
        <p:spPr>
          <a:xfrm>
            <a:off x="438912" y="2578608"/>
            <a:ext cx="64008" cy="1024128"/>
          </a:xfrm>
          <a:prstGeom prst="ROUNDED_RECTANGLE">
            <a:avLst>
              <a:gd name="adj" fmla="val 57143"/>
            </a:avLst>
          </a:prstGeom>
          <a:solidFill>
            <a:srgbClr val="DC2626"/>
          </a:solidFill>
          <a:ln w="12700">
            <a:solidFill>
              <a:srgbClr val="DC2626"/>
            </a:solidFill>
            <a:prstDash val="solid"/>
          </a:ln>
        </p:spPr>
      </p:sp>
      <p:sp>
        <p:nvSpPr>
          <p:cNvPr id="22" name="Text 20"/>
          <p:cNvSpPr/>
          <p:nvPr/>
        </p:nvSpPr>
        <p:spPr>
          <a:xfrm>
            <a:off x="603504" y="2670048"/>
            <a:ext cx="365760" cy="36576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3" name="Text 21"/>
          <p:cNvSpPr/>
          <p:nvPr/>
        </p:nvSpPr>
        <p:spPr>
          <a:xfrm>
            <a:off x="1033272" y="2651760"/>
            <a:ext cx="1965960" cy="329184"/>
          </a:xfrm>
          <a:prstGeom prst="rect">
            <a:avLst/>
          </a:prstGeom>
          <a:noFill/>
          <a:ln/>
        </p:spPr>
        <p:txBody>
          <a:bodyPr wrap="square" rtlCol="0" anchor="ctr"/>
          <a:lstStyle/>
          <a:p>
            <a:pPr indent="0" marL="0">
              <a:lnSpc>
                <a:spcPct val="100000"/>
              </a:lnSpc>
              <a:buNone/>
            </a:pPr>
            <a:r>
              <a:rPr lang="en-US" sz="1100" b="1" dirty="0">
                <a:solidFill>
                  <a:srgbClr val="FFFFFF"/>
                </a:solidFill>
                <a:latin typeface="Calibri" pitchFamily="34" charset="0"/>
                <a:ea typeface="Calibri" pitchFamily="34" charset="-122"/>
                <a:cs typeface="Calibri" pitchFamily="34" charset="-120"/>
              </a:rPr>
              <a:t>Emergency Hospital Finder</a:t>
            </a:r>
            <a:endParaRPr lang="en-US" sz="1100" dirty="0"/>
          </a:p>
        </p:txBody>
      </p:sp>
      <p:sp>
        <p:nvSpPr>
          <p:cNvPr id="24" name="Text 22"/>
          <p:cNvSpPr/>
          <p:nvPr/>
        </p:nvSpPr>
        <p:spPr>
          <a:xfrm>
            <a:off x="1033272" y="2999232"/>
            <a:ext cx="1965960" cy="512064"/>
          </a:xfrm>
          <a:prstGeom prst="rect">
            <a:avLst/>
          </a:prstGeom>
          <a:noFill/>
          <a:ln/>
        </p:spPr>
        <p:txBody>
          <a:bodyPr wrap="square" rtlCol="0" anchor="ctr"/>
          <a:lstStyle/>
          <a:p>
            <a:pPr indent="0" marL="0">
              <a:lnSpc>
                <a:spcPct val="115000"/>
              </a:lnSpc>
              <a:buNone/>
            </a:pPr>
            <a:r>
              <a:rPr lang="en-US" sz="900" dirty="0">
                <a:solidFill>
                  <a:srgbClr val="B0C4C3"/>
                </a:solidFill>
                <a:latin typeface="Calibri" pitchFamily="34" charset="0"/>
                <a:ea typeface="Calibri" pitchFamily="34" charset="-122"/>
                <a:cs typeface="Calibri" pitchFamily="34" charset="-120"/>
              </a:rPr>
              <a:t>Nearest hospital via Haversine distance · 108/112 + 7 emergency helplines</a:t>
            </a:r>
            <a:endParaRPr lang="en-US" sz="900" dirty="0"/>
          </a:p>
        </p:txBody>
      </p:sp>
      <p:sp>
        <p:nvSpPr>
          <p:cNvPr id="25" name="Shape 23"/>
          <p:cNvSpPr/>
          <p:nvPr/>
        </p:nvSpPr>
        <p:spPr>
          <a:xfrm>
            <a:off x="3131820" y="2578608"/>
            <a:ext cx="2633472" cy="1024128"/>
          </a:xfrm>
          <a:prstGeom prst="ROUNDED_RECTANGLE">
            <a:avLst>
              <a:gd name="adj" fmla="val 8036"/>
            </a:avLst>
          </a:prstGeom>
          <a:solidFill>
            <a:srgbClr val="162635"/>
          </a:solidFill>
          <a:ln w="12700">
            <a:solidFill>
              <a:srgbClr val="1E3A50"/>
            </a:solidFill>
            <a:prstDash val="solid"/>
          </a:ln>
        </p:spPr>
      </p:sp>
      <p:sp>
        <p:nvSpPr>
          <p:cNvPr id="26" name="Shape 24"/>
          <p:cNvSpPr/>
          <p:nvPr/>
        </p:nvSpPr>
        <p:spPr>
          <a:xfrm>
            <a:off x="3131820" y="2578608"/>
            <a:ext cx="64008" cy="1024128"/>
          </a:xfrm>
          <a:prstGeom prst="ROUNDED_RECTANGLE">
            <a:avLst>
              <a:gd name="adj" fmla="val 57143"/>
            </a:avLst>
          </a:prstGeom>
          <a:solidFill>
            <a:srgbClr val="065F46"/>
          </a:solidFill>
          <a:ln w="12700">
            <a:solidFill>
              <a:srgbClr val="065F46"/>
            </a:solidFill>
            <a:prstDash val="solid"/>
          </a:ln>
        </p:spPr>
      </p:sp>
      <p:sp>
        <p:nvSpPr>
          <p:cNvPr id="27" name="Text 25"/>
          <p:cNvSpPr/>
          <p:nvPr/>
        </p:nvSpPr>
        <p:spPr>
          <a:xfrm>
            <a:off x="3296412" y="2670048"/>
            <a:ext cx="365760" cy="36576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8" name="Text 26"/>
          <p:cNvSpPr/>
          <p:nvPr/>
        </p:nvSpPr>
        <p:spPr>
          <a:xfrm>
            <a:off x="3726180" y="2651760"/>
            <a:ext cx="1965960" cy="329184"/>
          </a:xfrm>
          <a:prstGeom prst="rect">
            <a:avLst/>
          </a:prstGeom>
          <a:noFill/>
          <a:ln/>
        </p:spPr>
        <p:txBody>
          <a:bodyPr wrap="square" rtlCol="0" anchor="ctr"/>
          <a:lstStyle/>
          <a:p>
            <a:pPr indent="0" marL="0">
              <a:lnSpc>
                <a:spcPct val="100000"/>
              </a:lnSpc>
              <a:buNone/>
            </a:pPr>
            <a:r>
              <a:rPr lang="en-US" sz="1100" b="1" dirty="0">
                <a:solidFill>
                  <a:srgbClr val="FFFFFF"/>
                </a:solidFill>
                <a:latin typeface="Calibri" pitchFamily="34" charset="0"/>
                <a:ea typeface="Calibri" pitchFamily="34" charset="-122"/>
                <a:cs typeface="Calibri" pitchFamily="34" charset="-120"/>
              </a:rPr>
              <a:t>Health Records Vault</a:t>
            </a:r>
            <a:endParaRPr lang="en-US" sz="1100" dirty="0"/>
          </a:p>
        </p:txBody>
      </p:sp>
      <p:sp>
        <p:nvSpPr>
          <p:cNvPr id="29" name="Text 27"/>
          <p:cNvSpPr/>
          <p:nvPr/>
        </p:nvSpPr>
        <p:spPr>
          <a:xfrm>
            <a:off x="3726180" y="2999232"/>
            <a:ext cx="1965960" cy="512064"/>
          </a:xfrm>
          <a:prstGeom prst="rect">
            <a:avLst/>
          </a:prstGeom>
          <a:noFill/>
          <a:ln/>
        </p:spPr>
        <p:txBody>
          <a:bodyPr wrap="square" rtlCol="0" anchor="ctr"/>
          <a:lstStyle/>
          <a:p>
            <a:pPr indent="0" marL="0">
              <a:lnSpc>
                <a:spcPct val="115000"/>
              </a:lnSpc>
              <a:buNone/>
            </a:pPr>
            <a:r>
              <a:rPr lang="en-US" sz="900" dirty="0">
                <a:solidFill>
                  <a:srgbClr val="B0C4C3"/>
                </a:solidFill>
                <a:latin typeface="Calibri" pitchFamily="34" charset="0"/>
                <a:ea typeface="Calibri" pitchFamily="34" charset="-122"/>
                <a:cs typeface="Calibri" pitchFamily="34" charset="-120"/>
              </a:rPr>
              <a:t>Encrypted, user-scoped storage for lab reports, prescriptions, imaging &amp; bills</a:t>
            </a:r>
            <a:endParaRPr lang="en-US" sz="900" dirty="0"/>
          </a:p>
        </p:txBody>
      </p:sp>
      <p:sp>
        <p:nvSpPr>
          <p:cNvPr id="30" name="Shape 28"/>
          <p:cNvSpPr/>
          <p:nvPr/>
        </p:nvSpPr>
        <p:spPr>
          <a:xfrm>
            <a:off x="5824728" y="2578608"/>
            <a:ext cx="2633472" cy="1024128"/>
          </a:xfrm>
          <a:prstGeom prst="ROUNDED_RECTANGLE">
            <a:avLst>
              <a:gd name="adj" fmla="val 8036"/>
            </a:avLst>
          </a:prstGeom>
          <a:solidFill>
            <a:srgbClr val="162635"/>
          </a:solidFill>
          <a:ln w="12700">
            <a:solidFill>
              <a:srgbClr val="1E3A50"/>
            </a:solidFill>
            <a:prstDash val="solid"/>
          </a:ln>
        </p:spPr>
      </p:sp>
      <p:sp>
        <p:nvSpPr>
          <p:cNvPr id="31" name="Shape 29"/>
          <p:cNvSpPr/>
          <p:nvPr/>
        </p:nvSpPr>
        <p:spPr>
          <a:xfrm>
            <a:off x="5824728" y="2578608"/>
            <a:ext cx="64008" cy="1024128"/>
          </a:xfrm>
          <a:prstGeom prst="ROUNDED_RECTANGLE">
            <a:avLst>
              <a:gd name="adj" fmla="val 57143"/>
            </a:avLst>
          </a:prstGeom>
          <a:solidFill>
            <a:srgbClr val="B45309"/>
          </a:solidFill>
          <a:ln w="12700">
            <a:solidFill>
              <a:srgbClr val="B45309"/>
            </a:solidFill>
            <a:prstDash val="solid"/>
          </a:ln>
        </p:spPr>
      </p:sp>
      <p:sp>
        <p:nvSpPr>
          <p:cNvPr id="32" name="Text 30"/>
          <p:cNvSpPr/>
          <p:nvPr/>
        </p:nvSpPr>
        <p:spPr>
          <a:xfrm>
            <a:off x="5989320" y="2670048"/>
            <a:ext cx="365760" cy="36576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33" name="Text 31"/>
          <p:cNvSpPr/>
          <p:nvPr/>
        </p:nvSpPr>
        <p:spPr>
          <a:xfrm>
            <a:off x="6419088" y="2651760"/>
            <a:ext cx="1965960" cy="329184"/>
          </a:xfrm>
          <a:prstGeom prst="rect">
            <a:avLst/>
          </a:prstGeom>
          <a:noFill/>
          <a:ln/>
        </p:spPr>
        <p:txBody>
          <a:bodyPr wrap="square" rtlCol="0" anchor="ctr"/>
          <a:lstStyle/>
          <a:p>
            <a:pPr indent="0" marL="0">
              <a:lnSpc>
                <a:spcPct val="100000"/>
              </a:lnSpc>
              <a:buNone/>
            </a:pPr>
            <a:r>
              <a:rPr lang="en-US" sz="1100" b="1" dirty="0">
                <a:solidFill>
                  <a:srgbClr val="FFFFFF"/>
                </a:solidFill>
                <a:latin typeface="Calibri" pitchFamily="34" charset="0"/>
                <a:ea typeface="Calibri" pitchFamily="34" charset="-122"/>
                <a:cs typeface="Calibri" pitchFamily="34" charset="-120"/>
              </a:rPr>
              <a:t>Hospital Value Score</a:t>
            </a:r>
            <a:endParaRPr lang="en-US" sz="1100" dirty="0"/>
          </a:p>
        </p:txBody>
      </p:sp>
      <p:sp>
        <p:nvSpPr>
          <p:cNvPr id="34" name="Text 32"/>
          <p:cNvSpPr/>
          <p:nvPr/>
        </p:nvSpPr>
        <p:spPr>
          <a:xfrm>
            <a:off x="6419088" y="2999232"/>
            <a:ext cx="1965960" cy="512064"/>
          </a:xfrm>
          <a:prstGeom prst="rect">
            <a:avLst/>
          </a:prstGeom>
          <a:noFill/>
          <a:ln/>
        </p:spPr>
        <p:txBody>
          <a:bodyPr wrap="square" rtlCol="0" anchor="ctr"/>
          <a:lstStyle/>
          <a:p>
            <a:pPr indent="0" marL="0">
              <a:lnSpc>
                <a:spcPct val="115000"/>
              </a:lnSpc>
              <a:buNone/>
            </a:pPr>
            <a:r>
              <a:rPr lang="en-US" sz="900" dirty="0">
                <a:solidFill>
                  <a:srgbClr val="B0C4C3"/>
                </a:solidFill>
                <a:latin typeface="Calibri" pitchFamily="34" charset="0"/>
                <a:ea typeface="Calibri" pitchFamily="34" charset="-122"/>
                <a:cs typeface="Calibri" pitchFamily="34" charset="-120"/>
              </a:rPr>
              <a:t>Composite ranking: Price 35% · Quality 40% · Availability 15% · Trust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A"/>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Who Is GavixaCare For?</a:t>
            </a:r>
            <a:endParaRPr lang="en-US" sz="2600" dirty="0"/>
          </a:p>
        </p:txBody>
      </p:sp>
      <p:sp>
        <p:nvSpPr>
          <p:cNvPr id="3" name="Shape 1"/>
          <p:cNvSpPr/>
          <p:nvPr/>
        </p:nvSpPr>
        <p:spPr>
          <a:xfrm>
            <a:off x="457200" y="749808"/>
            <a:ext cx="384048" cy="50292"/>
          </a:xfrm>
          <a:prstGeom prst="ROUNDED_RECTANGLE">
            <a:avLst>
              <a:gd name="adj" fmla="val 54545"/>
            </a:avLst>
          </a:prstGeom>
          <a:solidFill>
            <a:srgbClr val="12B5A8"/>
          </a:solidFill>
          <a:ln w="12700">
            <a:solidFill>
              <a:srgbClr val="12B5A8"/>
            </a:solidFill>
            <a:prstDash val="solid"/>
          </a:ln>
        </p:spPr>
      </p:sp>
      <p:sp>
        <p:nvSpPr>
          <p:cNvPr id="4" name="Shape 2"/>
          <p:cNvSpPr/>
          <p:nvPr/>
        </p:nvSpPr>
        <p:spPr>
          <a:xfrm>
            <a:off x="457200" y="914400"/>
            <a:ext cx="8229600" cy="457200"/>
          </a:xfrm>
          <a:prstGeom prst="ROUNDED_RECTANGLE">
            <a:avLst>
              <a:gd name="adj" fmla="val 14000"/>
            </a:avLst>
          </a:prstGeom>
          <a:solidFill>
            <a:srgbClr val="E6F5F4"/>
          </a:solidFill>
          <a:ln w="12700">
            <a:solidFill>
              <a:srgbClr val="D6EDEC"/>
            </a:solidFill>
            <a:prstDash val="solid"/>
          </a:ln>
        </p:spPr>
      </p:sp>
      <p:sp>
        <p:nvSpPr>
          <p:cNvPr id="5" name="Text 3"/>
          <p:cNvSpPr/>
          <p:nvPr/>
        </p:nvSpPr>
        <p:spPr>
          <a:xfrm>
            <a:off x="640080" y="960120"/>
            <a:ext cx="1645920" cy="365760"/>
          </a:xfrm>
          <a:prstGeom prst="rect">
            <a:avLst/>
          </a:prstGeom>
          <a:noFill/>
          <a:ln/>
        </p:spPr>
        <p:txBody>
          <a:bodyPr wrap="square" lIns="0" tIns="0" rIns="0" bIns="0" rtlCol="0" anchor="ctr"/>
          <a:lstStyle/>
          <a:p>
            <a:pPr indent="0" marL="0">
              <a:buNone/>
            </a:pPr>
            <a:r>
              <a:rPr lang="en-US" sz="950" b="1" dirty="0">
                <a:solidFill>
                  <a:srgbClr val="718096"/>
                </a:solidFill>
                <a:latin typeface="Calibri" pitchFamily="34" charset="0"/>
                <a:ea typeface="Calibri" pitchFamily="34" charset="-122"/>
                <a:cs typeface="Calibri" pitchFamily="34" charset="-120"/>
              </a:rPr>
              <a:t>Primary User:</a:t>
            </a:r>
            <a:endParaRPr lang="en-US" sz="950" dirty="0"/>
          </a:p>
        </p:txBody>
      </p:sp>
      <p:sp>
        <p:nvSpPr>
          <p:cNvPr id="6" name="Text 4"/>
          <p:cNvSpPr/>
          <p:nvPr/>
        </p:nvSpPr>
        <p:spPr>
          <a:xfrm>
            <a:off x="2286000" y="960120"/>
            <a:ext cx="6217920" cy="365760"/>
          </a:xfrm>
          <a:prstGeom prst="rect">
            <a:avLst/>
          </a:prstGeom>
          <a:noFill/>
          <a:ln/>
        </p:spPr>
        <p:txBody>
          <a:bodyPr wrap="square" lIns="0" tIns="0" rIns="0" bIns="0" rtlCol="0" anchor="ctr"/>
          <a:lstStyle/>
          <a:p>
            <a:pPr indent="0" marL="0">
              <a:buNone/>
            </a:pPr>
            <a:r>
              <a:rPr lang="en-US" sz="1300" b="1" dirty="0">
                <a:solidFill>
                  <a:srgbClr val="1A8884"/>
                </a:solidFill>
                <a:latin typeface="Calibri" pitchFamily="34" charset="0"/>
                <a:ea typeface="Calibri" pitchFamily="34" charset="-122"/>
                <a:cs typeface="Calibri" pitchFamily="34" charset="-120"/>
              </a:rPr>
              <a:t>Indian families making high-cost, high-stakes healthcare decisions</a:t>
            </a:r>
            <a:endParaRPr lang="en-US" sz="1300" dirty="0"/>
          </a:p>
        </p:txBody>
      </p:sp>
      <p:sp>
        <p:nvSpPr>
          <p:cNvPr id="7" name="Shape 5"/>
          <p:cNvSpPr/>
          <p:nvPr/>
        </p:nvSpPr>
        <p:spPr>
          <a:xfrm>
            <a:off x="457200" y="1508760"/>
            <a:ext cx="1106424" cy="1280160"/>
          </a:xfrm>
          <a:prstGeom prst="ROUNDED_RECTANGLE">
            <a:avLst>
              <a:gd name="adj" fmla="val 7438"/>
            </a:avLst>
          </a:prstGeom>
          <a:solidFill>
            <a:srgbClr val="E6F5F4"/>
          </a:solidFill>
          <a:ln w="12700">
            <a:solidFill>
              <a:srgbClr val="D6EDEC"/>
            </a:solidFill>
            <a:prstDash val="solid"/>
          </a:ln>
        </p:spPr>
      </p:sp>
      <p:sp>
        <p:nvSpPr>
          <p:cNvPr id="8" name="Text 6"/>
          <p:cNvSpPr/>
          <p:nvPr/>
        </p:nvSpPr>
        <p:spPr>
          <a:xfrm>
            <a:off x="457200" y="1600200"/>
            <a:ext cx="1106424" cy="402336"/>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9" name="Text 7"/>
          <p:cNvSpPr/>
          <p:nvPr/>
        </p:nvSpPr>
        <p:spPr>
          <a:xfrm>
            <a:off x="493776" y="2039112"/>
            <a:ext cx="1033272" cy="402336"/>
          </a:xfrm>
          <a:prstGeom prst="rect">
            <a:avLst/>
          </a:prstGeom>
          <a:noFill/>
          <a:ln/>
        </p:spPr>
        <p:txBody>
          <a:bodyPr wrap="square" rtlCol="0" anchor="ctr"/>
          <a:lstStyle/>
          <a:p>
            <a:pPr algn="ctr" indent="0" marL="0">
              <a:lnSpc>
                <a:spcPct val="105000"/>
              </a:lnSpc>
              <a:buNone/>
            </a:pPr>
            <a:r>
              <a:rPr lang="en-US" sz="900" b="1" dirty="0">
                <a:solidFill>
                  <a:srgbClr val="0F172A"/>
                </a:solidFill>
                <a:latin typeface="Calibri" pitchFamily="34" charset="0"/>
                <a:ea typeface="Calibri" pitchFamily="34" charset="-122"/>
                <a:cs typeface="Calibri" pitchFamily="34" charset="-120"/>
              </a:rPr>
              <a:t>Metro</a:t>
            </a:r>
            <a:endParaRPr lang="en-US" sz="900" dirty="0"/>
          </a:p>
          <a:p>
            <a:pPr algn="ctr" indent="0" marL="0">
              <a:lnSpc>
                <a:spcPct val="105000"/>
              </a:lnSpc>
              <a:buNone/>
            </a:pPr>
            <a:r>
              <a:rPr lang="en-US" sz="900" b="1" dirty="0">
                <a:solidFill>
                  <a:srgbClr val="0F172A"/>
                </a:solidFill>
                <a:latin typeface="Calibri" pitchFamily="34" charset="0"/>
                <a:ea typeface="Calibri" pitchFamily="34" charset="-122"/>
                <a:cs typeface="Calibri" pitchFamily="34" charset="-120"/>
              </a:rPr>
              <a:t>Parents</a:t>
            </a:r>
            <a:endParaRPr lang="en-US" sz="900" dirty="0"/>
          </a:p>
        </p:txBody>
      </p:sp>
      <p:sp>
        <p:nvSpPr>
          <p:cNvPr id="10" name="Text 8"/>
          <p:cNvSpPr/>
          <p:nvPr/>
        </p:nvSpPr>
        <p:spPr>
          <a:xfrm>
            <a:off x="493776" y="2441448"/>
            <a:ext cx="1033272" cy="274320"/>
          </a:xfrm>
          <a:prstGeom prst="rect">
            <a:avLst/>
          </a:prstGeom>
          <a:noFill/>
          <a:ln/>
        </p:spPr>
        <p:txBody>
          <a:bodyPr wrap="square" rtlCol="0" anchor="ctr"/>
          <a:lstStyle/>
          <a:p>
            <a:pPr algn="ctr" indent="0" marL="0">
              <a:lnSpc>
                <a:spcPct val="105000"/>
              </a:lnSpc>
              <a:buNone/>
            </a:pPr>
            <a:r>
              <a:rPr lang="en-US" sz="750" dirty="0">
                <a:solidFill>
                  <a:srgbClr val="718096"/>
                </a:solidFill>
                <a:latin typeface="Calibri" pitchFamily="34" charset="0"/>
                <a:ea typeface="Calibri" pitchFamily="34" charset="-122"/>
                <a:cs typeface="Calibri" pitchFamily="34" charset="-120"/>
              </a:rPr>
              <a:t>Urban families researching planned treatments</a:t>
            </a:r>
            <a:endParaRPr lang="en-US" sz="750" dirty="0"/>
          </a:p>
        </p:txBody>
      </p:sp>
      <p:sp>
        <p:nvSpPr>
          <p:cNvPr id="11" name="Shape 9"/>
          <p:cNvSpPr/>
          <p:nvPr/>
        </p:nvSpPr>
        <p:spPr>
          <a:xfrm>
            <a:off x="1623060" y="1508760"/>
            <a:ext cx="1106424" cy="1280160"/>
          </a:xfrm>
          <a:prstGeom prst="ROUNDED_RECTANGLE">
            <a:avLst>
              <a:gd name="adj" fmla="val 7438"/>
            </a:avLst>
          </a:prstGeom>
          <a:solidFill>
            <a:srgbClr val="E6F5F4"/>
          </a:solidFill>
          <a:ln w="12700">
            <a:solidFill>
              <a:srgbClr val="D6EDEC"/>
            </a:solidFill>
            <a:prstDash val="solid"/>
          </a:ln>
        </p:spPr>
      </p:sp>
      <p:sp>
        <p:nvSpPr>
          <p:cNvPr id="12" name="Text 10"/>
          <p:cNvSpPr/>
          <p:nvPr/>
        </p:nvSpPr>
        <p:spPr>
          <a:xfrm>
            <a:off x="1623060" y="1600200"/>
            <a:ext cx="1106424" cy="402336"/>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3" name="Text 11"/>
          <p:cNvSpPr/>
          <p:nvPr/>
        </p:nvSpPr>
        <p:spPr>
          <a:xfrm>
            <a:off x="1659636" y="2039112"/>
            <a:ext cx="1033272" cy="402336"/>
          </a:xfrm>
          <a:prstGeom prst="rect">
            <a:avLst/>
          </a:prstGeom>
          <a:noFill/>
          <a:ln/>
        </p:spPr>
        <p:txBody>
          <a:bodyPr wrap="square" rtlCol="0" anchor="ctr"/>
          <a:lstStyle/>
          <a:p>
            <a:pPr algn="ctr" indent="0" marL="0">
              <a:lnSpc>
                <a:spcPct val="105000"/>
              </a:lnSpc>
              <a:buNone/>
            </a:pPr>
            <a:r>
              <a:rPr lang="en-US" sz="900" b="1" dirty="0">
                <a:solidFill>
                  <a:srgbClr val="0F172A"/>
                </a:solidFill>
                <a:latin typeface="Calibri" pitchFamily="34" charset="0"/>
                <a:ea typeface="Calibri" pitchFamily="34" charset="-122"/>
                <a:cs typeface="Calibri" pitchFamily="34" charset="-120"/>
              </a:rPr>
              <a:t>Tier-2</a:t>
            </a:r>
            <a:endParaRPr lang="en-US" sz="900" dirty="0"/>
          </a:p>
          <a:p>
            <a:pPr algn="ctr" indent="0" marL="0">
              <a:lnSpc>
                <a:spcPct val="105000"/>
              </a:lnSpc>
              <a:buNone/>
            </a:pPr>
            <a:r>
              <a:rPr lang="en-US" sz="900" b="1" dirty="0">
                <a:solidFill>
                  <a:srgbClr val="0F172A"/>
                </a:solidFill>
                <a:latin typeface="Calibri" pitchFamily="34" charset="0"/>
                <a:ea typeface="Calibri" pitchFamily="34" charset="-122"/>
                <a:cs typeface="Calibri" pitchFamily="34" charset="-120"/>
              </a:rPr>
              <a:t>Breadwinners</a:t>
            </a:r>
            <a:endParaRPr lang="en-US" sz="900" dirty="0"/>
          </a:p>
        </p:txBody>
      </p:sp>
      <p:sp>
        <p:nvSpPr>
          <p:cNvPr id="14" name="Text 12"/>
          <p:cNvSpPr/>
          <p:nvPr/>
        </p:nvSpPr>
        <p:spPr>
          <a:xfrm>
            <a:off x="1659636" y="2441448"/>
            <a:ext cx="1033272" cy="274320"/>
          </a:xfrm>
          <a:prstGeom prst="rect">
            <a:avLst/>
          </a:prstGeom>
          <a:noFill/>
          <a:ln/>
        </p:spPr>
        <p:txBody>
          <a:bodyPr wrap="square" rtlCol="0" anchor="ctr"/>
          <a:lstStyle/>
          <a:p>
            <a:pPr algn="ctr" indent="0" marL="0">
              <a:lnSpc>
                <a:spcPct val="105000"/>
              </a:lnSpc>
              <a:buNone/>
            </a:pPr>
            <a:r>
              <a:rPr lang="en-US" sz="750" dirty="0">
                <a:solidFill>
                  <a:srgbClr val="718096"/>
                </a:solidFill>
                <a:latin typeface="Calibri" pitchFamily="34" charset="0"/>
                <a:ea typeface="Calibri" pitchFamily="34" charset="-122"/>
                <a:cs typeface="Calibri" pitchFamily="34" charset="-120"/>
              </a:rPr>
              <a:t>Main earners navigating regional hospitals</a:t>
            </a:r>
            <a:endParaRPr lang="en-US" sz="750" dirty="0"/>
          </a:p>
        </p:txBody>
      </p:sp>
      <p:sp>
        <p:nvSpPr>
          <p:cNvPr id="15" name="Shape 13"/>
          <p:cNvSpPr/>
          <p:nvPr/>
        </p:nvSpPr>
        <p:spPr>
          <a:xfrm>
            <a:off x="2788920" y="1508760"/>
            <a:ext cx="1106424" cy="1280160"/>
          </a:xfrm>
          <a:prstGeom prst="ROUNDED_RECTANGLE">
            <a:avLst>
              <a:gd name="adj" fmla="val 7438"/>
            </a:avLst>
          </a:prstGeom>
          <a:solidFill>
            <a:srgbClr val="E6F5F4"/>
          </a:solidFill>
          <a:ln w="12700">
            <a:solidFill>
              <a:srgbClr val="D6EDEC"/>
            </a:solidFill>
            <a:prstDash val="solid"/>
          </a:ln>
        </p:spPr>
      </p:sp>
      <p:sp>
        <p:nvSpPr>
          <p:cNvPr id="16" name="Text 14"/>
          <p:cNvSpPr/>
          <p:nvPr/>
        </p:nvSpPr>
        <p:spPr>
          <a:xfrm>
            <a:off x="2788920" y="1600200"/>
            <a:ext cx="1106424" cy="402336"/>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7" name="Text 15"/>
          <p:cNvSpPr/>
          <p:nvPr/>
        </p:nvSpPr>
        <p:spPr>
          <a:xfrm>
            <a:off x="2825496" y="2039112"/>
            <a:ext cx="1033272" cy="402336"/>
          </a:xfrm>
          <a:prstGeom prst="rect">
            <a:avLst/>
          </a:prstGeom>
          <a:noFill/>
          <a:ln/>
        </p:spPr>
        <p:txBody>
          <a:bodyPr wrap="square" rtlCol="0" anchor="ctr"/>
          <a:lstStyle/>
          <a:p>
            <a:pPr algn="ctr" indent="0" marL="0">
              <a:lnSpc>
                <a:spcPct val="105000"/>
              </a:lnSpc>
              <a:buNone/>
            </a:pPr>
            <a:r>
              <a:rPr lang="en-US" sz="900" b="1" dirty="0">
                <a:solidFill>
                  <a:srgbClr val="0F172A"/>
                </a:solidFill>
                <a:latin typeface="Calibri" pitchFamily="34" charset="0"/>
                <a:ea typeface="Calibri" pitchFamily="34" charset="-122"/>
                <a:cs typeface="Calibri" pitchFamily="34" charset="-120"/>
              </a:rPr>
              <a:t>NRI</a:t>
            </a:r>
            <a:endParaRPr lang="en-US" sz="900" dirty="0"/>
          </a:p>
          <a:p>
            <a:pPr algn="ctr" indent="0" marL="0">
              <a:lnSpc>
                <a:spcPct val="105000"/>
              </a:lnSpc>
              <a:buNone/>
            </a:pPr>
            <a:r>
              <a:rPr lang="en-US" sz="900" b="1" dirty="0">
                <a:solidFill>
                  <a:srgbClr val="0F172A"/>
                </a:solidFill>
                <a:latin typeface="Calibri" pitchFamily="34" charset="0"/>
                <a:ea typeface="Calibri" pitchFamily="34" charset="-122"/>
                <a:cs typeface="Calibri" pitchFamily="34" charset="-120"/>
              </a:rPr>
              <a:t>Caregivers</a:t>
            </a:r>
            <a:endParaRPr lang="en-US" sz="900" dirty="0"/>
          </a:p>
        </p:txBody>
      </p:sp>
      <p:sp>
        <p:nvSpPr>
          <p:cNvPr id="18" name="Text 16"/>
          <p:cNvSpPr/>
          <p:nvPr/>
        </p:nvSpPr>
        <p:spPr>
          <a:xfrm>
            <a:off x="2825496" y="2441448"/>
            <a:ext cx="1033272" cy="274320"/>
          </a:xfrm>
          <a:prstGeom prst="rect">
            <a:avLst/>
          </a:prstGeom>
          <a:noFill/>
          <a:ln/>
        </p:spPr>
        <p:txBody>
          <a:bodyPr wrap="square" rtlCol="0" anchor="ctr"/>
          <a:lstStyle/>
          <a:p>
            <a:pPr algn="ctr" indent="0" marL="0">
              <a:lnSpc>
                <a:spcPct val="105000"/>
              </a:lnSpc>
              <a:buNone/>
            </a:pPr>
            <a:r>
              <a:rPr lang="en-US" sz="750" dirty="0">
                <a:solidFill>
                  <a:srgbClr val="718096"/>
                </a:solidFill>
                <a:latin typeface="Calibri" pitchFamily="34" charset="0"/>
                <a:ea typeface="Calibri" pitchFamily="34" charset="-122"/>
                <a:cs typeface="Calibri" pitchFamily="34" charset="-120"/>
              </a:rPr>
              <a:t>Managing parents' care from abroad</a:t>
            </a:r>
            <a:endParaRPr lang="en-US" sz="750" dirty="0"/>
          </a:p>
        </p:txBody>
      </p:sp>
      <p:sp>
        <p:nvSpPr>
          <p:cNvPr id="19" name="Shape 17"/>
          <p:cNvSpPr/>
          <p:nvPr/>
        </p:nvSpPr>
        <p:spPr>
          <a:xfrm>
            <a:off x="3954780" y="1508760"/>
            <a:ext cx="1106424" cy="1280160"/>
          </a:xfrm>
          <a:prstGeom prst="ROUNDED_RECTANGLE">
            <a:avLst>
              <a:gd name="adj" fmla="val 7438"/>
            </a:avLst>
          </a:prstGeom>
          <a:solidFill>
            <a:srgbClr val="E6F5F4"/>
          </a:solidFill>
          <a:ln w="12700">
            <a:solidFill>
              <a:srgbClr val="D6EDEC"/>
            </a:solidFill>
            <a:prstDash val="solid"/>
          </a:ln>
        </p:spPr>
      </p:sp>
      <p:sp>
        <p:nvSpPr>
          <p:cNvPr id="20" name="Text 18"/>
          <p:cNvSpPr/>
          <p:nvPr/>
        </p:nvSpPr>
        <p:spPr>
          <a:xfrm>
            <a:off x="3954780" y="1600200"/>
            <a:ext cx="1106424" cy="402336"/>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1" name="Text 19"/>
          <p:cNvSpPr/>
          <p:nvPr/>
        </p:nvSpPr>
        <p:spPr>
          <a:xfrm>
            <a:off x="3991356" y="2039112"/>
            <a:ext cx="1033272" cy="402336"/>
          </a:xfrm>
          <a:prstGeom prst="rect">
            <a:avLst/>
          </a:prstGeom>
          <a:noFill/>
          <a:ln/>
        </p:spPr>
        <p:txBody>
          <a:bodyPr wrap="square" rtlCol="0" anchor="ctr"/>
          <a:lstStyle/>
          <a:p>
            <a:pPr algn="ctr" indent="0" marL="0">
              <a:lnSpc>
                <a:spcPct val="105000"/>
              </a:lnSpc>
              <a:buNone/>
            </a:pPr>
            <a:r>
              <a:rPr lang="en-US" sz="900" b="1" dirty="0">
                <a:solidFill>
                  <a:srgbClr val="0F172A"/>
                </a:solidFill>
                <a:latin typeface="Calibri" pitchFamily="34" charset="0"/>
                <a:ea typeface="Calibri" pitchFamily="34" charset="-122"/>
                <a:cs typeface="Calibri" pitchFamily="34" charset="-120"/>
              </a:rPr>
              <a:t>Doctors &amp;</a:t>
            </a:r>
            <a:endParaRPr lang="en-US" sz="900" dirty="0"/>
          </a:p>
          <a:p>
            <a:pPr algn="ctr" indent="0" marL="0">
              <a:lnSpc>
                <a:spcPct val="105000"/>
              </a:lnSpc>
              <a:buNone/>
            </a:pPr>
            <a:r>
              <a:rPr lang="en-US" sz="900" b="1" dirty="0">
                <a:solidFill>
                  <a:srgbClr val="0F172A"/>
                </a:solidFill>
                <a:latin typeface="Calibri" pitchFamily="34" charset="0"/>
                <a:ea typeface="Calibri" pitchFamily="34" charset="-122"/>
                <a:cs typeface="Calibri" pitchFamily="34" charset="-120"/>
              </a:rPr>
              <a:t>Referrers</a:t>
            </a:r>
            <a:endParaRPr lang="en-US" sz="900" dirty="0"/>
          </a:p>
        </p:txBody>
      </p:sp>
      <p:sp>
        <p:nvSpPr>
          <p:cNvPr id="22" name="Text 20"/>
          <p:cNvSpPr/>
          <p:nvPr/>
        </p:nvSpPr>
        <p:spPr>
          <a:xfrm>
            <a:off x="3991356" y="2441448"/>
            <a:ext cx="1033272" cy="274320"/>
          </a:xfrm>
          <a:prstGeom prst="rect">
            <a:avLst/>
          </a:prstGeom>
          <a:noFill/>
          <a:ln/>
        </p:spPr>
        <p:txBody>
          <a:bodyPr wrap="square" rtlCol="0" anchor="ctr"/>
          <a:lstStyle/>
          <a:p>
            <a:pPr algn="ctr" indent="0" marL="0">
              <a:lnSpc>
                <a:spcPct val="105000"/>
              </a:lnSpc>
              <a:buNone/>
            </a:pPr>
            <a:r>
              <a:rPr lang="en-US" sz="750" dirty="0">
                <a:solidFill>
                  <a:srgbClr val="718096"/>
                </a:solidFill>
                <a:latin typeface="Calibri" pitchFamily="34" charset="0"/>
                <a:ea typeface="Calibri" pitchFamily="34" charset="-122"/>
                <a:cs typeface="Calibri" pitchFamily="34" charset="-120"/>
              </a:rPr>
              <a:t>Directing patients to right hospitals</a:t>
            </a:r>
            <a:endParaRPr lang="en-US" sz="750" dirty="0"/>
          </a:p>
        </p:txBody>
      </p:sp>
      <p:sp>
        <p:nvSpPr>
          <p:cNvPr id="23" name="Shape 21"/>
          <p:cNvSpPr/>
          <p:nvPr/>
        </p:nvSpPr>
        <p:spPr>
          <a:xfrm>
            <a:off x="5120640" y="1508760"/>
            <a:ext cx="1106424" cy="1280160"/>
          </a:xfrm>
          <a:prstGeom prst="ROUNDED_RECTANGLE">
            <a:avLst>
              <a:gd name="adj" fmla="val 7438"/>
            </a:avLst>
          </a:prstGeom>
          <a:solidFill>
            <a:srgbClr val="E6F5F4"/>
          </a:solidFill>
          <a:ln w="12700">
            <a:solidFill>
              <a:srgbClr val="D6EDEC"/>
            </a:solidFill>
            <a:prstDash val="solid"/>
          </a:ln>
        </p:spPr>
      </p:sp>
      <p:sp>
        <p:nvSpPr>
          <p:cNvPr id="24" name="Text 22"/>
          <p:cNvSpPr/>
          <p:nvPr/>
        </p:nvSpPr>
        <p:spPr>
          <a:xfrm>
            <a:off x="5120640" y="1600200"/>
            <a:ext cx="1106424" cy="402336"/>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5" name="Text 23"/>
          <p:cNvSpPr/>
          <p:nvPr/>
        </p:nvSpPr>
        <p:spPr>
          <a:xfrm>
            <a:off x="5157216" y="2039112"/>
            <a:ext cx="1033272" cy="402336"/>
          </a:xfrm>
          <a:prstGeom prst="rect">
            <a:avLst/>
          </a:prstGeom>
          <a:noFill/>
          <a:ln/>
        </p:spPr>
        <p:txBody>
          <a:bodyPr wrap="square" rtlCol="0" anchor="ctr"/>
          <a:lstStyle/>
          <a:p>
            <a:pPr algn="ctr" indent="0" marL="0">
              <a:lnSpc>
                <a:spcPct val="105000"/>
              </a:lnSpc>
              <a:buNone/>
            </a:pPr>
            <a:r>
              <a:rPr lang="en-US" sz="900" b="1" dirty="0">
                <a:solidFill>
                  <a:srgbClr val="0F172A"/>
                </a:solidFill>
                <a:latin typeface="Calibri" pitchFamily="34" charset="0"/>
                <a:ea typeface="Calibri" pitchFamily="34" charset="-122"/>
                <a:cs typeface="Calibri" pitchFamily="34" charset="-120"/>
              </a:rPr>
              <a:t>Insurance</a:t>
            </a:r>
            <a:endParaRPr lang="en-US" sz="900" dirty="0"/>
          </a:p>
          <a:p>
            <a:pPr algn="ctr" indent="0" marL="0">
              <a:lnSpc>
                <a:spcPct val="105000"/>
              </a:lnSpc>
              <a:buNone/>
            </a:pPr>
            <a:r>
              <a:rPr lang="en-US" sz="900" b="1" dirty="0">
                <a:solidFill>
                  <a:srgbClr val="0F172A"/>
                </a:solidFill>
                <a:latin typeface="Calibri" pitchFamily="34" charset="0"/>
                <a:ea typeface="Calibri" pitchFamily="34" charset="-122"/>
                <a:cs typeface="Calibri" pitchFamily="34" charset="-120"/>
              </a:rPr>
              <a:t>Analysts</a:t>
            </a:r>
            <a:endParaRPr lang="en-US" sz="900" dirty="0"/>
          </a:p>
        </p:txBody>
      </p:sp>
      <p:sp>
        <p:nvSpPr>
          <p:cNvPr id="26" name="Text 24"/>
          <p:cNvSpPr/>
          <p:nvPr/>
        </p:nvSpPr>
        <p:spPr>
          <a:xfrm>
            <a:off x="5157216" y="2441448"/>
            <a:ext cx="1033272" cy="274320"/>
          </a:xfrm>
          <a:prstGeom prst="rect">
            <a:avLst/>
          </a:prstGeom>
          <a:noFill/>
          <a:ln/>
        </p:spPr>
        <p:txBody>
          <a:bodyPr wrap="square" rtlCol="0" anchor="ctr"/>
          <a:lstStyle/>
          <a:p>
            <a:pPr algn="ctr" indent="0" marL="0">
              <a:lnSpc>
                <a:spcPct val="105000"/>
              </a:lnSpc>
              <a:buNone/>
            </a:pPr>
            <a:r>
              <a:rPr lang="en-US" sz="750" dirty="0">
                <a:solidFill>
                  <a:srgbClr val="718096"/>
                </a:solidFill>
                <a:latin typeface="Calibri" pitchFamily="34" charset="0"/>
                <a:ea typeface="Calibri" pitchFamily="34" charset="-122"/>
                <a:cs typeface="Calibri" pitchFamily="34" charset="-120"/>
              </a:rPr>
              <a:t>TPA reviewers evaluating submitted bills</a:t>
            </a:r>
            <a:endParaRPr lang="en-US" sz="750" dirty="0"/>
          </a:p>
        </p:txBody>
      </p:sp>
      <p:sp>
        <p:nvSpPr>
          <p:cNvPr id="27" name="Shape 25"/>
          <p:cNvSpPr/>
          <p:nvPr/>
        </p:nvSpPr>
        <p:spPr>
          <a:xfrm>
            <a:off x="6286500" y="1508760"/>
            <a:ext cx="1106424" cy="1280160"/>
          </a:xfrm>
          <a:prstGeom prst="ROUNDED_RECTANGLE">
            <a:avLst>
              <a:gd name="adj" fmla="val 7438"/>
            </a:avLst>
          </a:prstGeom>
          <a:solidFill>
            <a:srgbClr val="E6F5F4"/>
          </a:solidFill>
          <a:ln w="12700">
            <a:solidFill>
              <a:srgbClr val="D6EDEC"/>
            </a:solidFill>
            <a:prstDash val="solid"/>
          </a:ln>
        </p:spPr>
      </p:sp>
      <p:sp>
        <p:nvSpPr>
          <p:cNvPr id="28" name="Text 26"/>
          <p:cNvSpPr/>
          <p:nvPr/>
        </p:nvSpPr>
        <p:spPr>
          <a:xfrm>
            <a:off x="6286500" y="1600200"/>
            <a:ext cx="1106424" cy="402336"/>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9" name="Text 27"/>
          <p:cNvSpPr/>
          <p:nvPr/>
        </p:nvSpPr>
        <p:spPr>
          <a:xfrm>
            <a:off x="6323076" y="2039112"/>
            <a:ext cx="1033272" cy="402336"/>
          </a:xfrm>
          <a:prstGeom prst="rect">
            <a:avLst/>
          </a:prstGeom>
          <a:noFill/>
          <a:ln/>
        </p:spPr>
        <p:txBody>
          <a:bodyPr wrap="square" rtlCol="0" anchor="ctr"/>
          <a:lstStyle/>
          <a:p>
            <a:pPr algn="ctr" indent="0" marL="0">
              <a:lnSpc>
                <a:spcPct val="105000"/>
              </a:lnSpc>
              <a:buNone/>
            </a:pPr>
            <a:r>
              <a:rPr lang="en-US" sz="900" b="1" dirty="0">
                <a:solidFill>
                  <a:srgbClr val="0F172A"/>
                </a:solidFill>
                <a:latin typeface="Calibri" pitchFamily="34" charset="0"/>
                <a:ea typeface="Calibri" pitchFamily="34" charset="-122"/>
                <a:cs typeface="Calibri" pitchFamily="34" charset="-120"/>
              </a:rPr>
              <a:t>WhatsApp-First</a:t>
            </a:r>
            <a:endParaRPr lang="en-US" sz="900" dirty="0"/>
          </a:p>
          <a:p>
            <a:pPr algn="ctr" indent="0" marL="0">
              <a:lnSpc>
                <a:spcPct val="105000"/>
              </a:lnSpc>
              <a:buNone/>
            </a:pPr>
            <a:r>
              <a:rPr lang="en-US" sz="900" b="1" dirty="0">
                <a:solidFill>
                  <a:srgbClr val="0F172A"/>
                </a:solidFill>
                <a:latin typeface="Calibri" pitchFamily="34" charset="0"/>
                <a:ea typeface="Calibri" pitchFamily="34" charset="-122"/>
                <a:cs typeface="Calibri" pitchFamily="34" charset="-120"/>
              </a:rPr>
              <a:t>Users</a:t>
            </a:r>
            <a:endParaRPr lang="en-US" sz="900" dirty="0"/>
          </a:p>
        </p:txBody>
      </p:sp>
      <p:sp>
        <p:nvSpPr>
          <p:cNvPr id="30" name="Text 28"/>
          <p:cNvSpPr/>
          <p:nvPr/>
        </p:nvSpPr>
        <p:spPr>
          <a:xfrm>
            <a:off x="6323076" y="2441448"/>
            <a:ext cx="1033272" cy="274320"/>
          </a:xfrm>
          <a:prstGeom prst="rect">
            <a:avLst/>
          </a:prstGeom>
          <a:noFill/>
          <a:ln/>
        </p:spPr>
        <p:txBody>
          <a:bodyPr wrap="square" rtlCol="0" anchor="ctr"/>
          <a:lstStyle/>
          <a:p>
            <a:pPr algn="ctr" indent="0" marL="0">
              <a:lnSpc>
                <a:spcPct val="105000"/>
              </a:lnSpc>
              <a:buNone/>
            </a:pPr>
            <a:r>
              <a:rPr lang="en-US" sz="750" dirty="0">
                <a:solidFill>
                  <a:srgbClr val="718096"/>
                </a:solidFill>
                <a:latin typeface="Calibri" pitchFamily="34" charset="0"/>
                <a:ea typeface="Calibri" pitchFamily="34" charset="-122"/>
                <a:cs typeface="Calibri" pitchFamily="34" charset="-120"/>
              </a:rPr>
              <a:t>Low-tech users needing simple access</a:t>
            </a:r>
            <a:endParaRPr lang="en-US" sz="750" dirty="0"/>
          </a:p>
        </p:txBody>
      </p:sp>
      <p:sp>
        <p:nvSpPr>
          <p:cNvPr id="31" name="Shape 29"/>
          <p:cNvSpPr/>
          <p:nvPr/>
        </p:nvSpPr>
        <p:spPr>
          <a:xfrm>
            <a:off x="7452360" y="1508760"/>
            <a:ext cx="1106424" cy="1280160"/>
          </a:xfrm>
          <a:prstGeom prst="ROUNDED_RECTANGLE">
            <a:avLst>
              <a:gd name="adj" fmla="val 7438"/>
            </a:avLst>
          </a:prstGeom>
          <a:solidFill>
            <a:srgbClr val="E6F5F4"/>
          </a:solidFill>
          <a:ln w="12700">
            <a:solidFill>
              <a:srgbClr val="D6EDEC"/>
            </a:solidFill>
            <a:prstDash val="solid"/>
          </a:ln>
        </p:spPr>
      </p:sp>
      <p:sp>
        <p:nvSpPr>
          <p:cNvPr id="32" name="Text 30"/>
          <p:cNvSpPr/>
          <p:nvPr/>
        </p:nvSpPr>
        <p:spPr>
          <a:xfrm>
            <a:off x="7452360" y="1600200"/>
            <a:ext cx="1106424" cy="402336"/>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33" name="Text 31"/>
          <p:cNvSpPr/>
          <p:nvPr/>
        </p:nvSpPr>
        <p:spPr>
          <a:xfrm>
            <a:off x="7488936" y="2039112"/>
            <a:ext cx="1033272" cy="402336"/>
          </a:xfrm>
          <a:prstGeom prst="rect">
            <a:avLst/>
          </a:prstGeom>
          <a:noFill/>
          <a:ln/>
        </p:spPr>
        <p:txBody>
          <a:bodyPr wrap="square" rtlCol="0" anchor="ctr"/>
          <a:lstStyle/>
          <a:p>
            <a:pPr algn="ctr" indent="0" marL="0">
              <a:lnSpc>
                <a:spcPct val="105000"/>
              </a:lnSpc>
              <a:buNone/>
            </a:pPr>
            <a:r>
              <a:rPr lang="en-US" sz="900" b="1" dirty="0">
                <a:solidFill>
                  <a:srgbClr val="0F172A"/>
                </a:solidFill>
                <a:latin typeface="Calibri" pitchFamily="34" charset="0"/>
                <a:ea typeface="Calibri" pitchFamily="34" charset="-122"/>
                <a:cs typeface="Calibri" pitchFamily="34" charset="-120"/>
              </a:rPr>
              <a:t>Journalists &amp;</a:t>
            </a:r>
            <a:endParaRPr lang="en-US" sz="900" dirty="0"/>
          </a:p>
          <a:p>
            <a:pPr algn="ctr" indent="0" marL="0">
              <a:lnSpc>
                <a:spcPct val="105000"/>
              </a:lnSpc>
              <a:buNone/>
            </a:pPr>
            <a:r>
              <a:rPr lang="en-US" sz="900" b="1" dirty="0">
                <a:solidFill>
                  <a:srgbClr val="0F172A"/>
                </a:solidFill>
                <a:latin typeface="Calibri" pitchFamily="34" charset="0"/>
                <a:ea typeface="Calibri" pitchFamily="34" charset="-122"/>
                <a:cs typeface="Calibri" pitchFamily="34" charset="-120"/>
              </a:rPr>
              <a:t>Regulators</a:t>
            </a:r>
            <a:endParaRPr lang="en-US" sz="900" dirty="0"/>
          </a:p>
        </p:txBody>
      </p:sp>
      <p:sp>
        <p:nvSpPr>
          <p:cNvPr id="34" name="Text 32"/>
          <p:cNvSpPr/>
          <p:nvPr/>
        </p:nvSpPr>
        <p:spPr>
          <a:xfrm>
            <a:off x="7488936" y="2441448"/>
            <a:ext cx="1033272" cy="274320"/>
          </a:xfrm>
          <a:prstGeom prst="rect">
            <a:avLst/>
          </a:prstGeom>
          <a:noFill/>
          <a:ln/>
        </p:spPr>
        <p:txBody>
          <a:bodyPr wrap="square" rtlCol="0" anchor="ctr"/>
          <a:lstStyle/>
          <a:p>
            <a:pPr algn="ctr" indent="0" marL="0">
              <a:lnSpc>
                <a:spcPct val="105000"/>
              </a:lnSpc>
              <a:buNone/>
            </a:pPr>
            <a:r>
              <a:rPr lang="en-US" sz="750" dirty="0">
                <a:solidFill>
                  <a:srgbClr val="718096"/>
                </a:solidFill>
                <a:latin typeface="Calibri" pitchFamily="34" charset="0"/>
                <a:ea typeface="Calibri" pitchFamily="34" charset="-122"/>
                <a:cs typeface="Calibri" pitchFamily="34" charset="-120"/>
              </a:rPr>
              <a:t>Researching hospital pricing patterns</a:t>
            </a:r>
            <a:endParaRPr lang="en-US" sz="750" dirty="0"/>
          </a:p>
        </p:txBody>
      </p:sp>
      <p:sp>
        <p:nvSpPr>
          <p:cNvPr id="35" name="Text 33"/>
          <p:cNvSpPr/>
          <p:nvPr/>
        </p:nvSpPr>
        <p:spPr>
          <a:xfrm>
            <a:off x="457200" y="4709160"/>
            <a:ext cx="8229600" cy="256032"/>
          </a:xfrm>
          <a:prstGeom prst="rect">
            <a:avLst/>
          </a:prstGeom>
          <a:noFill/>
          <a:ln/>
        </p:spPr>
        <p:txBody>
          <a:bodyPr wrap="square" rtlCol="0" anchor="ctr"/>
          <a:lstStyle/>
          <a:p>
            <a:pPr algn="ctr" indent="0" marL="0">
              <a:buNone/>
            </a:pPr>
            <a:r>
              <a:rPr lang="en-US" sz="850" i="1" dirty="0">
                <a:solidFill>
                  <a:srgbClr val="718096"/>
                </a:solidFill>
                <a:latin typeface="Calibri" pitchFamily="34" charset="0"/>
                <a:ea typeface="Calibri" pitchFamily="34" charset="-122"/>
                <a:cs typeface="Calibri" pitchFamily="34" charset="-120"/>
              </a:rPr>
              <a:t>GavixaCare is a decision-support tool. It does not provide medical diagnoses or prescriptions.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A"/>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Phase 1 MVP — 5 Core Features Delivered</a:t>
            </a:r>
            <a:endParaRPr lang="en-US" sz="2600" dirty="0"/>
          </a:p>
        </p:txBody>
      </p:sp>
      <p:sp>
        <p:nvSpPr>
          <p:cNvPr id="3" name="Shape 1"/>
          <p:cNvSpPr/>
          <p:nvPr/>
        </p:nvSpPr>
        <p:spPr>
          <a:xfrm>
            <a:off x="457200" y="749808"/>
            <a:ext cx="384048" cy="50292"/>
          </a:xfrm>
          <a:prstGeom prst="ROUNDED_RECTANGLE">
            <a:avLst>
              <a:gd name="adj" fmla="val 54545"/>
            </a:avLst>
          </a:prstGeom>
          <a:solidFill>
            <a:srgbClr val="12B5A8"/>
          </a:solidFill>
          <a:ln w="12700">
            <a:solidFill>
              <a:srgbClr val="12B5A8"/>
            </a:solidFill>
            <a:prstDash val="solid"/>
          </a:ln>
        </p:spPr>
      </p:sp>
      <p:sp>
        <p:nvSpPr>
          <p:cNvPr id="4" name="Shape 2"/>
          <p:cNvSpPr/>
          <p:nvPr/>
        </p:nvSpPr>
        <p:spPr>
          <a:xfrm>
            <a:off x="338328" y="941832"/>
            <a:ext cx="1591056" cy="1847088"/>
          </a:xfrm>
          <a:prstGeom prst="ROUNDED_RECTANGLE">
            <a:avLst>
              <a:gd name="adj" fmla="val 5172"/>
            </a:avLst>
          </a:prstGeom>
          <a:solidFill>
            <a:srgbClr val="FFFFFF"/>
          </a:solidFill>
          <a:ln w="12700">
            <a:solidFill>
              <a:srgbClr val="D6EDEC"/>
            </a:solidFill>
            <a:prstDash val="solid"/>
          </a:ln>
        </p:spPr>
      </p:sp>
      <p:sp>
        <p:nvSpPr>
          <p:cNvPr id="5" name="Shape 3"/>
          <p:cNvSpPr/>
          <p:nvPr/>
        </p:nvSpPr>
        <p:spPr>
          <a:xfrm>
            <a:off x="338328" y="941832"/>
            <a:ext cx="1591056" cy="438912"/>
          </a:xfrm>
          <a:prstGeom prst="ROUNDED_RECTANGLE">
            <a:avLst>
              <a:gd name="adj" fmla="val 18750"/>
            </a:avLst>
          </a:prstGeom>
          <a:solidFill>
            <a:srgbClr val="1A4B8C"/>
          </a:solidFill>
          <a:ln w="12700">
            <a:solidFill>
              <a:srgbClr val="1A4B8C"/>
            </a:solidFill>
            <a:prstDash val="solid"/>
          </a:ln>
        </p:spPr>
      </p:sp>
      <p:sp>
        <p:nvSpPr>
          <p:cNvPr id="6" name="Shape 4"/>
          <p:cNvSpPr/>
          <p:nvPr/>
        </p:nvSpPr>
        <p:spPr>
          <a:xfrm>
            <a:off x="338328" y="1183234"/>
            <a:ext cx="1591056" cy="219456"/>
          </a:xfrm>
          <a:prstGeom prst="RECTANGLE">
            <a:avLst/>
          </a:prstGeom>
          <a:solidFill>
            <a:srgbClr val="1A4B8C"/>
          </a:solidFill>
          <a:ln w="12700">
            <a:solidFill>
              <a:srgbClr val="1A4B8C"/>
            </a:solidFill>
            <a:prstDash val="solid"/>
          </a:ln>
        </p:spPr>
      </p:sp>
      <p:sp>
        <p:nvSpPr>
          <p:cNvPr id="7" name="Text 5"/>
          <p:cNvSpPr/>
          <p:nvPr/>
        </p:nvSpPr>
        <p:spPr>
          <a:xfrm>
            <a:off x="338328" y="978408"/>
            <a:ext cx="1591056" cy="36576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8" name="Text 6"/>
          <p:cNvSpPr/>
          <p:nvPr/>
        </p:nvSpPr>
        <p:spPr>
          <a:xfrm>
            <a:off x="393192" y="1435608"/>
            <a:ext cx="1481328" cy="329184"/>
          </a:xfrm>
          <a:prstGeom prst="rect">
            <a:avLst/>
          </a:prstGeom>
          <a:noFill/>
          <a:ln/>
        </p:spPr>
        <p:txBody>
          <a:bodyPr wrap="square" rtlCol="0" anchor="ctr"/>
          <a:lstStyle/>
          <a:p>
            <a:pPr algn="ctr" indent="0" marL="0">
              <a:lnSpc>
                <a:spcPct val="100000"/>
              </a:lnSpc>
              <a:buNone/>
            </a:pPr>
            <a:r>
              <a:rPr lang="en-US" sz="950" b="1" dirty="0">
                <a:solidFill>
                  <a:srgbClr val="0F172A"/>
                </a:solidFill>
                <a:latin typeface="Calibri" pitchFamily="34" charset="0"/>
                <a:ea typeface="Calibri" pitchFamily="34" charset="-122"/>
                <a:cs typeface="Calibri" pitchFamily="34" charset="-120"/>
              </a:rPr>
              <a:t>Hospital Directory</a:t>
            </a:r>
            <a:endParaRPr lang="en-US" sz="950" dirty="0"/>
          </a:p>
        </p:txBody>
      </p:sp>
      <p:sp>
        <p:nvSpPr>
          <p:cNvPr id="9" name="Text 7"/>
          <p:cNvSpPr/>
          <p:nvPr/>
        </p:nvSpPr>
        <p:spPr>
          <a:xfrm>
            <a:off x="429768" y="1819656"/>
            <a:ext cx="1408176" cy="210312"/>
          </a:xfrm>
          <a:prstGeom prst="rect">
            <a:avLst/>
          </a:prstGeom>
          <a:noFill/>
          <a:ln/>
        </p:spPr>
        <p:txBody>
          <a:bodyPr wrap="square" rtlCol="0" anchor="ctr"/>
          <a:lstStyle/>
          <a:p>
            <a:pPr indent="0" marL="0">
              <a:lnSpc>
                <a:spcPct val="100000"/>
              </a:lnSpc>
              <a:buNone/>
            </a:pPr>
            <a:r>
              <a:rPr lang="en-US" sz="850" dirty="0">
                <a:solidFill>
                  <a:srgbClr val="475569"/>
                </a:solidFill>
                <a:latin typeface="Calibri" pitchFamily="34" charset="0"/>
                <a:ea typeface="Calibri" pitchFamily="34" charset="-122"/>
                <a:cs typeface="Calibri" pitchFamily="34" charset="-120"/>
              </a:rPr>
              <a:t>•  32 hospitals, 11 Indian cities</a:t>
            </a:r>
            <a:endParaRPr lang="en-US" sz="850" dirty="0"/>
          </a:p>
        </p:txBody>
      </p:sp>
      <p:sp>
        <p:nvSpPr>
          <p:cNvPr id="10" name="Text 8"/>
          <p:cNvSpPr/>
          <p:nvPr/>
        </p:nvSpPr>
        <p:spPr>
          <a:xfrm>
            <a:off x="429768" y="2048256"/>
            <a:ext cx="1408176" cy="210312"/>
          </a:xfrm>
          <a:prstGeom prst="rect">
            <a:avLst/>
          </a:prstGeom>
          <a:noFill/>
          <a:ln/>
        </p:spPr>
        <p:txBody>
          <a:bodyPr wrap="square" rtlCol="0" anchor="ctr"/>
          <a:lstStyle/>
          <a:p>
            <a:pPr indent="0" marL="0">
              <a:lnSpc>
                <a:spcPct val="100000"/>
              </a:lnSpc>
              <a:buNone/>
            </a:pPr>
            <a:r>
              <a:rPr lang="en-US" sz="850" dirty="0">
                <a:solidFill>
                  <a:srgbClr val="475569"/>
                </a:solidFill>
                <a:latin typeface="Calibri" pitchFamily="34" charset="0"/>
                <a:ea typeface="Calibri" pitchFamily="34" charset="-122"/>
                <a:cs typeface="Calibri" pitchFamily="34" charset="-120"/>
              </a:rPr>
              <a:t>•  Search / filter / compare by tier</a:t>
            </a:r>
            <a:endParaRPr lang="en-US" sz="850" dirty="0"/>
          </a:p>
        </p:txBody>
      </p:sp>
      <p:sp>
        <p:nvSpPr>
          <p:cNvPr id="11" name="Text 9"/>
          <p:cNvSpPr/>
          <p:nvPr/>
        </p:nvSpPr>
        <p:spPr>
          <a:xfrm>
            <a:off x="429768" y="2276856"/>
            <a:ext cx="1408176" cy="210312"/>
          </a:xfrm>
          <a:prstGeom prst="rect">
            <a:avLst/>
          </a:prstGeom>
          <a:noFill/>
          <a:ln/>
        </p:spPr>
        <p:txBody>
          <a:bodyPr wrap="square" rtlCol="0" anchor="ctr"/>
          <a:lstStyle/>
          <a:p>
            <a:pPr indent="0" marL="0">
              <a:lnSpc>
                <a:spcPct val="100000"/>
              </a:lnSpc>
              <a:buNone/>
            </a:pPr>
            <a:r>
              <a:rPr lang="en-US" sz="850" dirty="0">
                <a:solidFill>
                  <a:srgbClr val="475569"/>
                </a:solidFill>
                <a:latin typeface="Calibri" pitchFamily="34" charset="0"/>
                <a:ea typeface="Calibri" pitchFamily="34" charset="-122"/>
                <a:cs typeface="Calibri" pitchFamily="34" charset="-120"/>
              </a:rPr>
              <a:t>•  Government, Trust, Private, Premium</a:t>
            </a:r>
            <a:endParaRPr lang="en-US" sz="850" dirty="0"/>
          </a:p>
        </p:txBody>
      </p:sp>
      <p:sp>
        <p:nvSpPr>
          <p:cNvPr id="12" name="Text 10"/>
          <p:cNvSpPr/>
          <p:nvPr/>
        </p:nvSpPr>
        <p:spPr>
          <a:xfrm>
            <a:off x="429768" y="2505456"/>
            <a:ext cx="1408176" cy="210312"/>
          </a:xfrm>
          <a:prstGeom prst="rect">
            <a:avLst/>
          </a:prstGeom>
          <a:noFill/>
          <a:ln/>
        </p:spPr>
        <p:txBody>
          <a:bodyPr wrap="square" rtlCol="0" anchor="ctr"/>
          <a:lstStyle/>
          <a:p>
            <a:pPr indent="0" marL="0">
              <a:lnSpc>
                <a:spcPct val="100000"/>
              </a:lnSpc>
              <a:buNone/>
            </a:pPr>
            <a:r>
              <a:rPr lang="en-US" sz="850" dirty="0">
                <a:solidFill>
                  <a:srgbClr val="475569"/>
                </a:solidFill>
                <a:latin typeface="Calibri" pitchFamily="34" charset="0"/>
                <a:ea typeface="Calibri" pitchFamily="34" charset="-122"/>
                <a:cs typeface="Calibri" pitchFamily="34" charset="-120"/>
              </a:rPr>
              <a:t>•  Weighted Value Score per hospital</a:t>
            </a:r>
            <a:endParaRPr lang="en-US" sz="850" dirty="0"/>
          </a:p>
        </p:txBody>
      </p:sp>
      <p:sp>
        <p:nvSpPr>
          <p:cNvPr id="13" name="Shape 11"/>
          <p:cNvSpPr/>
          <p:nvPr/>
        </p:nvSpPr>
        <p:spPr>
          <a:xfrm>
            <a:off x="1988820" y="941832"/>
            <a:ext cx="1591056" cy="1847088"/>
          </a:xfrm>
          <a:prstGeom prst="ROUNDED_RECTANGLE">
            <a:avLst>
              <a:gd name="adj" fmla="val 5172"/>
            </a:avLst>
          </a:prstGeom>
          <a:solidFill>
            <a:srgbClr val="FFFFFF"/>
          </a:solidFill>
          <a:ln w="12700">
            <a:solidFill>
              <a:srgbClr val="D6EDEC"/>
            </a:solidFill>
            <a:prstDash val="solid"/>
          </a:ln>
        </p:spPr>
      </p:sp>
      <p:sp>
        <p:nvSpPr>
          <p:cNvPr id="14" name="Shape 12"/>
          <p:cNvSpPr/>
          <p:nvPr/>
        </p:nvSpPr>
        <p:spPr>
          <a:xfrm>
            <a:off x="1988820" y="941832"/>
            <a:ext cx="1591056" cy="438912"/>
          </a:xfrm>
          <a:prstGeom prst="ROUNDED_RECTANGLE">
            <a:avLst>
              <a:gd name="adj" fmla="val 18750"/>
            </a:avLst>
          </a:prstGeom>
          <a:solidFill>
            <a:srgbClr val="7B1FA2"/>
          </a:solidFill>
          <a:ln w="12700">
            <a:solidFill>
              <a:srgbClr val="7B1FA2"/>
            </a:solidFill>
            <a:prstDash val="solid"/>
          </a:ln>
        </p:spPr>
      </p:sp>
      <p:sp>
        <p:nvSpPr>
          <p:cNvPr id="15" name="Shape 13"/>
          <p:cNvSpPr/>
          <p:nvPr/>
        </p:nvSpPr>
        <p:spPr>
          <a:xfrm>
            <a:off x="1988820" y="1183234"/>
            <a:ext cx="1591056" cy="219456"/>
          </a:xfrm>
          <a:prstGeom prst="RECTANGLE">
            <a:avLst/>
          </a:prstGeom>
          <a:solidFill>
            <a:srgbClr val="7B1FA2"/>
          </a:solidFill>
          <a:ln w="12700">
            <a:solidFill>
              <a:srgbClr val="7B1FA2"/>
            </a:solidFill>
            <a:prstDash val="solid"/>
          </a:ln>
        </p:spPr>
      </p:sp>
      <p:sp>
        <p:nvSpPr>
          <p:cNvPr id="16" name="Text 14"/>
          <p:cNvSpPr/>
          <p:nvPr/>
        </p:nvSpPr>
        <p:spPr>
          <a:xfrm>
            <a:off x="1988820" y="978408"/>
            <a:ext cx="1591056" cy="36576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7" name="Text 15"/>
          <p:cNvSpPr/>
          <p:nvPr/>
        </p:nvSpPr>
        <p:spPr>
          <a:xfrm>
            <a:off x="2043684" y="1435608"/>
            <a:ext cx="1481328" cy="329184"/>
          </a:xfrm>
          <a:prstGeom prst="rect">
            <a:avLst/>
          </a:prstGeom>
          <a:noFill/>
          <a:ln/>
        </p:spPr>
        <p:txBody>
          <a:bodyPr wrap="square" rtlCol="0" anchor="ctr"/>
          <a:lstStyle/>
          <a:p>
            <a:pPr algn="ctr" indent="0" marL="0">
              <a:lnSpc>
                <a:spcPct val="100000"/>
              </a:lnSpc>
              <a:buNone/>
            </a:pPr>
            <a:r>
              <a:rPr lang="en-US" sz="950" b="1" dirty="0">
                <a:solidFill>
                  <a:srgbClr val="0F172A"/>
                </a:solidFill>
                <a:latin typeface="Calibri" pitchFamily="34" charset="0"/>
                <a:ea typeface="Calibri" pitchFamily="34" charset="-122"/>
                <a:cs typeface="Calibri" pitchFamily="34" charset="-120"/>
              </a:rPr>
              <a:t>AI Bill Analyzer</a:t>
            </a:r>
            <a:endParaRPr lang="en-US" sz="950" dirty="0"/>
          </a:p>
        </p:txBody>
      </p:sp>
      <p:sp>
        <p:nvSpPr>
          <p:cNvPr id="18" name="Text 16"/>
          <p:cNvSpPr/>
          <p:nvPr/>
        </p:nvSpPr>
        <p:spPr>
          <a:xfrm>
            <a:off x="2080260" y="1819656"/>
            <a:ext cx="1408176" cy="210312"/>
          </a:xfrm>
          <a:prstGeom prst="rect">
            <a:avLst/>
          </a:prstGeom>
          <a:noFill/>
          <a:ln/>
        </p:spPr>
        <p:txBody>
          <a:bodyPr wrap="square" rtlCol="0" anchor="ctr"/>
          <a:lstStyle/>
          <a:p>
            <a:pPr indent="0" marL="0">
              <a:lnSpc>
                <a:spcPct val="100000"/>
              </a:lnSpc>
              <a:buNone/>
            </a:pPr>
            <a:r>
              <a:rPr lang="en-US" sz="850" dirty="0">
                <a:solidFill>
                  <a:srgbClr val="475569"/>
                </a:solidFill>
                <a:latin typeface="Calibri" pitchFamily="34" charset="0"/>
                <a:ea typeface="Calibri" pitchFamily="34" charset="-122"/>
                <a:cs typeface="Calibri" pitchFamily="34" charset="-120"/>
              </a:rPr>
              <a:t>•  Per-line-item AI analysis</a:t>
            </a:r>
            <a:endParaRPr lang="en-US" sz="850" dirty="0"/>
          </a:p>
        </p:txBody>
      </p:sp>
      <p:sp>
        <p:nvSpPr>
          <p:cNvPr id="19" name="Text 17"/>
          <p:cNvSpPr/>
          <p:nvPr/>
        </p:nvSpPr>
        <p:spPr>
          <a:xfrm>
            <a:off x="2080260" y="2048256"/>
            <a:ext cx="1408176" cy="210312"/>
          </a:xfrm>
          <a:prstGeom prst="rect">
            <a:avLst/>
          </a:prstGeom>
          <a:noFill/>
          <a:ln/>
        </p:spPr>
        <p:txBody>
          <a:bodyPr wrap="square" rtlCol="0" anchor="ctr"/>
          <a:lstStyle/>
          <a:p>
            <a:pPr indent="0" marL="0">
              <a:lnSpc>
                <a:spcPct val="100000"/>
              </a:lnSpc>
              <a:buNone/>
            </a:pPr>
            <a:r>
              <a:rPr lang="en-US" sz="850" dirty="0">
                <a:solidFill>
                  <a:srgbClr val="475569"/>
                </a:solidFill>
                <a:latin typeface="Calibri" pitchFamily="34" charset="0"/>
                <a:ea typeface="Calibri" pitchFamily="34" charset="-122"/>
                <a:cs typeface="Calibri" pitchFamily="34" charset="-120"/>
              </a:rPr>
              <a:t>•  Confidence scoring per charge</a:t>
            </a:r>
            <a:endParaRPr lang="en-US" sz="850" dirty="0"/>
          </a:p>
        </p:txBody>
      </p:sp>
      <p:sp>
        <p:nvSpPr>
          <p:cNvPr id="20" name="Text 18"/>
          <p:cNvSpPr/>
          <p:nvPr/>
        </p:nvSpPr>
        <p:spPr>
          <a:xfrm>
            <a:off x="2080260" y="2276856"/>
            <a:ext cx="1408176" cy="210312"/>
          </a:xfrm>
          <a:prstGeom prst="rect">
            <a:avLst/>
          </a:prstGeom>
          <a:noFill/>
          <a:ln/>
        </p:spPr>
        <p:txBody>
          <a:bodyPr wrap="square" rtlCol="0" anchor="ctr"/>
          <a:lstStyle/>
          <a:p>
            <a:pPr indent="0" marL="0">
              <a:lnSpc>
                <a:spcPct val="100000"/>
              </a:lnSpc>
              <a:buNone/>
            </a:pPr>
            <a:r>
              <a:rPr lang="en-US" sz="850" dirty="0">
                <a:solidFill>
                  <a:srgbClr val="475569"/>
                </a:solidFill>
                <a:latin typeface="Calibri" pitchFamily="34" charset="0"/>
                <a:ea typeface="Calibri" pitchFamily="34" charset="-122"/>
                <a:cs typeface="Calibri" pitchFamily="34" charset="-120"/>
              </a:rPr>
              <a:t>•  Variance / potential overcharge flags</a:t>
            </a:r>
            <a:endParaRPr lang="en-US" sz="850" dirty="0"/>
          </a:p>
        </p:txBody>
      </p:sp>
      <p:sp>
        <p:nvSpPr>
          <p:cNvPr id="21" name="Text 19"/>
          <p:cNvSpPr/>
          <p:nvPr/>
        </p:nvSpPr>
        <p:spPr>
          <a:xfrm>
            <a:off x="2080260" y="2505456"/>
            <a:ext cx="1408176" cy="210312"/>
          </a:xfrm>
          <a:prstGeom prst="rect">
            <a:avLst/>
          </a:prstGeom>
          <a:noFill/>
          <a:ln/>
        </p:spPr>
        <p:txBody>
          <a:bodyPr wrap="square" rtlCol="0" anchor="ctr"/>
          <a:lstStyle/>
          <a:p>
            <a:pPr indent="0" marL="0">
              <a:lnSpc>
                <a:spcPct val="100000"/>
              </a:lnSpc>
              <a:buNone/>
            </a:pPr>
            <a:r>
              <a:rPr lang="en-US" sz="850" dirty="0">
                <a:solidFill>
                  <a:srgbClr val="475569"/>
                </a:solidFill>
                <a:latin typeface="Calibri" pitchFamily="34" charset="0"/>
                <a:ea typeface="Calibri" pitchFamily="34" charset="-122"/>
                <a:cs typeface="Calibri" pitchFamily="34" charset="-120"/>
              </a:rPr>
              <a:t>•  Dispute questions &amp; next steps</a:t>
            </a:r>
            <a:endParaRPr lang="en-US" sz="850" dirty="0"/>
          </a:p>
        </p:txBody>
      </p:sp>
      <p:sp>
        <p:nvSpPr>
          <p:cNvPr id="22" name="Shape 20"/>
          <p:cNvSpPr/>
          <p:nvPr/>
        </p:nvSpPr>
        <p:spPr>
          <a:xfrm>
            <a:off x="3639312" y="941832"/>
            <a:ext cx="1591056" cy="1847088"/>
          </a:xfrm>
          <a:prstGeom prst="ROUNDED_RECTANGLE">
            <a:avLst>
              <a:gd name="adj" fmla="val 5172"/>
            </a:avLst>
          </a:prstGeom>
          <a:solidFill>
            <a:srgbClr val="FFFFFF"/>
          </a:solidFill>
          <a:ln w="12700">
            <a:solidFill>
              <a:srgbClr val="D6EDEC"/>
            </a:solidFill>
            <a:prstDash val="solid"/>
          </a:ln>
        </p:spPr>
      </p:sp>
      <p:sp>
        <p:nvSpPr>
          <p:cNvPr id="23" name="Shape 21"/>
          <p:cNvSpPr/>
          <p:nvPr/>
        </p:nvSpPr>
        <p:spPr>
          <a:xfrm>
            <a:off x="3639312" y="941832"/>
            <a:ext cx="1591056" cy="438912"/>
          </a:xfrm>
          <a:prstGeom prst="ROUNDED_RECTANGLE">
            <a:avLst>
              <a:gd name="adj" fmla="val 18750"/>
            </a:avLst>
          </a:prstGeom>
          <a:solidFill>
            <a:srgbClr val="065F46"/>
          </a:solidFill>
          <a:ln w="12700">
            <a:solidFill>
              <a:srgbClr val="065F46"/>
            </a:solidFill>
            <a:prstDash val="solid"/>
          </a:ln>
        </p:spPr>
      </p:sp>
      <p:sp>
        <p:nvSpPr>
          <p:cNvPr id="24" name="Shape 22"/>
          <p:cNvSpPr/>
          <p:nvPr/>
        </p:nvSpPr>
        <p:spPr>
          <a:xfrm>
            <a:off x="3639312" y="1183234"/>
            <a:ext cx="1591056" cy="219456"/>
          </a:xfrm>
          <a:prstGeom prst="RECTANGLE">
            <a:avLst/>
          </a:prstGeom>
          <a:solidFill>
            <a:srgbClr val="065F46"/>
          </a:solidFill>
          <a:ln w="12700">
            <a:solidFill>
              <a:srgbClr val="065F46"/>
            </a:solidFill>
            <a:prstDash val="solid"/>
          </a:ln>
        </p:spPr>
      </p:sp>
      <p:sp>
        <p:nvSpPr>
          <p:cNvPr id="25" name="Text 23"/>
          <p:cNvSpPr/>
          <p:nvPr/>
        </p:nvSpPr>
        <p:spPr>
          <a:xfrm>
            <a:off x="3639312" y="978408"/>
            <a:ext cx="1591056" cy="36576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6" name="Text 24"/>
          <p:cNvSpPr/>
          <p:nvPr/>
        </p:nvSpPr>
        <p:spPr>
          <a:xfrm>
            <a:off x="3694176" y="1435608"/>
            <a:ext cx="1481328" cy="329184"/>
          </a:xfrm>
          <a:prstGeom prst="rect">
            <a:avLst/>
          </a:prstGeom>
          <a:noFill/>
          <a:ln/>
        </p:spPr>
        <p:txBody>
          <a:bodyPr wrap="square" rtlCol="0" anchor="ctr"/>
          <a:lstStyle/>
          <a:p>
            <a:pPr algn="ctr" indent="0" marL="0">
              <a:lnSpc>
                <a:spcPct val="100000"/>
              </a:lnSpc>
              <a:buNone/>
            </a:pPr>
            <a:r>
              <a:rPr lang="en-US" sz="950" b="1" dirty="0">
                <a:solidFill>
                  <a:srgbClr val="0F172A"/>
                </a:solidFill>
                <a:latin typeface="Calibri" pitchFamily="34" charset="0"/>
                <a:ea typeface="Calibri" pitchFamily="34" charset="-122"/>
                <a:cs typeface="Calibri" pitchFamily="34" charset="-120"/>
              </a:rPr>
              <a:t>AI Cost Estimator</a:t>
            </a:r>
            <a:endParaRPr lang="en-US" sz="950" dirty="0"/>
          </a:p>
        </p:txBody>
      </p:sp>
      <p:sp>
        <p:nvSpPr>
          <p:cNvPr id="27" name="Text 25"/>
          <p:cNvSpPr/>
          <p:nvPr/>
        </p:nvSpPr>
        <p:spPr>
          <a:xfrm>
            <a:off x="3730752" y="1819656"/>
            <a:ext cx="1408176" cy="210312"/>
          </a:xfrm>
          <a:prstGeom prst="rect">
            <a:avLst/>
          </a:prstGeom>
          <a:noFill/>
          <a:ln/>
        </p:spPr>
        <p:txBody>
          <a:bodyPr wrap="square" rtlCol="0" anchor="ctr"/>
          <a:lstStyle/>
          <a:p>
            <a:pPr indent="0" marL="0">
              <a:lnSpc>
                <a:spcPct val="100000"/>
              </a:lnSpc>
              <a:buNone/>
            </a:pPr>
            <a:r>
              <a:rPr lang="en-US" sz="850" dirty="0">
                <a:solidFill>
                  <a:srgbClr val="475569"/>
                </a:solidFill>
                <a:latin typeface="Calibri" pitchFamily="34" charset="0"/>
                <a:ea typeface="Calibri" pitchFamily="34" charset="-122"/>
                <a:cs typeface="Calibri" pitchFamily="34" charset="-120"/>
              </a:rPr>
              <a:t>•  City-aware &amp; tier-aware pricing</a:t>
            </a:r>
            <a:endParaRPr lang="en-US" sz="850" dirty="0"/>
          </a:p>
        </p:txBody>
      </p:sp>
      <p:sp>
        <p:nvSpPr>
          <p:cNvPr id="28" name="Text 26"/>
          <p:cNvSpPr/>
          <p:nvPr/>
        </p:nvSpPr>
        <p:spPr>
          <a:xfrm>
            <a:off x="3730752" y="2048256"/>
            <a:ext cx="1408176" cy="210312"/>
          </a:xfrm>
          <a:prstGeom prst="rect">
            <a:avLst/>
          </a:prstGeom>
          <a:noFill/>
          <a:ln/>
        </p:spPr>
        <p:txBody>
          <a:bodyPr wrap="square" rtlCol="0" anchor="ctr"/>
          <a:lstStyle/>
          <a:p>
            <a:pPr indent="0" marL="0">
              <a:lnSpc>
                <a:spcPct val="100000"/>
              </a:lnSpc>
              <a:buNone/>
            </a:pPr>
            <a:r>
              <a:rPr lang="en-US" sz="850" dirty="0">
                <a:solidFill>
                  <a:srgbClr val="475569"/>
                </a:solidFill>
                <a:latin typeface="Calibri" pitchFamily="34" charset="0"/>
                <a:ea typeface="Calibri" pitchFamily="34" charset="-122"/>
                <a:cs typeface="Calibri" pitchFamily="34" charset="-120"/>
              </a:rPr>
              <a:t>•  Insurance context input</a:t>
            </a:r>
            <a:endParaRPr lang="en-US" sz="850" dirty="0"/>
          </a:p>
        </p:txBody>
      </p:sp>
      <p:sp>
        <p:nvSpPr>
          <p:cNvPr id="29" name="Text 27"/>
          <p:cNvSpPr/>
          <p:nvPr/>
        </p:nvSpPr>
        <p:spPr>
          <a:xfrm>
            <a:off x="3730752" y="2276856"/>
            <a:ext cx="1408176" cy="210312"/>
          </a:xfrm>
          <a:prstGeom prst="rect">
            <a:avLst/>
          </a:prstGeom>
          <a:noFill/>
          <a:ln/>
        </p:spPr>
        <p:txBody>
          <a:bodyPr wrap="square" rtlCol="0" anchor="ctr"/>
          <a:lstStyle/>
          <a:p>
            <a:pPr indent="0" marL="0">
              <a:lnSpc>
                <a:spcPct val="100000"/>
              </a:lnSpc>
              <a:buNone/>
            </a:pPr>
            <a:r>
              <a:rPr lang="en-US" sz="850" dirty="0">
                <a:solidFill>
                  <a:srgbClr val="475569"/>
                </a:solidFill>
                <a:latin typeface="Calibri" pitchFamily="34" charset="0"/>
                <a:ea typeface="Calibri" pitchFamily="34" charset="-122"/>
                <a:cs typeface="Calibri" pitchFamily="34" charset="-120"/>
              </a:rPr>
              <a:t>•  Cost range + itemized breakdown</a:t>
            </a:r>
            <a:endParaRPr lang="en-US" sz="850" dirty="0"/>
          </a:p>
        </p:txBody>
      </p:sp>
      <p:sp>
        <p:nvSpPr>
          <p:cNvPr id="30" name="Text 28"/>
          <p:cNvSpPr/>
          <p:nvPr/>
        </p:nvSpPr>
        <p:spPr>
          <a:xfrm>
            <a:off x="3730752" y="2505456"/>
            <a:ext cx="1408176" cy="210312"/>
          </a:xfrm>
          <a:prstGeom prst="rect">
            <a:avLst/>
          </a:prstGeom>
          <a:noFill/>
          <a:ln/>
        </p:spPr>
        <p:txBody>
          <a:bodyPr wrap="square" rtlCol="0" anchor="ctr"/>
          <a:lstStyle/>
          <a:p>
            <a:pPr indent="0" marL="0">
              <a:lnSpc>
                <a:spcPct val="100000"/>
              </a:lnSpc>
              <a:buNone/>
            </a:pPr>
            <a:r>
              <a:rPr lang="en-US" sz="850" dirty="0">
                <a:solidFill>
                  <a:srgbClr val="475569"/>
                </a:solidFill>
                <a:latin typeface="Calibri" pitchFamily="34" charset="0"/>
                <a:ea typeface="Calibri" pitchFamily="34" charset="-122"/>
                <a:cs typeface="Calibri" pitchFamily="34" charset="-120"/>
              </a:rPr>
              <a:t>•  Cost drivers &amp; savings guidance</a:t>
            </a:r>
            <a:endParaRPr lang="en-US" sz="850" dirty="0"/>
          </a:p>
        </p:txBody>
      </p:sp>
      <p:sp>
        <p:nvSpPr>
          <p:cNvPr id="31" name="Shape 29"/>
          <p:cNvSpPr/>
          <p:nvPr/>
        </p:nvSpPr>
        <p:spPr>
          <a:xfrm>
            <a:off x="5289804" y="941832"/>
            <a:ext cx="1591056" cy="1847088"/>
          </a:xfrm>
          <a:prstGeom prst="ROUNDED_RECTANGLE">
            <a:avLst>
              <a:gd name="adj" fmla="val 5172"/>
            </a:avLst>
          </a:prstGeom>
          <a:solidFill>
            <a:srgbClr val="FFFFFF"/>
          </a:solidFill>
          <a:ln w="12700">
            <a:solidFill>
              <a:srgbClr val="D6EDEC"/>
            </a:solidFill>
            <a:prstDash val="solid"/>
          </a:ln>
        </p:spPr>
      </p:sp>
      <p:sp>
        <p:nvSpPr>
          <p:cNvPr id="32" name="Shape 30"/>
          <p:cNvSpPr/>
          <p:nvPr/>
        </p:nvSpPr>
        <p:spPr>
          <a:xfrm>
            <a:off x="5289804" y="941832"/>
            <a:ext cx="1591056" cy="438912"/>
          </a:xfrm>
          <a:prstGeom prst="ROUNDED_RECTANGLE">
            <a:avLst>
              <a:gd name="adj" fmla="val 18750"/>
            </a:avLst>
          </a:prstGeom>
          <a:solidFill>
            <a:srgbClr val="DC2626"/>
          </a:solidFill>
          <a:ln w="12700">
            <a:solidFill>
              <a:srgbClr val="DC2626"/>
            </a:solidFill>
            <a:prstDash val="solid"/>
          </a:ln>
        </p:spPr>
      </p:sp>
      <p:sp>
        <p:nvSpPr>
          <p:cNvPr id="33" name="Shape 31"/>
          <p:cNvSpPr/>
          <p:nvPr/>
        </p:nvSpPr>
        <p:spPr>
          <a:xfrm>
            <a:off x="5289804" y="1183234"/>
            <a:ext cx="1591056" cy="219456"/>
          </a:xfrm>
          <a:prstGeom prst="RECTANGLE">
            <a:avLst/>
          </a:prstGeom>
          <a:solidFill>
            <a:srgbClr val="DC2626"/>
          </a:solidFill>
          <a:ln w="12700">
            <a:solidFill>
              <a:srgbClr val="DC2626"/>
            </a:solidFill>
            <a:prstDash val="solid"/>
          </a:ln>
        </p:spPr>
      </p:sp>
      <p:sp>
        <p:nvSpPr>
          <p:cNvPr id="34" name="Text 32"/>
          <p:cNvSpPr/>
          <p:nvPr/>
        </p:nvSpPr>
        <p:spPr>
          <a:xfrm>
            <a:off x="5289804" y="978408"/>
            <a:ext cx="1591056" cy="36576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35" name="Text 33"/>
          <p:cNvSpPr/>
          <p:nvPr/>
        </p:nvSpPr>
        <p:spPr>
          <a:xfrm>
            <a:off x="5344668" y="1435608"/>
            <a:ext cx="1481328" cy="329184"/>
          </a:xfrm>
          <a:prstGeom prst="rect">
            <a:avLst/>
          </a:prstGeom>
          <a:noFill/>
          <a:ln/>
        </p:spPr>
        <p:txBody>
          <a:bodyPr wrap="square" rtlCol="0" anchor="ctr"/>
          <a:lstStyle/>
          <a:p>
            <a:pPr algn="ctr" indent="0" marL="0">
              <a:lnSpc>
                <a:spcPct val="100000"/>
              </a:lnSpc>
              <a:buNone/>
            </a:pPr>
            <a:r>
              <a:rPr lang="en-US" sz="950" b="1" dirty="0">
                <a:solidFill>
                  <a:srgbClr val="0F172A"/>
                </a:solidFill>
                <a:latin typeface="Calibri" pitchFamily="34" charset="0"/>
                <a:ea typeface="Calibri" pitchFamily="34" charset="-122"/>
                <a:cs typeface="Calibri" pitchFamily="34" charset="-120"/>
              </a:rPr>
              <a:t>Emergency Finder</a:t>
            </a:r>
            <a:endParaRPr lang="en-US" sz="950" dirty="0"/>
          </a:p>
        </p:txBody>
      </p:sp>
      <p:sp>
        <p:nvSpPr>
          <p:cNvPr id="36" name="Text 34"/>
          <p:cNvSpPr/>
          <p:nvPr/>
        </p:nvSpPr>
        <p:spPr>
          <a:xfrm>
            <a:off x="5381244" y="1819656"/>
            <a:ext cx="1408176" cy="210312"/>
          </a:xfrm>
          <a:prstGeom prst="rect">
            <a:avLst/>
          </a:prstGeom>
          <a:noFill/>
          <a:ln/>
        </p:spPr>
        <p:txBody>
          <a:bodyPr wrap="square" rtlCol="0" anchor="ctr"/>
          <a:lstStyle/>
          <a:p>
            <a:pPr indent="0" marL="0">
              <a:lnSpc>
                <a:spcPct val="100000"/>
              </a:lnSpc>
              <a:buNone/>
            </a:pPr>
            <a:r>
              <a:rPr lang="en-US" sz="850" dirty="0">
                <a:solidFill>
                  <a:srgbClr val="475569"/>
                </a:solidFill>
                <a:latin typeface="Calibri" pitchFamily="34" charset="0"/>
                <a:ea typeface="Calibri" pitchFamily="34" charset="-122"/>
                <a:cs typeface="Calibri" pitchFamily="34" charset="-120"/>
              </a:rPr>
              <a:t>•  Nearest hospital (Haversine calc)</a:t>
            </a:r>
            <a:endParaRPr lang="en-US" sz="850" dirty="0"/>
          </a:p>
        </p:txBody>
      </p:sp>
      <p:sp>
        <p:nvSpPr>
          <p:cNvPr id="37" name="Text 35"/>
          <p:cNvSpPr/>
          <p:nvPr/>
        </p:nvSpPr>
        <p:spPr>
          <a:xfrm>
            <a:off x="5381244" y="2048256"/>
            <a:ext cx="1408176" cy="210312"/>
          </a:xfrm>
          <a:prstGeom prst="rect">
            <a:avLst/>
          </a:prstGeom>
          <a:noFill/>
          <a:ln/>
        </p:spPr>
        <p:txBody>
          <a:bodyPr wrap="square" rtlCol="0" anchor="ctr"/>
          <a:lstStyle/>
          <a:p>
            <a:pPr indent="0" marL="0">
              <a:lnSpc>
                <a:spcPct val="100000"/>
              </a:lnSpc>
              <a:buNone/>
            </a:pPr>
            <a:r>
              <a:rPr lang="en-US" sz="850" dirty="0">
                <a:solidFill>
                  <a:srgbClr val="475569"/>
                </a:solidFill>
                <a:latin typeface="Calibri" pitchFamily="34" charset="0"/>
                <a:ea typeface="Calibri" pitchFamily="34" charset="-122"/>
                <a:cs typeface="Calibri" pitchFamily="34" charset="-120"/>
              </a:rPr>
              <a:t>•  Emergency helplines: 108, 112 + 7</a:t>
            </a:r>
            <a:endParaRPr lang="en-US" sz="850" dirty="0"/>
          </a:p>
        </p:txBody>
      </p:sp>
      <p:sp>
        <p:nvSpPr>
          <p:cNvPr id="38" name="Text 36"/>
          <p:cNvSpPr/>
          <p:nvPr/>
        </p:nvSpPr>
        <p:spPr>
          <a:xfrm>
            <a:off x="5381244" y="2276856"/>
            <a:ext cx="1408176" cy="210312"/>
          </a:xfrm>
          <a:prstGeom prst="rect">
            <a:avLst/>
          </a:prstGeom>
          <a:noFill/>
          <a:ln/>
        </p:spPr>
        <p:txBody>
          <a:bodyPr wrap="square" rtlCol="0" anchor="ctr"/>
          <a:lstStyle/>
          <a:p>
            <a:pPr indent="0" marL="0">
              <a:lnSpc>
                <a:spcPct val="100000"/>
              </a:lnSpc>
              <a:buNone/>
            </a:pPr>
            <a:r>
              <a:rPr lang="en-US" sz="850" dirty="0">
                <a:solidFill>
                  <a:srgbClr val="475569"/>
                </a:solidFill>
                <a:latin typeface="Calibri" pitchFamily="34" charset="0"/>
                <a:ea typeface="Calibri" pitchFamily="34" charset="-122"/>
                <a:cs typeface="Calibri" pitchFamily="34" charset="-120"/>
              </a:rPr>
              <a:t>•  Offline fallback built-in</a:t>
            </a:r>
            <a:endParaRPr lang="en-US" sz="850" dirty="0"/>
          </a:p>
        </p:txBody>
      </p:sp>
      <p:sp>
        <p:nvSpPr>
          <p:cNvPr id="39" name="Text 37"/>
          <p:cNvSpPr/>
          <p:nvPr/>
        </p:nvSpPr>
        <p:spPr>
          <a:xfrm>
            <a:off x="5381244" y="2505456"/>
            <a:ext cx="1408176" cy="210312"/>
          </a:xfrm>
          <a:prstGeom prst="rect">
            <a:avLst/>
          </a:prstGeom>
          <a:noFill/>
          <a:ln/>
        </p:spPr>
        <p:txBody>
          <a:bodyPr wrap="square" rtlCol="0" anchor="ctr"/>
          <a:lstStyle/>
          <a:p>
            <a:pPr indent="0" marL="0">
              <a:lnSpc>
                <a:spcPct val="100000"/>
              </a:lnSpc>
              <a:buNone/>
            </a:pPr>
            <a:r>
              <a:rPr lang="en-US" sz="850" dirty="0">
                <a:solidFill>
                  <a:srgbClr val="475569"/>
                </a:solidFill>
                <a:latin typeface="Calibri" pitchFamily="34" charset="0"/>
                <a:ea typeface="Calibri" pitchFamily="34" charset="-122"/>
                <a:cs typeface="Calibri" pitchFamily="34" charset="-120"/>
              </a:rPr>
              <a:t>•  One-tap navigation</a:t>
            </a:r>
            <a:endParaRPr lang="en-US" sz="850" dirty="0"/>
          </a:p>
        </p:txBody>
      </p:sp>
      <p:sp>
        <p:nvSpPr>
          <p:cNvPr id="40" name="Shape 38"/>
          <p:cNvSpPr/>
          <p:nvPr/>
        </p:nvSpPr>
        <p:spPr>
          <a:xfrm>
            <a:off x="6940296" y="941832"/>
            <a:ext cx="1591056" cy="1847088"/>
          </a:xfrm>
          <a:prstGeom prst="ROUNDED_RECTANGLE">
            <a:avLst>
              <a:gd name="adj" fmla="val 5172"/>
            </a:avLst>
          </a:prstGeom>
          <a:solidFill>
            <a:srgbClr val="FFFFFF"/>
          </a:solidFill>
          <a:ln w="12700">
            <a:solidFill>
              <a:srgbClr val="D6EDEC"/>
            </a:solidFill>
            <a:prstDash val="solid"/>
          </a:ln>
        </p:spPr>
      </p:sp>
      <p:sp>
        <p:nvSpPr>
          <p:cNvPr id="41" name="Shape 39"/>
          <p:cNvSpPr/>
          <p:nvPr/>
        </p:nvSpPr>
        <p:spPr>
          <a:xfrm>
            <a:off x="6940296" y="941832"/>
            <a:ext cx="1591056" cy="438912"/>
          </a:xfrm>
          <a:prstGeom prst="ROUNDED_RECTANGLE">
            <a:avLst>
              <a:gd name="adj" fmla="val 18750"/>
            </a:avLst>
          </a:prstGeom>
          <a:solidFill>
            <a:srgbClr val="B45309"/>
          </a:solidFill>
          <a:ln w="12700">
            <a:solidFill>
              <a:srgbClr val="B45309"/>
            </a:solidFill>
            <a:prstDash val="solid"/>
          </a:ln>
        </p:spPr>
      </p:sp>
      <p:sp>
        <p:nvSpPr>
          <p:cNvPr id="42" name="Shape 40"/>
          <p:cNvSpPr/>
          <p:nvPr/>
        </p:nvSpPr>
        <p:spPr>
          <a:xfrm>
            <a:off x="6940296" y="1183234"/>
            <a:ext cx="1591056" cy="219456"/>
          </a:xfrm>
          <a:prstGeom prst="RECTANGLE">
            <a:avLst/>
          </a:prstGeom>
          <a:solidFill>
            <a:srgbClr val="B45309"/>
          </a:solidFill>
          <a:ln w="12700">
            <a:solidFill>
              <a:srgbClr val="B45309"/>
            </a:solidFill>
            <a:prstDash val="solid"/>
          </a:ln>
        </p:spPr>
      </p:sp>
      <p:sp>
        <p:nvSpPr>
          <p:cNvPr id="43" name="Text 41"/>
          <p:cNvSpPr/>
          <p:nvPr/>
        </p:nvSpPr>
        <p:spPr>
          <a:xfrm>
            <a:off x="6940296" y="978408"/>
            <a:ext cx="1591056" cy="36576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44" name="Text 42"/>
          <p:cNvSpPr/>
          <p:nvPr/>
        </p:nvSpPr>
        <p:spPr>
          <a:xfrm>
            <a:off x="6995160" y="1435608"/>
            <a:ext cx="1481328" cy="329184"/>
          </a:xfrm>
          <a:prstGeom prst="rect">
            <a:avLst/>
          </a:prstGeom>
          <a:noFill/>
          <a:ln/>
        </p:spPr>
        <p:txBody>
          <a:bodyPr wrap="square" rtlCol="0" anchor="ctr"/>
          <a:lstStyle/>
          <a:p>
            <a:pPr algn="ctr" indent="0" marL="0">
              <a:lnSpc>
                <a:spcPct val="100000"/>
              </a:lnSpc>
              <a:buNone/>
            </a:pPr>
            <a:r>
              <a:rPr lang="en-US" sz="950" b="1" dirty="0">
                <a:solidFill>
                  <a:srgbClr val="0F172A"/>
                </a:solidFill>
                <a:latin typeface="Calibri" pitchFamily="34" charset="0"/>
                <a:ea typeface="Calibri" pitchFamily="34" charset="-122"/>
                <a:cs typeface="Calibri" pitchFamily="34" charset="-120"/>
              </a:rPr>
              <a:t>Health Records Vault</a:t>
            </a:r>
            <a:endParaRPr lang="en-US" sz="950" dirty="0"/>
          </a:p>
        </p:txBody>
      </p:sp>
      <p:sp>
        <p:nvSpPr>
          <p:cNvPr id="45" name="Text 43"/>
          <p:cNvSpPr/>
          <p:nvPr/>
        </p:nvSpPr>
        <p:spPr>
          <a:xfrm>
            <a:off x="7031736" y="1819656"/>
            <a:ext cx="1408176" cy="210312"/>
          </a:xfrm>
          <a:prstGeom prst="rect">
            <a:avLst/>
          </a:prstGeom>
          <a:noFill/>
          <a:ln/>
        </p:spPr>
        <p:txBody>
          <a:bodyPr wrap="square" rtlCol="0" anchor="ctr"/>
          <a:lstStyle/>
          <a:p>
            <a:pPr indent="0" marL="0">
              <a:lnSpc>
                <a:spcPct val="100000"/>
              </a:lnSpc>
              <a:buNone/>
            </a:pPr>
            <a:r>
              <a:rPr lang="en-US" sz="850" dirty="0">
                <a:solidFill>
                  <a:srgbClr val="475569"/>
                </a:solidFill>
                <a:latin typeface="Calibri" pitchFamily="34" charset="0"/>
                <a:ea typeface="Calibri" pitchFamily="34" charset="-122"/>
                <a:cs typeface="Calibri" pitchFamily="34" charset="-120"/>
              </a:rPr>
              <a:t>•  User-scoped document storage</a:t>
            </a:r>
            <a:endParaRPr lang="en-US" sz="850" dirty="0"/>
          </a:p>
        </p:txBody>
      </p:sp>
      <p:sp>
        <p:nvSpPr>
          <p:cNvPr id="46" name="Text 44"/>
          <p:cNvSpPr/>
          <p:nvPr/>
        </p:nvSpPr>
        <p:spPr>
          <a:xfrm>
            <a:off x="7031736" y="2048256"/>
            <a:ext cx="1408176" cy="210312"/>
          </a:xfrm>
          <a:prstGeom prst="rect">
            <a:avLst/>
          </a:prstGeom>
          <a:noFill/>
          <a:ln/>
        </p:spPr>
        <p:txBody>
          <a:bodyPr wrap="square" rtlCol="0" anchor="ctr"/>
          <a:lstStyle/>
          <a:p>
            <a:pPr indent="0" marL="0">
              <a:lnSpc>
                <a:spcPct val="100000"/>
              </a:lnSpc>
              <a:buNone/>
            </a:pPr>
            <a:r>
              <a:rPr lang="en-US" sz="850" dirty="0">
                <a:solidFill>
                  <a:srgbClr val="475569"/>
                </a:solidFill>
                <a:latin typeface="Calibri" pitchFamily="34" charset="0"/>
                <a:ea typeface="Calibri" pitchFamily="34" charset="-122"/>
                <a:cs typeface="Calibri" pitchFamily="34" charset="-120"/>
              </a:rPr>
              <a:t>•  Lab reports, prescriptions, bills</a:t>
            </a:r>
            <a:endParaRPr lang="en-US" sz="850" dirty="0"/>
          </a:p>
        </p:txBody>
      </p:sp>
      <p:sp>
        <p:nvSpPr>
          <p:cNvPr id="47" name="Text 45"/>
          <p:cNvSpPr/>
          <p:nvPr/>
        </p:nvSpPr>
        <p:spPr>
          <a:xfrm>
            <a:off x="7031736" y="2276856"/>
            <a:ext cx="1408176" cy="210312"/>
          </a:xfrm>
          <a:prstGeom prst="rect">
            <a:avLst/>
          </a:prstGeom>
          <a:noFill/>
          <a:ln/>
        </p:spPr>
        <p:txBody>
          <a:bodyPr wrap="square" rtlCol="0" anchor="ctr"/>
          <a:lstStyle/>
          <a:p>
            <a:pPr indent="0" marL="0">
              <a:lnSpc>
                <a:spcPct val="100000"/>
              </a:lnSpc>
              <a:buNone/>
            </a:pPr>
            <a:r>
              <a:rPr lang="en-US" sz="850" dirty="0">
                <a:solidFill>
                  <a:srgbClr val="475569"/>
                </a:solidFill>
                <a:latin typeface="Calibri" pitchFamily="34" charset="0"/>
                <a:ea typeface="Calibri" pitchFamily="34" charset="-122"/>
                <a:cs typeface="Calibri" pitchFamily="34" charset="-120"/>
              </a:rPr>
              <a:t>•  Discharge summaries &amp; imaging</a:t>
            </a:r>
            <a:endParaRPr lang="en-US" sz="850" dirty="0"/>
          </a:p>
        </p:txBody>
      </p:sp>
      <p:sp>
        <p:nvSpPr>
          <p:cNvPr id="48" name="Text 46"/>
          <p:cNvSpPr/>
          <p:nvPr/>
        </p:nvSpPr>
        <p:spPr>
          <a:xfrm>
            <a:off x="7031736" y="2505456"/>
            <a:ext cx="1408176" cy="210312"/>
          </a:xfrm>
          <a:prstGeom prst="rect">
            <a:avLst/>
          </a:prstGeom>
          <a:noFill/>
          <a:ln/>
        </p:spPr>
        <p:txBody>
          <a:bodyPr wrap="square" rtlCol="0" anchor="ctr"/>
          <a:lstStyle/>
          <a:p>
            <a:pPr indent="0" marL="0">
              <a:lnSpc>
                <a:spcPct val="100000"/>
              </a:lnSpc>
              <a:buNone/>
            </a:pPr>
            <a:r>
              <a:rPr lang="en-US" sz="850" dirty="0">
                <a:solidFill>
                  <a:srgbClr val="475569"/>
                </a:solidFill>
                <a:latin typeface="Calibri" pitchFamily="34" charset="0"/>
                <a:ea typeface="Calibri" pitchFamily="34" charset="-122"/>
                <a:cs typeface="Calibri" pitchFamily="34" charset="-120"/>
              </a:rPr>
              <a:t>•  Encrypted, authenticated access</a:t>
            </a:r>
            <a:endParaRPr lang="en-US" sz="850" dirty="0"/>
          </a:p>
        </p:txBody>
      </p:sp>
      <p:sp>
        <p:nvSpPr>
          <p:cNvPr id="49" name="Shape 47"/>
          <p:cNvSpPr/>
          <p:nvPr/>
        </p:nvSpPr>
        <p:spPr>
          <a:xfrm>
            <a:off x="457200" y="4663440"/>
            <a:ext cx="8229600" cy="329184"/>
          </a:xfrm>
          <a:prstGeom prst="ROUNDED_RECTANGLE">
            <a:avLst>
              <a:gd name="adj" fmla="val 16667"/>
            </a:avLst>
          </a:prstGeom>
          <a:solidFill>
            <a:srgbClr val="E6F7F5"/>
          </a:solidFill>
          <a:ln w="12700">
            <a:solidFill>
              <a:srgbClr val="E6F5F4"/>
            </a:solidFill>
            <a:prstDash val="solid"/>
          </a:ln>
        </p:spPr>
      </p:sp>
      <p:sp>
        <p:nvSpPr>
          <p:cNvPr id="50" name="Text 48"/>
          <p:cNvSpPr/>
          <p:nvPr/>
        </p:nvSpPr>
        <p:spPr>
          <a:xfrm>
            <a:off x="594360" y="4681728"/>
            <a:ext cx="7955280" cy="274320"/>
          </a:xfrm>
          <a:prstGeom prst="rect">
            <a:avLst/>
          </a:prstGeom>
          <a:noFill/>
          <a:ln/>
        </p:spPr>
        <p:txBody>
          <a:bodyPr wrap="square" lIns="0" tIns="0" rIns="0" bIns="0" rtlCol="0" anchor="ctr"/>
          <a:lstStyle/>
          <a:p>
            <a:pPr indent="0" marL="0">
              <a:buNone/>
            </a:pPr>
            <a:r>
              <a:rPr lang="en-US" sz="950" b="1" dirty="0">
                <a:solidFill>
                  <a:srgbClr val="1A8884"/>
                </a:solidFill>
                <a:latin typeface="Calibri" pitchFamily="34" charset="0"/>
                <a:ea typeface="Calibri" pitchFamily="34" charset="-122"/>
                <a:cs typeface="Calibri" pitchFamily="34" charset="-120"/>
              </a:rPr>
              <a:t>✅  All 5 features are implemented and functional in the Phase 1 MVP.  Phase 2 &amp; 3 features are roadmap only.</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2030"/>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AI Bill Analyzer — End-to-End Workflow</a:t>
            </a:r>
            <a:endParaRPr lang="en-US" sz="2600" dirty="0"/>
          </a:p>
        </p:txBody>
      </p:sp>
      <p:sp>
        <p:nvSpPr>
          <p:cNvPr id="3" name="Shape 1"/>
          <p:cNvSpPr/>
          <p:nvPr/>
        </p:nvSpPr>
        <p:spPr>
          <a:xfrm>
            <a:off x="457200" y="749808"/>
            <a:ext cx="384048" cy="50292"/>
          </a:xfrm>
          <a:prstGeom prst="ROUNDED_RECTANGLE">
            <a:avLst>
              <a:gd name="adj" fmla="val 54545"/>
            </a:avLst>
          </a:prstGeom>
          <a:solidFill>
            <a:srgbClr val="12B5A8"/>
          </a:solidFill>
          <a:ln w="12700">
            <a:solidFill>
              <a:srgbClr val="12B5A8"/>
            </a:solidFill>
            <a:prstDash val="solid"/>
          </a:ln>
        </p:spPr>
      </p:sp>
      <p:sp>
        <p:nvSpPr>
          <p:cNvPr id="4" name="Shape 2"/>
          <p:cNvSpPr/>
          <p:nvPr/>
        </p:nvSpPr>
        <p:spPr>
          <a:xfrm>
            <a:off x="338328" y="960120"/>
            <a:ext cx="1088136" cy="768096"/>
          </a:xfrm>
          <a:prstGeom prst="ROUNDED_RECTANGLE">
            <a:avLst>
              <a:gd name="adj" fmla="val 8333"/>
            </a:avLst>
          </a:prstGeom>
          <a:solidFill>
            <a:srgbClr val="162635"/>
          </a:solidFill>
          <a:ln w="12700">
            <a:solidFill>
              <a:srgbClr val="1E3A50"/>
            </a:solidFill>
            <a:prstDash val="solid"/>
          </a:ln>
        </p:spPr>
      </p:sp>
      <p:sp>
        <p:nvSpPr>
          <p:cNvPr id="5" name="Text 3"/>
          <p:cNvSpPr/>
          <p:nvPr/>
        </p:nvSpPr>
        <p:spPr>
          <a:xfrm>
            <a:off x="338328" y="1005840"/>
            <a:ext cx="1088136" cy="310896"/>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6" name="Text 4"/>
          <p:cNvSpPr/>
          <p:nvPr/>
        </p:nvSpPr>
        <p:spPr>
          <a:xfrm>
            <a:off x="374904" y="1344168"/>
            <a:ext cx="1014984" cy="347472"/>
          </a:xfrm>
          <a:prstGeom prst="rect">
            <a:avLst/>
          </a:prstGeom>
          <a:noFill/>
          <a:ln/>
        </p:spPr>
        <p:txBody>
          <a:bodyPr wrap="square" rtlCol="0" anchor="ctr"/>
          <a:lstStyle/>
          <a:p>
            <a:pPr algn="ctr" indent="0" marL="0">
              <a:lnSpc>
                <a:spcPct val="100000"/>
              </a:lnSpc>
              <a:buNone/>
            </a:pPr>
            <a:r>
              <a:rPr lang="en-US" sz="800" b="1" dirty="0">
                <a:solidFill>
                  <a:srgbClr val="FFFFFF"/>
                </a:solidFill>
                <a:latin typeface="Calibri" pitchFamily="34" charset="0"/>
                <a:ea typeface="Calibri" pitchFamily="34" charset="-122"/>
                <a:cs typeface="Calibri" pitchFamily="34" charset="-120"/>
              </a:rPr>
              <a:t>Upload</a:t>
            </a:r>
            <a:endParaRPr lang="en-US" sz="800" dirty="0"/>
          </a:p>
          <a:p>
            <a:pPr algn="ctr" indent="0" marL="0">
              <a:lnSpc>
                <a:spcPct val="100000"/>
              </a:lnSpc>
              <a:buNone/>
            </a:pPr>
            <a:r>
              <a:rPr lang="en-US" sz="800" b="1" dirty="0">
                <a:solidFill>
                  <a:srgbClr val="FFFFFF"/>
                </a:solidFill>
                <a:latin typeface="Calibri" pitchFamily="34" charset="0"/>
                <a:ea typeface="Calibri" pitchFamily="34" charset="-122"/>
                <a:cs typeface="Calibri" pitchFamily="34" charset="-120"/>
              </a:rPr>
              <a:t>Bill</a:t>
            </a:r>
            <a:endParaRPr lang="en-US" sz="800" dirty="0"/>
          </a:p>
        </p:txBody>
      </p:sp>
      <p:sp>
        <p:nvSpPr>
          <p:cNvPr id="7" name="Shape 5"/>
          <p:cNvSpPr/>
          <p:nvPr/>
        </p:nvSpPr>
        <p:spPr>
          <a:xfrm>
            <a:off x="1426464" y="1335024"/>
            <a:ext cx="68580" cy="18288"/>
          </a:xfrm>
          <a:prstGeom prst="RECTANGLE">
            <a:avLst/>
          </a:prstGeom>
          <a:solidFill>
            <a:srgbClr val="12B5A8"/>
          </a:solidFill>
          <a:ln w="12700">
            <a:solidFill>
              <a:srgbClr val="12B5A8"/>
            </a:solidFill>
            <a:prstDash val="solid"/>
          </a:ln>
        </p:spPr>
      </p:sp>
      <p:sp>
        <p:nvSpPr>
          <p:cNvPr id="8" name="Shape 6"/>
          <p:cNvSpPr/>
          <p:nvPr/>
        </p:nvSpPr>
        <p:spPr>
          <a:xfrm>
            <a:off x="1495044" y="960120"/>
            <a:ext cx="1088136" cy="768096"/>
          </a:xfrm>
          <a:prstGeom prst="ROUNDED_RECTANGLE">
            <a:avLst>
              <a:gd name="adj" fmla="val 8333"/>
            </a:avLst>
          </a:prstGeom>
          <a:solidFill>
            <a:srgbClr val="162635"/>
          </a:solidFill>
          <a:ln w="12700">
            <a:solidFill>
              <a:srgbClr val="1E3A50"/>
            </a:solidFill>
            <a:prstDash val="solid"/>
          </a:ln>
        </p:spPr>
      </p:sp>
      <p:sp>
        <p:nvSpPr>
          <p:cNvPr id="9" name="Text 7"/>
          <p:cNvSpPr/>
          <p:nvPr/>
        </p:nvSpPr>
        <p:spPr>
          <a:xfrm>
            <a:off x="1495044" y="1005840"/>
            <a:ext cx="1088136" cy="310896"/>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0" name="Text 8"/>
          <p:cNvSpPr/>
          <p:nvPr/>
        </p:nvSpPr>
        <p:spPr>
          <a:xfrm>
            <a:off x="1531620" y="1344168"/>
            <a:ext cx="1014984" cy="347472"/>
          </a:xfrm>
          <a:prstGeom prst="rect">
            <a:avLst/>
          </a:prstGeom>
          <a:noFill/>
          <a:ln/>
        </p:spPr>
        <p:txBody>
          <a:bodyPr wrap="square" rtlCol="0" anchor="ctr"/>
          <a:lstStyle/>
          <a:p>
            <a:pPr algn="ctr" indent="0" marL="0">
              <a:lnSpc>
                <a:spcPct val="100000"/>
              </a:lnSpc>
              <a:buNone/>
            </a:pPr>
            <a:r>
              <a:rPr lang="en-US" sz="800" b="1" dirty="0">
                <a:solidFill>
                  <a:srgbClr val="FFFFFF"/>
                </a:solidFill>
                <a:latin typeface="Calibri" pitchFamily="34" charset="0"/>
                <a:ea typeface="Calibri" pitchFamily="34" charset="-122"/>
                <a:cs typeface="Calibri" pitchFamily="34" charset="-120"/>
              </a:rPr>
              <a:t>Extract</a:t>
            </a:r>
            <a:endParaRPr lang="en-US" sz="800" dirty="0"/>
          </a:p>
          <a:p>
            <a:pPr algn="ctr" indent="0" marL="0">
              <a:lnSpc>
                <a:spcPct val="100000"/>
              </a:lnSpc>
              <a:buNone/>
            </a:pPr>
            <a:r>
              <a:rPr lang="en-US" sz="800" b="1" dirty="0">
                <a:solidFill>
                  <a:srgbClr val="FFFFFF"/>
                </a:solidFill>
                <a:latin typeface="Calibri" pitchFamily="34" charset="0"/>
                <a:ea typeface="Calibri" pitchFamily="34" charset="-122"/>
                <a:cs typeface="Calibri" pitchFamily="34" charset="-120"/>
              </a:rPr>
              <a:t>Line Items</a:t>
            </a:r>
            <a:endParaRPr lang="en-US" sz="800" dirty="0"/>
          </a:p>
        </p:txBody>
      </p:sp>
      <p:sp>
        <p:nvSpPr>
          <p:cNvPr id="11" name="Shape 9"/>
          <p:cNvSpPr/>
          <p:nvPr/>
        </p:nvSpPr>
        <p:spPr>
          <a:xfrm>
            <a:off x="2583180" y="1335024"/>
            <a:ext cx="68580" cy="18288"/>
          </a:xfrm>
          <a:prstGeom prst="RECTANGLE">
            <a:avLst/>
          </a:prstGeom>
          <a:solidFill>
            <a:srgbClr val="12B5A8"/>
          </a:solidFill>
          <a:ln w="12700">
            <a:solidFill>
              <a:srgbClr val="12B5A8"/>
            </a:solidFill>
            <a:prstDash val="solid"/>
          </a:ln>
        </p:spPr>
      </p:sp>
      <p:sp>
        <p:nvSpPr>
          <p:cNvPr id="12" name="Shape 10"/>
          <p:cNvSpPr/>
          <p:nvPr/>
        </p:nvSpPr>
        <p:spPr>
          <a:xfrm>
            <a:off x="2651760" y="960120"/>
            <a:ext cx="1088136" cy="768096"/>
          </a:xfrm>
          <a:prstGeom prst="ROUNDED_RECTANGLE">
            <a:avLst>
              <a:gd name="adj" fmla="val 8333"/>
            </a:avLst>
          </a:prstGeom>
          <a:solidFill>
            <a:srgbClr val="162635"/>
          </a:solidFill>
          <a:ln w="12700">
            <a:solidFill>
              <a:srgbClr val="1E3A50"/>
            </a:solidFill>
            <a:prstDash val="solid"/>
          </a:ln>
        </p:spPr>
      </p:sp>
      <p:sp>
        <p:nvSpPr>
          <p:cNvPr id="13" name="Text 11"/>
          <p:cNvSpPr/>
          <p:nvPr/>
        </p:nvSpPr>
        <p:spPr>
          <a:xfrm>
            <a:off x="2651760" y="1005840"/>
            <a:ext cx="1088136" cy="310896"/>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4" name="Text 12"/>
          <p:cNvSpPr/>
          <p:nvPr/>
        </p:nvSpPr>
        <p:spPr>
          <a:xfrm>
            <a:off x="2688336" y="1344168"/>
            <a:ext cx="1014984" cy="347472"/>
          </a:xfrm>
          <a:prstGeom prst="rect">
            <a:avLst/>
          </a:prstGeom>
          <a:noFill/>
          <a:ln/>
        </p:spPr>
        <p:txBody>
          <a:bodyPr wrap="square" rtlCol="0" anchor="ctr"/>
          <a:lstStyle/>
          <a:p>
            <a:pPr algn="ctr" indent="0" marL="0">
              <a:lnSpc>
                <a:spcPct val="100000"/>
              </a:lnSpc>
              <a:buNone/>
            </a:pPr>
            <a:r>
              <a:rPr lang="en-US" sz="800" b="1" dirty="0">
                <a:solidFill>
                  <a:srgbClr val="FFFFFF"/>
                </a:solidFill>
                <a:latin typeface="Calibri" pitchFamily="34" charset="0"/>
                <a:ea typeface="Calibri" pitchFamily="34" charset="-122"/>
                <a:cs typeface="Calibri" pitchFamily="34" charset="-120"/>
              </a:rPr>
              <a:t>Claude AI</a:t>
            </a:r>
            <a:endParaRPr lang="en-US" sz="800" dirty="0"/>
          </a:p>
          <a:p>
            <a:pPr algn="ctr" indent="0" marL="0">
              <a:lnSpc>
                <a:spcPct val="100000"/>
              </a:lnSpc>
              <a:buNone/>
            </a:pPr>
            <a:r>
              <a:rPr lang="en-US" sz="800" b="1" dirty="0">
                <a:solidFill>
                  <a:srgbClr val="FFFFFF"/>
                </a:solidFill>
                <a:latin typeface="Calibri" pitchFamily="34" charset="0"/>
                <a:ea typeface="Calibri" pitchFamily="34" charset="-122"/>
                <a:cs typeface="Calibri" pitchFamily="34" charset="-120"/>
              </a:rPr>
              <a:t>Analysis</a:t>
            </a:r>
            <a:endParaRPr lang="en-US" sz="800" dirty="0"/>
          </a:p>
        </p:txBody>
      </p:sp>
      <p:sp>
        <p:nvSpPr>
          <p:cNvPr id="15" name="Shape 13"/>
          <p:cNvSpPr/>
          <p:nvPr/>
        </p:nvSpPr>
        <p:spPr>
          <a:xfrm>
            <a:off x="3739896" y="1335024"/>
            <a:ext cx="68580" cy="18288"/>
          </a:xfrm>
          <a:prstGeom prst="RECTANGLE">
            <a:avLst/>
          </a:prstGeom>
          <a:solidFill>
            <a:srgbClr val="12B5A8"/>
          </a:solidFill>
          <a:ln w="12700">
            <a:solidFill>
              <a:srgbClr val="12B5A8"/>
            </a:solidFill>
            <a:prstDash val="solid"/>
          </a:ln>
        </p:spPr>
      </p:sp>
      <p:sp>
        <p:nvSpPr>
          <p:cNvPr id="16" name="Shape 14"/>
          <p:cNvSpPr/>
          <p:nvPr/>
        </p:nvSpPr>
        <p:spPr>
          <a:xfrm>
            <a:off x="3808476" y="960120"/>
            <a:ext cx="1088136" cy="768096"/>
          </a:xfrm>
          <a:prstGeom prst="ROUNDED_RECTANGLE">
            <a:avLst>
              <a:gd name="adj" fmla="val 8333"/>
            </a:avLst>
          </a:prstGeom>
          <a:solidFill>
            <a:srgbClr val="162635"/>
          </a:solidFill>
          <a:ln w="12700">
            <a:solidFill>
              <a:srgbClr val="1E3A50"/>
            </a:solidFill>
            <a:prstDash val="solid"/>
          </a:ln>
        </p:spPr>
      </p:sp>
      <p:sp>
        <p:nvSpPr>
          <p:cNvPr id="17" name="Text 15"/>
          <p:cNvSpPr/>
          <p:nvPr/>
        </p:nvSpPr>
        <p:spPr>
          <a:xfrm>
            <a:off x="3808476" y="1005840"/>
            <a:ext cx="1088136" cy="310896"/>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8" name="Text 16"/>
          <p:cNvSpPr/>
          <p:nvPr/>
        </p:nvSpPr>
        <p:spPr>
          <a:xfrm>
            <a:off x="3845052" y="1344168"/>
            <a:ext cx="1014984" cy="347472"/>
          </a:xfrm>
          <a:prstGeom prst="rect">
            <a:avLst/>
          </a:prstGeom>
          <a:noFill/>
          <a:ln/>
        </p:spPr>
        <p:txBody>
          <a:bodyPr wrap="square" rtlCol="0" anchor="ctr"/>
          <a:lstStyle/>
          <a:p>
            <a:pPr algn="ctr" indent="0" marL="0">
              <a:lnSpc>
                <a:spcPct val="100000"/>
              </a:lnSpc>
              <a:buNone/>
            </a:pPr>
            <a:r>
              <a:rPr lang="en-US" sz="800" b="1" dirty="0">
                <a:solidFill>
                  <a:srgbClr val="FFFFFF"/>
                </a:solidFill>
                <a:latin typeface="Calibri" pitchFamily="34" charset="0"/>
                <a:ea typeface="Calibri" pitchFamily="34" charset="-122"/>
                <a:cs typeface="Calibri" pitchFamily="34" charset="-120"/>
              </a:rPr>
              <a:t>Compare</a:t>
            </a:r>
            <a:endParaRPr lang="en-US" sz="800" dirty="0"/>
          </a:p>
          <a:p>
            <a:pPr algn="ctr" indent="0" marL="0">
              <a:lnSpc>
                <a:spcPct val="100000"/>
              </a:lnSpc>
              <a:buNone/>
            </a:pPr>
            <a:r>
              <a:rPr lang="en-US" sz="800" b="1" dirty="0">
                <a:solidFill>
                  <a:srgbClr val="FFFFFF"/>
                </a:solidFill>
                <a:latin typeface="Calibri" pitchFamily="34" charset="0"/>
                <a:ea typeface="Calibri" pitchFamily="34" charset="-122"/>
                <a:cs typeface="Calibri" pitchFamily="34" charset="-120"/>
              </a:rPr>
              <a:t>Charges</a:t>
            </a:r>
            <a:endParaRPr lang="en-US" sz="800" dirty="0"/>
          </a:p>
        </p:txBody>
      </p:sp>
      <p:sp>
        <p:nvSpPr>
          <p:cNvPr id="19" name="Shape 17"/>
          <p:cNvSpPr/>
          <p:nvPr/>
        </p:nvSpPr>
        <p:spPr>
          <a:xfrm>
            <a:off x="4896612" y="1335024"/>
            <a:ext cx="68580" cy="18288"/>
          </a:xfrm>
          <a:prstGeom prst="RECTANGLE">
            <a:avLst/>
          </a:prstGeom>
          <a:solidFill>
            <a:srgbClr val="12B5A8"/>
          </a:solidFill>
          <a:ln w="12700">
            <a:solidFill>
              <a:srgbClr val="12B5A8"/>
            </a:solidFill>
            <a:prstDash val="solid"/>
          </a:ln>
        </p:spPr>
      </p:sp>
      <p:sp>
        <p:nvSpPr>
          <p:cNvPr id="20" name="Shape 18"/>
          <p:cNvSpPr/>
          <p:nvPr/>
        </p:nvSpPr>
        <p:spPr>
          <a:xfrm>
            <a:off x="4965192" y="960120"/>
            <a:ext cx="1088136" cy="768096"/>
          </a:xfrm>
          <a:prstGeom prst="ROUNDED_RECTANGLE">
            <a:avLst>
              <a:gd name="adj" fmla="val 8333"/>
            </a:avLst>
          </a:prstGeom>
          <a:solidFill>
            <a:srgbClr val="162635"/>
          </a:solidFill>
          <a:ln w="12700">
            <a:solidFill>
              <a:srgbClr val="1E3A50"/>
            </a:solidFill>
            <a:prstDash val="solid"/>
          </a:ln>
        </p:spPr>
      </p:sp>
      <p:sp>
        <p:nvSpPr>
          <p:cNvPr id="21" name="Text 19"/>
          <p:cNvSpPr/>
          <p:nvPr/>
        </p:nvSpPr>
        <p:spPr>
          <a:xfrm>
            <a:off x="4965192" y="1005840"/>
            <a:ext cx="1088136" cy="310896"/>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2" name="Text 20"/>
          <p:cNvSpPr/>
          <p:nvPr/>
        </p:nvSpPr>
        <p:spPr>
          <a:xfrm>
            <a:off x="5001768" y="1344168"/>
            <a:ext cx="1014984" cy="347472"/>
          </a:xfrm>
          <a:prstGeom prst="rect">
            <a:avLst/>
          </a:prstGeom>
          <a:noFill/>
          <a:ln/>
        </p:spPr>
        <p:txBody>
          <a:bodyPr wrap="square" rtlCol="0" anchor="ctr"/>
          <a:lstStyle/>
          <a:p>
            <a:pPr algn="ctr" indent="0" marL="0">
              <a:lnSpc>
                <a:spcPct val="100000"/>
              </a:lnSpc>
              <a:buNone/>
            </a:pPr>
            <a:r>
              <a:rPr lang="en-US" sz="800" b="1" dirty="0">
                <a:solidFill>
                  <a:srgbClr val="FFFFFF"/>
                </a:solidFill>
                <a:latin typeface="Calibri" pitchFamily="34" charset="0"/>
                <a:ea typeface="Calibri" pitchFamily="34" charset="-122"/>
                <a:cs typeface="Calibri" pitchFamily="34" charset="-120"/>
              </a:rPr>
              <a:t>Identify</a:t>
            </a:r>
            <a:endParaRPr lang="en-US" sz="800" dirty="0"/>
          </a:p>
          <a:p>
            <a:pPr algn="ctr" indent="0" marL="0">
              <a:lnSpc>
                <a:spcPct val="100000"/>
              </a:lnSpc>
              <a:buNone/>
            </a:pPr>
            <a:r>
              <a:rPr lang="en-US" sz="800" b="1" dirty="0">
                <a:solidFill>
                  <a:srgbClr val="FFFFFF"/>
                </a:solidFill>
                <a:latin typeface="Calibri" pitchFamily="34" charset="0"/>
                <a:ea typeface="Calibri" pitchFamily="34" charset="-122"/>
                <a:cs typeface="Calibri" pitchFamily="34" charset="-120"/>
              </a:rPr>
              <a:t>Variances</a:t>
            </a:r>
            <a:endParaRPr lang="en-US" sz="800" dirty="0"/>
          </a:p>
        </p:txBody>
      </p:sp>
      <p:sp>
        <p:nvSpPr>
          <p:cNvPr id="23" name="Shape 21"/>
          <p:cNvSpPr/>
          <p:nvPr/>
        </p:nvSpPr>
        <p:spPr>
          <a:xfrm>
            <a:off x="6053328" y="1335024"/>
            <a:ext cx="68580" cy="18288"/>
          </a:xfrm>
          <a:prstGeom prst="RECTANGLE">
            <a:avLst/>
          </a:prstGeom>
          <a:solidFill>
            <a:srgbClr val="12B5A8"/>
          </a:solidFill>
          <a:ln w="12700">
            <a:solidFill>
              <a:srgbClr val="12B5A8"/>
            </a:solidFill>
            <a:prstDash val="solid"/>
          </a:ln>
        </p:spPr>
      </p:sp>
      <p:sp>
        <p:nvSpPr>
          <p:cNvPr id="24" name="Shape 22"/>
          <p:cNvSpPr/>
          <p:nvPr/>
        </p:nvSpPr>
        <p:spPr>
          <a:xfrm>
            <a:off x="6121908" y="960120"/>
            <a:ext cx="1088136" cy="768096"/>
          </a:xfrm>
          <a:prstGeom prst="ROUNDED_RECTANGLE">
            <a:avLst>
              <a:gd name="adj" fmla="val 8333"/>
            </a:avLst>
          </a:prstGeom>
          <a:solidFill>
            <a:srgbClr val="162635"/>
          </a:solidFill>
          <a:ln w="12700">
            <a:solidFill>
              <a:srgbClr val="1E3A50"/>
            </a:solidFill>
            <a:prstDash val="solid"/>
          </a:ln>
        </p:spPr>
      </p:sp>
      <p:sp>
        <p:nvSpPr>
          <p:cNvPr id="25" name="Text 23"/>
          <p:cNvSpPr/>
          <p:nvPr/>
        </p:nvSpPr>
        <p:spPr>
          <a:xfrm>
            <a:off x="6121908" y="1005840"/>
            <a:ext cx="1088136" cy="310896"/>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6" name="Text 24"/>
          <p:cNvSpPr/>
          <p:nvPr/>
        </p:nvSpPr>
        <p:spPr>
          <a:xfrm>
            <a:off x="6158484" y="1344168"/>
            <a:ext cx="1014984" cy="347472"/>
          </a:xfrm>
          <a:prstGeom prst="rect">
            <a:avLst/>
          </a:prstGeom>
          <a:noFill/>
          <a:ln/>
        </p:spPr>
        <p:txBody>
          <a:bodyPr wrap="square" rtlCol="0" anchor="ctr"/>
          <a:lstStyle/>
          <a:p>
            <a:pPr algn="ctr" indent="0" marL="0">
              <a:lnSpc>
                <a:spcPct val="100000"/>
              </a:lnSpc>
              <a:buNone/>
            </a:pPr>
            <a:r>
              <a:rPr lang="en-US" sz="800" b="1" dirty="0">
                <a:solidFill>
                  <a:srgbClr val="FFFFFF"/>
                </a:solidFill>
                <a:latin typeface="Calibri" pitchFamily="34" charset="0"/>
                <a:ea typeface="Calibri" pitchFamily="34" charset="-122"/>
                <a:cs typeface="Calibri" pitchFamily="34" charset="-120"/>
              </a:rPr>
              <a:t>Confidence</a:t>
            </a:r>
            <a:endParaRPr lang="en-US" sz="800" dirty="0"/>
          </a:p>
          <a:p>
            <a:pPr algn="ctr" indent="0" marL="0">
              <a:lnSpc>
                <a:spcPct val="100000"/>
              </a:lnSpc>
              <a:buNone/>
            </a:pPr>
            <a:r>
              <a:rPr lang="en-US" sz="800" b="1" dirty="0">
                <a:solidFill>
                  <a:srgbClr val="FFFFFF"/>
                </a:solidFill>
                <a:latin typeface="Calibri" pitchFamily="34" charset="0"/>
                <a:ea typeface="Calibri" pitchFamily="34" charset="-122"/>
                <a:cs typeface="Calibri" pitchFamily="34" charset="-120"/>
              </a:rPr>
              <a:t>Score</a:t>
            </a:r>
            <a:endParaRPr lang="en-US" sz="800" dirty="0"/>
          </a:p>
        </p:txBody>
      </p:sp>
      <p:sp>
        <p:nvSpPr>
          <p:cNvPr id="27" name="Shape 25"/>
          <p:cNvSpPr/>
          <p:nvPr/>
        </p:nvSpPr>
        <p:spPr>
          <a:xfrm>
            <a:off x="7210044" y="1335024"/>
            <a:ext cx="68580" cy="18288"/>
          </a:xfrm>
          <a:prstGeom prst="RECTANGLE">
            <a:avLst/>
          </a:prstGeom>
          <a:solidFill>
            <a:srgbClr val="12B5A8"/>
          </a:solidFill>
          <a:ln w="12700">
            <a:solidFill>
              <a:srgbClr val="12B5A8"/>
            </a:solidFill>
            <a:prstDash val="solid"/>
          </a:ln>
        </p:spPr>
      </p:sp>
      <p:sp>
        <p:nvSpPr>
          <p:cNvPr id="28" name="Shape 26"/>
          <p:cNvSpPr/>
          <p:nvPr/>
        </p:nvSpPr>
        <p:spPr>
          <a:xfrm>
            <a:off x="7278624" y="960120"/>
            <a:ext cx="1088136" cy="768096"/>
          </a:xfrm>
          <a:prstGeom prst="ROUNDED_RECTANGLE">
            <a:avLst>
              <a:gd name="adj" fmla="val 8333"/>
            </a:avLst>
          </a:prstGeom>
          <a:solidFill>
            <a:srgbClr val="162635"/>
          </a:solidFill>
          <a:ln w="12700">
            <a:solidFill>
              <a:srgbClr val="1E3A50"/>
            </a:solidFill>
            <a:prstDash val="solid"/>
          </a:ln>
        </p:spPr>
      </p:sp>
      <p:sp>
        <p:nvSpPr>
          <p:cNvPr id="29" name="Text 27"/>
          <p:cNvSpPr/>
          <p:nvPr/>
        </p:nvSpPr>
        <p:spPr>
          <a:xfrm>
            <a:off x="7278624" y="1005840"/>
            <a:ext cx="1088136" cy="310896"/>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30" name="Text 28"/>
          <p:cNvSpPr/>
          <p:nvPr/>
        </p:nvSpPr>
        <p:spPr>
          <a:xfrm>
            <a:off x="7315200" y="1344168"/>
            <a:ext cx="1014984" cy="347472"/>
          </a:xfrm>
          <a:prstGeom prst="rect">
            <a:avLst/>
          </a:prstGeom>
          <a:noFill/>
          <a:ln/>
        </p:spPr>
        <p:txBody>
          <a:bodyPr wrap="square" rtlCol="0" anchor="ctr"/>
          <a:lstStyle/>
          <a:p>
            <a:pPr algn="ctr" indent="0" marL="0">
              <a:lnSpc>
                <a:spcPct val="100000"/>
              </a:lnSpc>
              <a:buNone/>
            </a:pPr>
            <a:r>
              <a:rPr lang="en-US" sz="800" b="1" dirty="0">
                <a:solidFill>
                  <a:srgbClr val="FFFFFF"/>
                </a:solidFill>
                <a:latin typeface="Calibri" pitchFamily="34" charset="0"/>
                <a:ea typeface="Calibri" pitchFamily="34" charset="-122"/>
                <a:cs typeface="Calibri" pitchFamily="34" charset="-120"/>
              </a:rPr>
              <a:t>Dispute</a:t>
            </a:r>
            <a:endParaRPr lang="en-US" sz="800" dirty="0"/>
          </a:p>
          <a:p>
            <a:pPr algn="ctr" indent="0" marL="0">
              <a:lnSpc>
                <a:spcPct val="100000"/>
              </a:lnSpc>
              <a:buNone/>
            </a:pPr>
            <a:r>
              <a:rPr lang="en-US" sz="800" b="1" dirty="0">
                <a:solidFill>
                  <a:srgbClr val="FFFFFF"/>
                </a:solidFill>
                <a:latin typeface="Calibri" pitchFamily="34" charset="0"/>
                <a:ea typeface="Calibri" pitchFamily="34" charset="-122"/>
                <a:cs typeface="Calibri" pitchFamily="34" charset="-120"/>
              </a:rPr>
              <a:t>Guidance</a:t>
            </a:r>
            <a:endParaRPr lang="en-US" sz="800" dirty="0"/>
          </a:p>
        </p:txBody>
      </p:sp>
      <p:sp>
        <p:nvSpPr>
          <p:cNvPr id="31" name="Shape 29"/>
          <p:cNvSpPr/>
          <p:nvPr/>
        </p:nvSpPr>
        <p:spPr>
          <a:xfrm>
            <a:off x="457200" y="1901952"/>
            <a:ext cx="3931920" cy="1371600"/>
          </a:xfrm>
          <a:prstGeom prst="ROUNDED_RECTANGLE">
            <a:avLst>
              <a:gd name="adj" fmla="val 6000"/>
            </a:avLst>
          </a:prstGeom>
          <a:solidFill>
            <a:srgbClr val="162635"/>
          </a:solidFill>
          <a:ln w="12700">
            <a:solidFill>
              <a:srgbClr val="1E3A50"/>
            </a:solidFill>
            <a:prstDash val="solid"/>
          </a:ln>
        </p:spPr>
      </p:sp>
      <p:sp>
        <p:nvSpPr>
          <p:cNvPr id="32" name="Text 30"/>
          <p:cNvSpPr/>
          <p:nvPr/>
        </p:nvSpPr>
        <p:spPr>
          <a:xfrm>
            <a:off x="640080" y="1975104"/>
            <a:ext cx="3566160" cy="237744"/>
          </a:xfrm>
          <a:prstGeom prst="rect">
            <a:avLst/>
          </a:prstGeom>
          <a:noFill/>
          <a:ln/>
        </p:spPr>
        <p:txBody>
          <a:bodyPr wrap="square" rtlCol="0" anchor="ctr"/>
          <a:lstStyle/>
          <a:p>
            <a:pPr indent="0" marL="0">
              <a:buNone/>
            </a:pPr>
            <a:r>
              <a:rPr lang="en-US" sz="950" b="1" spc="80" kern="0" dirty="0">
                <a:solidFill>
                  <a:srgbClr val="B0C4C3"/>
                </a:solidFill>
                <a:latin typeface="Calibri" pitchFamily="34" charset="0"/>
                <a:ea typeface="Calibri" pitchFamily="34" charset="-122"/>
                <a:cs typeface="Calibri" pitchFamily="34" charset="-120"/>
              </a:rPr>
              <a:t>Real-World MVP Validation</a:t>
            </a:r>
            <a:endParaRPr lang="en-US" sz="950" dirty="0"/>
          </a:p>
        </p:txBody>
      </p:sp>
      <p:sp>
        <p:nvSpPr>
          <p:cNvPr id="33" name="Text 31"/>
          <p:cNvSpPr/>
          <p:nvPr/>
        </p:nvSpPr>
        <p:spPr>
          <a:xfrm>
            <a:off x="640080" y="2231136"/>
            <a:ext cx="3566160" cy="530352"/>
          </a:xfrm>
          <a:prstGeom prst="rect">
            <a:avLst/>
          </a:prstGeom>
          <a:noFill/>
          <a:ln/>
        </p:spPr>
        <p:txBody>
          <a:bodyPr wrap="square" lIns="0" tIns="0" rIns="0" bIns="0" rtlCol="0" anchor="ctr"/>
          <a:lstStyle/>
          <a:p>
            <a:pPr indent="0" marL="0">
              <a:buNone/>
            </a:pPr>
            <a:r>
              <a:rPr lang="en-US" sz="3600" b="1" dirty="0">
                <a:solidFill>
                  <a:srgbClr val="12B5A8"/>
                </a:solidFill>
                <a:latin typeface="Cambria" pitchFamily="34" charset="0"/>
                <a:ea typeface="Cambria" pitchFamily="34" charset="-122"/>
                <a:cs typeface="Cambria" pitchFamily="34" charset="-120"/>
              </a:rPr>
              <a:t>₹5.26 Lakh</a:t>
            </a:r>
            <a:endParaRPr lang="en-US" sz="3600" dirty="0"/>
          </a:p>
        </p:txBody>
      </p:sp>
      <p:sp>
        <p:nvSpPr>
          <p:cNvPr id="34" name="Text 32"/>
          <p:cNvSpPr/>
          <p:nvPr/>
        </p:nvSpPr>
        <p:spPr>
          <a:xfrm>
            <a:off x="640080" y="2761488"/>
            <a:ext cx="3566160" cy="237744"/>
          </a:xfrm>
          <a:prstGeom prst="rect">
            <a:avLst/>
          </a:prstGeom>
          <a:noFill/>
          <a:ln/>
        </p:spPr>
        <p:txBody>
          <a:bodyPr wrap="square" rtlCol="0" anchor="ctr"/>
          <a:lstStyle/>
          <a:p>
            <a:pPr indent="0" marL="0">
              <a:buNone/>
            </a:pPr>
            <a:r>
              <a:rPr lang="en-US" sz="950" dirty="0">
                <a:solidFill>
                  <a:srgbClr val="B0C4C3"/>
                </a:solidFill>
                <a:latin typeface="Calibri" pitchFamily="34" charset="0"/>
                <a:ea typeface="Calibri" pitchFamily="34" charset="-122"/>
                <a:cs typeface="Calibri" pitchFamily="34" charset="-120"/>
              </a:rPr>
              <a:t>Apollo Delhi hospital bill  ·  22 line items analyzed</a:t>
            </a:r>
            <a:endParaRPr lang="en-US" sz="950" dirty="0"/>
          </a:p>
        </p:txBody>
      </p:sp>
      <p:sp>
        <p:nvSpPr>
          <p:cNvPr id="35" name="Shape 33"/>
          <p:cNvSpPr/>
          <p:nvPr/>
        </p:nvSpPr>
        <p:spPr>
          <a:xfrm>
            <a:off x="640080" y="3035808"/>
            <a:ext cx="3383280" cy="10973"/>
          </a:xfrm>
          <a:prstGeom prst="RECTANGLE">
            <a:avLst/>
          </a:prstGeom>
          <a:solidFill>
            <a:srgbClr val="253B51"/>
          </a:solidFill>
          <a:ln w="12700">
            <a:solidFill>
              <a:srgbClr val="253B51"/>
            </a:solidFill>
            <a:prstDash val="solid"/>
          </a:ln>
        </p:spPr>
      </p:sp>
      <p:sp>
        <p:nvSpPr>
          <p:cNvPr id="36" name="Text 34"/>
          <p:cNvSpPr/>
          <p:nvPr/>
        </p:nvSpPr>
        <p:spPr>
          <a:xfrm>
            <a:off x="640080" y="3072384"/>
            <a:ext cx="1828800" cy="256032"/>
          </a:xfrm>
          <a:prstGeom prst="rect">
            <a:avLst/>
          </a:prstGeom>
          <a:noFill/>
          <a:ln/>
        </p:spPr>
        <p:txBody>
          <a:bodyPr wrap="square" rtlCol="0" anchor="ctr"/>
          <a:lstStyle/>
          <a:p>
            <a:pPr indent="0" marL="0">
              <a:buNone/>
            </a:pPr>
            <a:r>
              <a:rPr lang="en-US" sz="1600" b="1" dirty="0">
                <a:solidFill>
                  <a:srgbClr val="D97706"/>
                </a:solidFill>
                <a:latin typeface="Cambria" pitchFamily="34" charset="0"/>
                <a:ea typeface="Cambria" pitchFamily="34" charset="-122"/>
                <a:cs typeface="Cambria" pitchFamily="34" charset="-120"/>
              </a:rPr>
              <a:t>~₹1.7 Lakh</a:t>
            </a:r>
            <a:endParaRPr lang="en-US" sz="1600" dirty="0"/>
          </a:p>
        </p:txBody>
      </p:sp>
      <p:sp>
        <p:nvSpPr>
          <p:cNvPr id="37" name="Text 35"/>
          <p:cNvSpPr/>
          <p:nvPr/>
        </p:nvSpPr>
        <p:spPr>
          <a:xfrm>
            <a:off x="640080" y="3310128"/>
            <a:ext cx="3566160" cy="219456"/>
          </a:xfrm>
          <a:prstGeom prst="rect">
            <a:avLst/>
          </a:prstGeom>
          <a:noFill/>
          <a:ln/>
        </p:spPr>
        <p:txBody>
          <a:bodyPr wrap="square" rtlCol="0" anchor="ctr"/>
          <a:lstStyle/>
          <a:p>
            <a:pPr indent="0" marL="0">
              <a:buNone/>
            </a:pPr>
            <a:r>
              <a:rPr lang="en-US" sz="900" dirty="0">
                <a:solidFill>
                  <a:srgbClr val="B0C4C3"/>
                </a:solidFill>
                <a:latin typeface="Calibri" pitchFamily="34" charset="0"/>
                <a:ea typeface="Calibri" pitchFamily="34" charset="-122"/>
                <a:cs typeface="Calibri" pitchFamily="34" charset="-120"/>
              </a:rPr>
              <a:t>potential billing variances identified</a:t>
            </a:r>
            <a:endParaRPr lang="en-US" sz="900" dirty="0"/>
          </a:p>
        </p:txBody>
      </p:sp>
      <p:sp>
        <p:nvSpPr>
          <p:cNvPr id="38" name="Shape 36"/>
          <p:cNvSpPr/>
          <p:nvPr/>
        </p:nvSpPr>
        <p:spPr>
          <a:xfrm>
            <a:off x="4663440" y="1901952"/>
            <a:ext cx="4023360" cy="658368"/>
          </a:xfrm>
          <a:prstGeom prst="ROUNDED_RECTANGLE">
            <a:avLst>
              <a:gd name="adj" fmla="val 9722"/>
            </a:avLst>
          </a:prstGeom>
          <a:solidFill>
            <a:srgbClr val="162635"/>
          </a:solidFill>
          <a:ln w="12700">
            <a:solidFill>
              <a:srgbClr val="1E3A50"/>
            </a:solidFill>
            <a:prstDash val="solid"/>
          </a:ln>
        </p:spPr>
      </p:sp>
      <p:sp>
        <p:nvSpPr>
          <p:cNvPr id="39" name="Shape 37"/>
          <p:cNvSpPr/>
          <p:nvPr/>
        </p:nvSpPr>
        <p:spPr>
          <a:xfrm>
            <a:off x="4663440" y="1901952"/>
            <a:ext cx="59436" cy="658368"/>
          </a:xfrm>
          <a:prstGeom prst="ROUNDED_RECTANGLE">
            <a:avLst>
              <a:gd name="adj" fmla="val 61538"/>
            </a:avLst>
          </a:prstGeom>
          <a:solidFill>
            <a:srgbClr val="12B5A8"/>
          </a:solidFill>
          <a:ln w="12700">
            <a:solidFill>
              <a:srgbClr val="12B5A8"/>
            </a:solidFill>
            <a:prstDash val="solid"/>
          </a:ln>
        </p:spPr>
      </p:sp>
      <p:sp>
        <p:nvSpPr>
          <p:cNvPr id="40" name="Text 38"/>
          <p:cNvSpPr/>
          <p:nvPr/>
        </p:nvSpPr>
        <p:spPr>
          <a:xfrm>
            <a:off x="4800600" y="1975104"/>
            <a:ext cx="3749040" cy="237744"/>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Evidence-Based Language</a:t>
            </a:r>
            <a:endParaRPr lang="en-US" sz="1050" dirty="0"/>
          </a:p>
        </p:txBody>
      </p:sp>
      <p:sp>
        <p:nvSpPr>
          <p:cNvPr id="41" name="Text 39"/>
          <p:cNvSpPr/>
          <p:nvPr/>
        </p:nvSpPr>
        <p:spPr>
          <a:xfrm>
            <a:off x="4800600" y="2231136"/>
            <a:ext cx="3749040" cy="274320"/>
          </a:xfrm>
          <a:prstGeom prst="rect">
            <a:avLst/>
          </a:prstGeom>
          <a:noFill/>
          <a:ln/>
        </p:spPr>
        <p:txBody>
          <a:bodyPr wrap="square" rtlCol="0" anchor="ctr"/>
          <a:lstStyle/>
          <a:p>
            <a:pPr indent="0" marL="0">
              <a:lnSpc>
                <a:spcPct val="110000"/>
              </a:lnSpc>
              <a:buNone/>
            </a:pPr>
            <a:r>
              <a:rPr lang="en-US" sz="900" dirty="0">
                <a:solidFill>
                  <a:srgbClr val="B0C4C3"/>
                </a:solidFill>
                <a:latin typeface="Calibri" pitchFamily="34" charset="0"/>
                <a:ea typeface="Calibri" pitchFamily="34" charset="-122"/>
                <a:cs typeface="Calibri" pitchFamily="34" charset="-120"/>
              </a:rPr>
              <a:t>AI uses: "potential variance," "suspicious charge" — never "confirmed fraud"</a:t>
            </a:r>
            <a:endParaRPr lang="en-US" sz="900" dirty="0"/>
          </a:p>
        </p:txBody>
      </p:sp>
      <p:sp>
        <p:nvSpPr>
          <p:cNvPr id="42" name="Shape 40"/>
          <p:cNvSpPr/>
          <p:nvPr/>
        </p:nvSpPr>
        <p:spPr>
          <a:xfrm>
            <a:off x="4663440" y="2651760"/>
            <a:ext cx="4023360" cy="658368"/>
          </a:xfrm>
          <a:prstGeom prst="ROUNDED_RECTANGLE">
            <a:avLst>
              <a:gd name="adj" fmla="val 9722"/>
            </a:avLst>
          </a:prstGeom>
          <a:solidFill>
            <a:srgbClr val="162635"/>
          </a:solidFill>
          <a:ln w="12700">
            <a:solidFill>
              <a:srgbClr val="1E3A50"/>
            </a:solidFill>
            <a:prstDash val="solid"/>
          </a:ln>
        </p:spPr>
      </p:sp>
      <p:sp>
        <p:nvSpPr>
          <p:cNvPr id="43" name="Shape 41"/>
          <p:cNvSpPr/>
          <p:nvPr/>
        </p:nvSpPr>
        <p:spPr>
          <a:xfrm>
            <a:off x="4663440" y="2651760"/>
            <a:ext cx="59436" cy="658368"/>
          </a:xfrm>
          <a:prstGeom prst="ROUNDED_RECTANGLE">
            <a:avLst>
              <a:gd name="adj" fmla="val 61538"/>
            </a:avLst>
          </a:prstGeom>
          <a:solidFill>
            <a:srgbClr val="12B5A8"/>
          </a:solidFill>
          <a:ln w="12700">
            <a:solidFill>
              <a:srgbClr val="12B5A8"/>
            </a:solidFill>
            <a:prstDash val="solid"/>
          </a:ln>
        </p:spPr>
      </p:sp>
      <p:sp>
        <p:nvSpPr>
          <p:cNvPr id="44" name="Text 42"/>
          <p:cNvSpPr/>
          <p:nvPr/>
        </p:nvSpPr>
        <p:spPr>
          <a:xfrm>
            <a:off x="4800600" y="2724912"/>
            <a:ext cx="3749040" cy="237744"/>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Confidence Scores per Flag</a:t>
            </a:r>
            <a:endParaRPr lang="en-US" sz="1050" dirty="0"/>
          </a:p>
        </p:txBody>
      </p:sp>
      <p:sp>
        <p:nvSpPr>
          <p:cNvPr id="45" name="Text 43"/>
          <p:cNvSpPr/>
          <p:nvPr/>
        </p:nvSpPr>
        <p:spPr>
          <a:xfrm>
            <a:off x="4800600" y="2980944"/>
            <a:ext cx="3749040" cy="274320"/>
          </a:xfrm>
          <a:prstGeom prst="rect">
            <a:avLst/>
          </a:prstGeom>
          <a:noFill/>
          <a:ln/>
        </p:spPr>
        <p:txBody>
          <a:bodyPr wrap="square" rtlCol="0" anchor="ctr"/>
          <a:lstStyle/>
          <a:p>
            <a:pPr indent="0" marL="0">
              <a:lnSpc>
                <a:spcPct val="110000"/>
              </a:lnSpc>
              <a:buNone/>
            </a:pPr>
            <a:r>
              <a:rPr lang="en-US" sz="900" dirty="0">
                <a:solidFill>
                  <a:srgbClr val="B0C4C3"/>
                </a:solidFill>
                <a:latin typeface="Calibri" pitchFamily="34" charset="0"/>
                <a:ea typeface="Calibri" pitchFamily="34" charset="-122"/>
                <a:cs typeface="Calibri" pitchFamily="34" charset="-120"/>
              </a:rPr>
              <a:t>Every identified variance carries a confidence rating to prioritize disputes</a:t>
            </a:r>
            <a:endParaRPr lang="en-US" sz="900" dirty="0"/>
          </a:p>
        </p:txBody>
      </p:sp>
      <p:sp>
        <p:nvSpPr>
          <p:cNvPr id="46" name="Shape 44"/>
          <p:cNvSpPr/>
          <p:nvPr/>
        </p:nvSpPr>
        <p:spPr>
          <a:xfrm>
            <a:off x="4663440" y="3401568"/>
            <a:ext cx="4023360" cy="658368"/>
          </a:xfrm>
          <a:prstGeom prst="ROUNDED_RECTANGLE">
            <a:avLst>
              <a:gd name="adj" fmla="val 9722"/>
            </a:avLst>
          </a:prstGeom>
          <a:solidFill>
            <a:srgbClr val="162635"/>
          </a:solidFill>
          <a:ln w="12700">
            <a:solidFill>
              <a:srgbClr val="1E3A50"/>
            </a:solidFill>
            <a:prstDash val="solid"/>
          </a:ln>
        </p:spPr>
      </p:sp>
      <p:sp>
        <p:nvSpPr>
          <p:cNvPr id="47" name="Shape 45"/>
          <p:cNvSpPr/>
          <p:nvPr/>
        </p:nvSpPr>
        <p:spPr>
          <a:xfrm>
            <a:off x="4663440" y="3401568"/>
            <a:ext cx="59436" cy="658368"/>
          </a:xfrm>
          <a:prstGeom prst="ROUNDED_RECTANGLE">
            <a:avLst>
              <a:gd name="adj" fmla="val 61538"/>
            </a:avLst>
          </a:prstGeom>
          <a:solidFill>
            <a:srgbClr val="12B5A8"/>
          </a:solidFill>
          <a:ln w="12700">
            <a:solidFill>
              <a:srgbClr val="12B5A8"/>
            </a:solidFill>
            <a:prstDash val="solid"/>
          </a:ln>
        </p:spPr>
      </p:sp>
      <p:sp>
        <p:nvSpPr>
          <p:cNvPr id="48" name="Text 46"/>
          <p:cNvSpPr/>
          <p:nvPr/>
        </p:nvSpPr>
        <p:spPr>
          <a:xfrm>
            <a:off x="4800600" y="3474720"/>
            <a:ext cx="3749040" cy="237744"/>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Human Decision at the Center</a:t>
            </a:r>
            <a:endParaRPr lang="en-US" sz="1050" dirty="0"/>
          </a:p>
        </p:txBody>
      </p:sp>
      <p:sp>
        <p:nvSpPr>
          <p:cNvPr id="49" name="Text 47"/>
          <p:cNvSpPr/>
          <p:nvPr/>
        </p:nvSpPr>
        <p:spPr>
          <a:xfrm>
            <a:off x="4800600" y="3730752"/>
            <a:ext cx="3749040" cy="274320"/>
          </a:xfrm>
          <a:prstGeom prst="rect">
            <a:avLst/>
          </a:prstGeom>
          <a:noFill/>
          <a:ln/>
        </p:spPr>
        <p:txBody>
          <a:bodyPr wrap="square" rtlCol="0" anchor="ctr"/>
          <a:lstStyle/>
          <a:p>
            <a:pPr indent="0" marL="0">
              <a:lnSpc>
                <a:spcPct val="110000"/>
              </a:lnSpc>
              <a:buNone/>
            </a:pPr>
            <a:r>
              <a:rPr lang="en-US" sz="900" dirty="0">
                <a:solidFill>
                  <a:srgbClr val="B0C4C3"/>
                </a:solidFill>
                <a:latin typeface="Calibri" pitchFamily="34" charset="0"/>
                <a:ea typeface="Calibri" pitchFamily="34" charset="-122"/>
                <a:cs typeface="Calibri" pitchFamily="34" charset="-120"/>
              </a:rPr>
              <a:t>AI provides evidence; patient + doctor make final decisions</a:t>
            </a:r>
            <a:endParaRPr lang="en-US" sz="900" dirty="0"/>
          </a:p>
        </p:txBody>
      </p:sp>
      <p:sp>
        <p:nvSpPr>
          <p:cNvPr id="50" name="Shape 48"/>
          <p:cNvSpPr/>
          <p:nvPr/>
        </p:nvSpPr>
        <p:spPr>
          <a:xfrm>
            <a:off x="4663440" y="4151376"/>
            <a:ext cx="4023360" cy="658368"/>
          </a:xfrm>
          <a:prstGeom prst="ROUNDED_RECTANGLE">
            <a:avLst>
              <a:gd name="adj" fmla="val 9722"/>
            </a:avLst>
          </a:prstGeom>
          <a:solidFill>
            <a:srgbClr val="162635"/>
          </a:solidFill>
          <a:ln w="12700">
            <a:solidFill>
              <a:srgbClr val="1E3A50"/>
            </a:solidFill>
            <a:prstDash val="solid"/>
          </a:ln>
        </p:spPr>
      </p:sp>
      <p:sp>
        <p:nvSpPr>
          <p:cNvPr id="51" name="Shape 49"/>
          <p:cNvSpPr/>
          <p:nvPr/>
        </p:nvSpPr>
        <p:spPr>
          <a:xfrm>
            <a:off x="4663440" y="4151376"/>
            <a:ext cx="59436" cy="658368"/>
          </a:xfrm>
          <a:prstGeom prst="ROUNDED_RECTANGLE">
            <a:avLst>
              <a:gd name="adj" fmla="val 61538"/>
            </a:avLst>
          </a:prstGeom>
          <a:solidFill>
            <a:srgbClr val="12B5A8"/>
          </a:solidFill>
          <a:ln w="12700">
            <a:solidFill>
              <a:srgbClr val="12B5A8"/>
            </a:solidFill>
            <a:prstDash val="solid"/>
          </a:ln>
        </p:spPr>
      </p:sp>
      <p:sp>
        <p:nvSpPr>
          <p:cNvPr id="52" name="Text 50"/>
          <p:cNvSpPr/>
          <p:nvPr/>
        </p:nvSpPr>
        <p:spPr>
          <a:xfrm>
            <a:off x="4800600" y="4224528"/>
            <a:ext cx="3749040" cy="237744"/>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Specific Dispute Guidance</a:t>
            </a:r>
            <a:endParaRPr lang="en-US" sz="1050" dirty="0"/>
          </a:p>
        </p:txBody>
      </p:sp>
      <p:sp>
        <p:nvSpPr>
          <p:cNvPr id="53" name="Text 51"/>
          <p:cNvSpPr/>
          <p:nvPr/>
        </p:nvSpPr>
        <p:spPr>
          <a:xfrm>
            <a:off x="4800600" y="4480560"/>
            <a:ext cx="3749040" cy="274320"/>
          </a:xfrm>
          <a:prstGeom prst="rect">
            <a:avLst/>
          </a:prstGeom>
          <a:noFill/>
          <a:ln/>
        </p:spPr>
        <p:txBody>
          <a:bodyPr wrap="square" rtlCol="0" anchor="ctr"/>
          <a:lstStyle/>
          <a:p>
            <a:pPr indent="0" marL="0">
              <a:lnSpc>
                <a:spcPct val="110000"/>
              </a:lnSpc>
              <a:buNone/>
            </a:pPr>
            <a:r>
              <a:rPr lang="en-US" sz="900" dirty="0">
                <a:solidFill>
                  <a:srgbClr val="B0C4C3"/>
                </a:solidFill>
                <a:latin typeface="Calibri" pitchFamily="34" charset="0"/>
                <a:ea typeface="Calibri" pitchFamily="34" charset="-122"/>
                <a:cs typeface="Calibri" pitchFamily="34" charset="-120"/>
              </a:rPr>
              <a:t>System generates concrete questions to ask the hospital billing department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A"/>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AI Cost Estimator</a:t>
            </a:r>
            <a:endParaRPr lang="en-US" sz="2600" dirty="0"/>
          </a:p>
        </p:txBody>
      </p:sp>
      <p:sp>
        <p:nvSpPr>
          <p:cNvPr id="3" name="Shape 1"/>
          <p:cNvSpPr/>
          <p:nvPr/>
        </p:nvSpPr>
        <p:spPr>
          <a:xfrm>
            <a:off x="457200" y="749808"/>
            <a:ext cx="384048" cy="50292"/>
          </a:xfrm>
          <a:prstGeom prst="ROUNDED_RECTANGLE">
            <a:avLst>
              <a:gd name="adj" fmla="val 54545"/>
            </a:avLst>
          </a:prstGeom>
          <a:solidFill>
            <a:srgbClr val="12B5A8"/>
          </a:solidFill>
          <a:ln w="12700">
            <a:solidFill>
              <a:srgbClr val="12B5A8"/>
            </a:solidFill>
            <a:prstDash val="solid"/>
          </a:ln>
        </p:spPr>
      </p:sp>
      <p:sp>
        <p:nvSpPr>
          <p:cNvPr id="4" name="Shape 2"/>
          <p:cNvSpPr/>
          <p:nvPr/>
        </p:nvSpPr>
        <p:spPr>
          <a:xfrm>
            <a:off x="3566160" y="987552"/>
            <a:ext cx="2011680" cy="438912"/>
          </a:xfrm>
          <a:prstGeom prst="ROUNDED_RECTANGLE">
            <a:avLst>
              <a:gd name="adj" fmla="val 20833"/>
            </a:avLst>
          </a:prstGeom>
          <a:solidFill>
            <a:srgbClr val="1A8884"/>
          </a:solidFill>
          <a:ln w="12700">
            <a:solidFill>
              <a:srgbClr val="1A8884"/>
            </a:solidFill>
            <a:prstDash val="solid"/>
          </a:ln>
        </p:spPr>
      </p:sp>
      <p:sp>
        <p:nvSpPr>
          <p:cNvPr id="5" name="Text 3"/>
          <p:cNvSpPr/>
          <p:nvPr/>
        </p:nvSpPr>
        <p:spPr>
          <a:xfrm>
            <a:off x="3566160" y="987552"/>
            <a:ext cx="201168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Claude Sonnet 4.5</a:t>
            </a:r>
            <a:endParaRPr lang="en-US" sz="1050" dirty="0"/>
          </a:p>
        </p:txBody>
      </p:sp>
      <p:sp>
        <p:nvSpPr>
          <p:cNvPr id="6" name="Text 4"/>
          <p:cNvSpPr/>
          <p:nvPr/>
        </p:nvSpPr>
        <p:spPr>
          <a:xfrm>
            <a:off x="457200" y="969264"/>
            <a:ext cx="3017520" cy="237744"/>
          </a:xfrm>
          <a:prstGeom prst="rect">
            <a:avLst/>
          </a:prstGeom>
          <a:noFill/>
          <a:ln/>
        </p:spPr>
        <p:txBody>
          <a:bodyPr wrap="square" rtlCol="0" anchor="ctr"/>
          <a:lstStyle/>
          <a:p>
            <a:pPr indent="0" marL="0">
              <a:buNone/>
            </a:pPr>
            <a:r>
              <a:rPr lang="en-US" sz="800" b="1" spc="200" kern="0" dirty="0">
                <a:solidFill>
                  <a:srgbClr val="1A4B8C"/>
                </a:solidFill>
                <a:latin typeface="Calibri" pitchFamily="34" charset="0"/>
                <a:ea typeface="Calibri" pitchFamily="34" charset="-122"/>
                <a:cs typeface="Calibri" pitchFamily="34" charset="-120"/>
              </a:rPr>
              <a:t>INPUTS</a:t>
            </a:r>
            <a:endParaRPr lang="en-US" sz="800" dirty="0"/>
          </a:p>
        </p:txBody>
      </p:sp>
      <p:sp>
        <p:nvSpPr>
          <p:cNvPr id="7" name="Shape 5"/>
          <p:cNvSpPr/>
          <p:nvPr/>
        </p:nvSpPr>
        <p:spPr>
          <a:xfrm>
            <a:off x="457200" y="1298448"/>
            <a:ext cx="3017520" cy="621792"/>
          </a:xfrm>
          <a:prstGeom prst="ROUNDED_RECTANGLE">
            <a:avLst>
              <a:gd name="adj" fmla="val 10294"/>
            </a:avLst>
          </a:prstGeom>
          <a:solidFill>
            <a:srgbClr val="E6F5F4"/>
          </a:solidFill>
          <a:ln w="12700">
            <a:solidFill>
              <a:srgbClr val="D6EDEC"/>
            </a:solidFill>
            <a:prstDash val="solid"/>
          </a:ln>
        </p:spPr>
      </p:sp>
      <p:sp>
        <p:nvSpPr>
          <p:cNvPr id="8" name="Text 6"/>
          <p:cNvSpPr/>
          <p:nvPr/>
        </p:nvSpPr>
        <p:spPr>
          <a:xfrm>
            <a:off x="594360" y="1371600"/>
            <a:ext cx="2743200" cy="256032"/>
          </a:xfrm>
          <a:prstGeom prst="rect">
            <a:avLst/>
          </a:prstGeom>
          <a:noFill/>
          <a:ln/>
        </p:spPr>
        <p:txBody>
          <a:bodyPr wrap="square"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  Treatment / Procedure</a:t>
            </a:r>
            <a:endParaRPr lang="en-US" sz="1100" dirty="0"/>
          </a:p>
        </p:txBody>
      </p:sp>
      <p:sp>
        <p:nvSpPr>
          <p:cNvPr id="9" name="Text 7"/>
          <p:cNvSpPr/>
          <p:nvPr/>
        </p:nvSpPr>
        <p:spPr>
          <a:xfrm>
            <a:off x="594360" y="1645920"/>
            <a:ext cx="2743200" cy="201168"/>
          </a:xfrm>
          <a:prstGeom prst="rect">
            <a:avLst/>
          </a:prstGeom>
          <a:noFill/>
          <a:ln/>
        </p:spPr>
        <p:txBody>
          <a:bodyPr wrap="square" rtlCol="0" anchor="ctr"/>
          <a:lstStyle/>
          <a:p>
            <a:pPr indent="0" marL="0">
              <a:buNone/>
            </a:pPr>
            <a:r>
              <a:rPr lang="en-US" sz="950" i="1" dirty="0">
                <a:solidFill>
                  <a:srgbClr val="718096"/>
                </a:solidFill>
                <a:latin typeface="Calibri" pitchFamily="34" charset="0"/>
                <a:ea typeface="Calibri" pitchFamily="34" charset="-122"/>
                <a:cs typeface="Calibri" pitchFamily="34" charset="-120"/>
              </a:rPr>
              <a:t>e.g. Cataract, C-Section, Appendectomy</a:t>
            </a:r>
            <a:endParaRPr lang="en-US" sz="950" dirty="0"/>
          </a:p>
        </p:txBody>
      </p:sp>
      <p:sp>
        <p:nvSpPr>
          <p:cNvPr id="10" name="Shape 8"/>
          <p:cNvSpPr/>
          <p:nvPr/>
        </p:nvSpPr>
        <p:spPr>
          <a:xfrm>
            <a:off x="457200" y="2020824"/>
            <a:ext cx="3017520" cy="621792"/>
          </a:xfrm>
          <a:prstGeom prst="ROUNDED_RECTANGLE">
            <a:avLst>
              <a:gd name="adj" fmla="val 10294"/>
            </a:avLst>
          </a:prstGeom>
          <a:solidFill>
            <a:srgbClr val="E6F5F4"/>
          </a:solidFill>
          <a:ln w="12700">
            <a:solidFill>
              <a:srgbClr val="D6EDEC"/>
            </a:solidFill>
            <a:prstDash val="solid"/>
          </a:ln>
        </p:spPr>
      </p:sp>
      <p:sp>
        <p:nvSpPr>
          <p:cNvPr id="11" name="Text 9"/>
          <p:cNvSpPr/>
          <p:nvPr/>
        </p:nvSpPr>
        <p:spPr>
          <a:xfrm>
            <a:off x="594360" y="2093976"/>
            <a:ext cx="2743200" cy="256032"/>
          </a:xfrm>
          <a:prstGeom prst="rect">
            <a:avLst/>
          </a:prstGeom>
          <a:noFill/>
          <a:ln/>
        </p:spPr>
        <p:txBody>
          <a:bodyPr wrap="square"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  City</a:t>
            </a:r>
            <a:endParaRPr lang="en-US" sz="1100" dirty="0"/>
          </a:p>
        </p:txBody>
      </p:sp>
      <p:sp>
        <p:nvSpPr>
          <p:cNvPr id="12" name="Text 10"/>
          <p:cNvSpPr/>
          <p:nvPr/>
        </p:nvSpPr>
        <p:spPr>
          <a:xfrm>
            <a:off x="594360" y="2368296"/>
            <a:ext cx="2743200" cy="201168"/>
          </a:xfrm>
          <a:prstGeom prst="rect">
            <a:avLst/>
          </a:prstGeom>
          <a:noFill/>
          <a:ln/>
        </p:spPr>
        <p:txBody>
          <a:bodyPr wrap="square" rtlCol="0" anchor="ctr"/>
          <a:lstStyle/>
          <a:p>
            <a:pPr indent="0" marL="0">
              <a:buNone/>
            </a:pPr>
            <a:r>
              <a:rPr lang="en-US" sz="950" i="1" dirty="0">
                <a:solidFill>
                  <a:srgbClr val="718096"/>
                </a:solidFill>
                <a:latin typeface="Calibri" pitchFamily="34" charset="0"/>
                <a:ea typeface="Calibri" pitchFamily="34" charset="-122"/>
                <a:cs typeface="Calibri" pitchFamily="34" charset="-120"/>
              </a:rPr>
              <a:t>e.g. Delhi, Mumbai, Hyderabad, Bengaluru</a:t>
            </a:r>
            <a:endParaRPr lang="en-US" sz="950" dirty="0"/>
          </a:p>
        </p:txBody>
      </p:sp>
      <p:sp>
        <p:nvSpPr>
          <p:cNvPr id="13" name="Shape 11"/>
          <p:cNvSpPr/>
          <p:nvPr/>
        </p:nvSpPr>
        <p:spPr>
          <a:xfrm>
            <a:off x="457200" y="2743200"/>
            <a:ext cx="3017520" cy="621792"/>
          </a:xfrm>
          <a:prstGeom prst="ROUNDED_RECTANGLE">
            <a:avLst>
              <a:gd name="adj" fmla="val 10294"/>
            </a:avLst>
          </a:prstGeom>
          <a:solidFill>
            <a:srgbClr val="E6F5F4"/>
          </a:solidFill>
          <a:ln w="12700">
            <a:solidFill>
              <a:srgbClr val="D6EDEC"/>
            </a:solidFill>
            <a:prstDash val="solid"/>
          </a:ln>
        </p:spPr>
      </p:sp>
      <p:sp>
        <p:nvSpPr>
          <p:cNvPr id="14" name="Text 12"/>
          <p:cNvSpPr/>
          <p:nvPr/>
        </p:nvSpPr>
        <p:spPr>
          <a:xfrm>
            <a:off x="594360" y="2816352"/>
            <a:ext cx="2743200" cy="256032"/>
          </a:xfrm>
          <a:prstGeom prst="rect">
            <a:avLst/>
          </a:prstGeom>
          <a:noFill/>
          <a:ln/>
        </p:spPr>
        <p:txBody>
          <a:bodyPr wrap="square"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  Hospital Tier</a:t>
            </a:r>
            <a:endParaRPr lang="en-US" sz="1100" dirty="0"/>
          </a:p>
        </p:txBody>
      </p:sp>
      <p:sp>
        <p:nvSpPr>
          <p:cNvPr id="15" name="Text 13"/>
          <p:cNvSpPr/>
          <p:nvPr/>
        </p:nvSpPr>
        <p:spPr>
          <a:xfrm>
            <a:off x="594360" y="3090672"/>
            <a:ext cx="2743200" cy="201168"/>
          </a:xfrm>
          <a:prstGeom prst="rect">
            <a:avLst/>
          </a:prstGeom>
          <a:noFill/>
          <a:ln/>
        </p:spPr>
        <p:txBody>
          <a:bodyPr wrap="square" rtlCol="0" anchor="ctr"/>
          <a:lstStyle/>
          <a:p>
            <a:pPr indent="0" marL="0">
              <a:buNone/>
            </a:pPr>
            <a:r>
              <a:rPr lang="en-US" sz="950" i="1" dirty="0">
                <a:solidFill>
                  <a:srgbClr val="718096"/>
                </a:solidFill>
                <a:latin typeface="Calibri" pitchFamily="34" charset="0"/>
                <a:ea typeface="Calibri" pitchFamily="34" charset="-122"/>
                <a:cs typeface="Calibri" pitchFamily="34" charset="-120"/>
              </a:rPr>
              <a:t>Government · Trust · Private · Premium</a:t>
            </a:r>
            <a:endParaRPr lang="en-US" sz="950" dirty="0"/>
          </a:p>
        </p:txBody>
      </p:sp>
      <p:sp>
        <p:nvSpPr>
          <p:cNvPr id="16" name="Shape 14"/>
          <p:cNvSpPr/>
          <p:nvPr/>
        </p:nvSpPr>
        <p:spPr>
          <a:xfrm>
            <a:off x="457200" y="3465576"/>
            <a:ext cx="3017520" cy="621792"/>
          </a:xfrm>
          <a:prstGeom prst="ROUNDED_RECTANGLE">
            <a:avLst>
              <a:gd name="adj" fmla="val 10294"/>
            </a:avLst>
          </a:prstGeom>
          <a:solidFill>
            <a:srgbClr val="E6F5F4"/>
          </a:solidFill>
          <a:ln w="12700">
            <a:solidFill>
              <a:srgbClr val="D6EDEC"/>
            </a:solidFill>
            <a:prstDash val="solid"/>
          </a:ln>
        </p:spPr>
      </p:sp>
      <p:sp>
        <p:nvSpPr>
          <p:cNvPr id="17" name="Text 15"/>
          <p:cNvSpPr/>
          <p:nvPr/>
        </p:nvSpPr>
        <p:spPr>
          <a:xfrm>
            <a:off x="594360" y="3538728"/>
            <a:ext cx="2743200" cy="256032"/>
          </a:xfrm>
          <a:prstGeom prst="rect">
            <a:avLst/>
          </a:prstGeom>
          <a:noFill/>
          <a:ln/>
        </p:spPr>
        <p:txBody>
          <a:bodyPr wrap="square"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  Insurance Context</a:t>
            </a:r>
            <a:endParaRPr lang="en-US" sz="1100" dirty="0"/>
          </a:p>
        </p:txBody>
      </p:sp>
      <p:sp>
        <p:nvSpPr>
          <p:cNvPr id="18" name="Text 16"/>
          <p:cNvSpPr/>
          <p:nvPr/>
        </p:nvSpPr>
        <p:spPr>
          <a:xfrm>
            <a:off x="594360" y="3813048"/>
            <a:ext cx="2743200" cy="201168"/>
          </a:xfrm>
          <a:prstGeom prst="rect">
            <a:avLst/>
          </a:prstGeom>
          <a:noFill/>
          <a:ln/>
        </p:spPr>
        <p:txBody>
          <a:bodyPr wrap="square" rtlCol="0" anchor="ctr"/>
          <a:lstStyle/>
          <a:p>
            <a:pPr indent="0" marL="0">
              <a:buNone/>
            </a:pPr>
            <a:r>
              <a:rPr lang="en-US" sz="950" i="1" dirty="0">
                <a:solidFill>
                  <a:srgbClr val="718096"/>
                </a:solidFill>
                <a:latin typeface="Calibri" pitchFamily="34" charset="0"/>
                <a:ea typeface="Calibri" pitchFamily="34" charset="-122"/>
                <a:cs typeface="Calibri" pitchFamily="34" charset="-120"/>
              </a:rPr>
              <a:t>Insured / Self-pay / TPA arrangement</a:t>
            </a:r>
            <a:endParaRPr lang="en-US" sz="950" dirty="0"/>
          </a:p>
        </p:txBody>
      </p:sp>
      <p:sp>
        <p:nvSpPr>
          <p:cNvPr id="19" name="Shape 17"/>
          <p:cNvSpPr/>
          <p:nvPr/>
        </p:nvSpPr>
        <p:spPr>
          <a:xfrm>
            <a:off x="3493008" y="1600200"/>
            <a:ext cx="73152" cy="18288"/>
          </a:xfrm>
          <a:prstGeom prst="RECTANGLE">
            <a:avLst/>
          </a:prstGeom>
          <a:solidFill>
            <a:srgbClr val="1A8884"/>
          </a:solidFill>
          <a:ln w="12700">
            <a:solidFill>
              <a:srgbClr val="1A8884"/>
            </a:solidFill>
            <a:prstDash val="solid"/>
          </a:ln>
        </p:spPr>
      </p:sp>
      <p:sp>
        <p:nvSpPr>
          <p:cNvPr id="20" name="Shape 18"/>
          <p:cNvSpPr/>
          <p:nvPr/>
        </p:nvSpPr>
        <p:spPr>
          <a:xfrm>
            <a:off x="5577840" y="1600200"/>
            <a:ext cx="91440" cy="18288"/>
          </a:xfrm>
          <a:prstGeom prst="RECTANGLE">
            <a:avLst/>
          </a:prstGeom>
          <a:solidFill>
            <a:srgbClr val="1A8884"/>
          </a:solidFill>
          <a:ln w="12700">
            <a:solidFill>
              <a:srgbClr val="1A8884"/>
            </a:solidFill>
            <a:prstDash val="solid"/>
          </a:ln>
        </p:spPr>
      </p:sp>
      <p:sp>
        <p:nvSpPr>
          <p:cNvPr id="21" name="Shape 19"/>
          <p:cNvSpPr/>
          <p:nvPr/>
        </p:nvSpPr>
        <p:spPr>
          <a:xfrm>
            <a:off x="3493008" y="2322576"/>
            <a:ext cx="73152" cy="18288"/>
          </a:xfrm>
          <a:prstGeom prst="RECTANGLE">
            <a:avLst/>
          </a:prstGeom>
          <a:solidFill>
            <a:srgbClr val="1A8884"/>
          </a:solidFill>
          <a:ln w="12700">
            <a:solidFill>
              <a:srgbClr val="1A8884"/>
            </a:solidFill>
            <a:prstDash val="solid"/>
          </a:ln>
        </p:spPr>
      </p:sp>
      <p:sp>
        <p:nvSpPr>
          <p:cNvPr id="22" name="Shape 20"/>
          <p:cNvSpPr/>
          <p:nvPr/>
        </p:nvSpPr>
        <p:spPr>
          <a:xfrm>
            <a:off x="5577840" y="2322576"/>
            <a:ext cx="91440" cy="18288"/>
          </a:xfrm>
          <a:prstGeom prst="RECTANGLE">
            <a:avLst/>
          </a:prstGeom>
          <a:solidFill>
            <a:srgbClr val="1A8884"/>
          </a:solidFill>
          <a:ln w="12700">
            <a:solidFill>
              <a:srgbClr val="1A8884"/>
            </a:solidFill>
            <a:prstDash val="solid"/>
          </a:ln>
        </p:spPr>
      </p:sp>
      <p:sp>
        <p:nvSpPr>
          <p:cNvPr id="23" name="Shape 21"/>
          <p:cNvSpPr/>
          <p:nvPr/>
        </p:nvSpPr>
        <p:spPr>
          <a:xfrm>
            <a:off x="3493008" y="3044952"/>
            <a:ext cx="73152" cy="18288"/>
          </a:xfrm>
          <a:prstGeom prst="RECTANGLE">
            <a:avLst/>
          </a:prstGeom>
          <a:solidFill>
            <a:srgbClr val="1A8884"/>
          </a:solidFill>
          <a:ln w="12700">
            <a:solidFill>
              <a:srgbClr val="1A8884"/>
            </a:solidFill>
            <a:prstDash val="solid"/>
          </a:ln>
        </p:spPr>
      </p:sp>
      <p:sp>
        <p:nvSpPr>
          <p:cNvPr id="24" name="Shape 22"/>
          <p:cNvSpPr/>
          <p:nvPr/>
        </p:nvSpPr>
        <p:spPr>
          <a:xfrm>
            <a:off x="5577840" y="3044952"/>
            <a:ext cx="91440" cy="18288"/>
          </a:xfrm>
          <a:prstGeom prst="RECTANGLE">
            <a:avLst/>
          </a:prstGeom>
          <a:solidFill>
            <a:srgbClr val="1A8884"/>
          </a:solidFill>
          <a:ln w="12700">
            <a:solidFill>
              <a:srgbClr val="1A8884"/>
            </a:solidFill>
            <a:prstDash val="solid"/>
          </a:ln>
        </p:spPr>
      </p:sp>
      <p:sp>
        <p:nvSpPr>
          <p:cNvPr id="25" name="Shape 23"/>
          <p:cNvSpPr/>
          <p:nvPr/>
        </p:nvSpPr>
        <p:spPr>
          <a:xfrm>
            <a:off x="3493008" y="3767328"/>
            <a:ext cx="73152" cy="18288"/>
          </a:xfrm>
          <a:prstGeom prst="RECTANGLE">
            <a:avLst/>
          </a:prstGeom>
          <a:solidFill>
            <a:srgbClr val="1A8884"/>
          </a:solidFill>
          <a:ln w="12700">
            <a:solidFill>
              <a:srgbClr val="1A8884"/>
            </a:solidFill>
            <a:prstDash val="solid"/>
          </a:ln>
        </p:spPr>
      </p:sp>
      <p:sp>
        <p:nvSpPr>
          <p:cNvPr id="26" name="Shape 24"/>
          <p:cNvSpPr/>
          <p:nvPr/>
        </p:nvSpPr>
        <p:spPr>
          <a:xfrm>
            <a:off x="5577840" y="3767328"/>
            <a:ext cx="91440" cy="18288"/>
          </a:xfrm>
          <a:prstGeom prst="RECTANGLE">
            <a:avLst/>
          </a:prstGeom>
          <a:solidFill>
            <a:srgbClr val="1A8884"/>
          </a:solidFill>
          <a:ln w="12700">
            <a:solidFill>
              <a:srgbClr val="1A8884"/>
            </a:solidFill>
            <a:prstDash val="solid"/>
          </a:ln>
        </p:spPr>
      </p:sp>
      <p:sp>
        <p:nvSpPr>
          <p:cNvPr id="27" name="Text 25"/>
          <p:cNvSpPr/>
          <p:nvPr/>
        </p:nvSpPr>
        <p:spPr>
          <a:xfrm>
            <a:off x="5669280" y="969264"/>
            <a:ext cx="3017520" cy="237744"/>
          </a:xfrm>
          <a:prstGeom prst="rect">
            <a:avLst/>
          </a:prstGeom>
          <a:noFill/>
          <a:ln/>
        </p:spPr>
        <p:txBody>
          <a:bodyPr wrap="square" rtlCol="0" anchor="ctr"/>
          <a:lstStyle/>
          <a:p>
            <a:pPr indent="0" marL="0">
              <a:buNone/>
            </a:pPr>
            <a:r>
              <a:rPr lang="en-US" sz="800" b="1" spc="200" kern="0" dirty="0">
                <a:solidFill>
                  <a:srgbClr val="059669"/>
                </a:solidFill>
                <a:latin typeface="Calibri" pitchFamily="34" charset="0"/>
                <a:ea typeface="Calibri" pitchFamily="34" charset="-122"/>
                <a:cs typeface="Calibri" pitchFamily="34" charset="-120"/>
              </a:rPr>
              <a:t>OUTPUTS</a:t>
            </a:r>
            <a:endParaRPr lang="en-US" sz="800" dirty="0"/>
          </a:p>
        </p:txBody>
      </p:sp>
      <p:sp>
        <p:nvSpPr>
          <p:cNvPr id="28" name="Shape 26"/>
          <p:cNvSpPr/>
          <p:nvPr/>
        </p:nvSpPr>
        <p:spPr>
          <a:xfrm>
            <a:off x="5669280" y="1298448"/>
            <a:ext cx="3017520" cy="621792"/>
          </a:xfrm>
          <a:prstGeom prst="ROUNDED_RECTANGLE">
            <a:avLst>
              <a:gd name="adj" fmla="val 10294"/>
            </a:avLst>
          </a:prstGeom>
          <a:solidFill>
            <a:srgbClr val="F0FFF4"/>
          </a:solidFill>
          <a:ln w="12700">
            <a:solidFill>
              <a:srgbClr val="C8E6C9"/>
            </a:solidFill>
            <a:prstDash val="solid"/>
          </a:ln>
        </p:spPr>
      </p:sp>
      <p:sp>
        <p:nvSpPr>
          <p:cNvPr id="29" name="Text 27"/>
          <p:cNvSpPr/>
          <p:nvPr/>
        </p:nvSpPr>
        <p:spPr>
          <a:xfrm>
            <a:off x="5806440" y="1371600"/>
            <a:ext cx="2743200" cy="256032"/>
          </a:xfrm>
          <a:prstGeom prst="rect">
            <a:avLst/>
          </a:prstGeom>
          <a:noFill/>
          <a:ln/>
        </p:spPr>
        <p:txBody>
          <a:bodyPr wrap="square"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  Estimated Cost Range</a:t>
            </a:r>
            <a:endParaRPr lang="en-US" sz="1100" dirty="0"/>
          </a:p>
        </p:txBody>
      </p:sp>
      <p:sp>
        <p:nvSpPr>
          <p:cNvPr id="30" name="Text 28"/>
          <p:cNvSpPr/>
          <p:nvPr/>
        </p:nvSpPr>
        <p:spPr>
          <a:xfrm>
            <a:off x="5806440" y="1645920"/>
            <a:ext cx="2743200" cy="201168"/>
          </a:xfrm>
          <a:prstGeom prst="rect">
            <a:avLst/>
          </a:prstGeom>
          <a:noFill/>
          <a:ln/>
        </p:spPr>
        <p:txBody>
          <a:bodyPr wrap="square" rtlCol="0" anchor="ctr"/>
          <a:lstStyle/>
          <a:p>
            <a:pPr indent="0" marL="0">
              <a:buNone/>
            </a:pPr>
            <a:r>
              <a:rPr lang="en-US" sz="950" i="1" dirty="0">
                <a:solidFill>
                  <a:srgbClr val="718096"/>
                </a:solidFill>
                <a:latin typeface="Calibri" pitchFamily="34" charset="0"/>
                <a:ea typeface="Calibri" pitchFamily="34" charset="-122"/>
                <a:cs typeface="Calibri" pitchFamily="34" charset="-120"/>
              </a:rPr>
              <a:t>Min–Max range with confidence note</a:t>
            </a:r>
            <a:endParaRPr lang="en-US" sz="950" dirty="0"/>
          </a:p>
        </p:txBody>
      </p:sp>
      <p:sp>
        <p:nvSpPr>
          <p:cNvPr id="31" name="Shape 29"/>
          <p:cNvSpPr/>
          <p:nvPr/>
        </p:nvSpPr>
        <p:spPr>
          <a:xfrm>
            <a:off x="5669280" y="2020824"/>
            <a:ext cx="3017520" cy="621792"/>
          </a:xfrm>
          <a:prstGeom prst="ROUNDED_RECTANGLE">
            <a:avLst>
              <a:gd name="adj" fmla="val 10294"/>
            </a:avLst>
          </a:prstGeom>
          <a:solidFill>
            <a:srgbClr val="F0FFF4"/>
          </a:solidFill>
          <a:ln w="12700">
            <a:solidFill>
              <a:srgbClr val="C8E6C9"/>
            </a:solidFill>
            <a:prstDash val="solid"/>
          </a:ln>
        </p:spPr>
      </p:sp>
      <p:sp>
        <p:nvSpPr>
          <p:cNvPr id="32" name="Text 30"/>
          <p:cNvSpPr/>
          <p:nvPr/>
        </p:nvSpPr>
        <p:spPr>
          <a:xfrm>
            <a:off x="5806440" y="2093976"/>
            <a:ext cx="2743200" cy="256032"/>
          </a:xfrm>
          <a:prstGeom prst="rect">
            <a:avLst/>
          </a:prstGeom>
          <a:noFill/>
          <a:ln/>
        </p:spPr>
        <p:txBody>
          <a:bodyPr wrap="square"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  Itemized Breakdown</a:t>
            </a:r>
            <a:endParaRPr lang="en-US" sz="1100" dirty="0"/>
          </a:p>
        </p:txBody>
      </p:sp>
      <p:sp>
        <p:nvSpPr>
          <p:cNvPr id="33" name="Text 31"/>
          <p:cNvSpPr/>
          <p:nvPr/>
        </p:nvSpPr>
        <p:spPr>
          <a:xfrm>
            <a:off x="5806440" y="2368296"/>
            <a:ext cx="2743200" cy="201168"/>
          </a:xfrm>
          <a:prstGeom prst="rect">
            <a:avLst/>
          </a:prstGeom>
          <a:noFill/>
          <a:ln/>
        </p:spPr>
        <p:txBody>
          <a:bodyPr wrap="square" rtlCol="0" anchor="ctr"/>
          <a:lstStyle/>
          <a:p>
            <a:pPr indent="0" marL="0">
              <a:buNone/>
            </a:pPr>
            <a:r>
              <a:rPr lang="en-US" sz="950" i="1" dirty="0">
                <a:solidFill>
                  <a:srgbClr val="718096"/>
                </a:solidFill>
                <a:latin typeface="Calibri" pitchFamily="34" charset="0"/>
                <a:ea typeface="Calibri" pitchFamily="34" charset="-122"/>
                <a:cs typeface="Calibri" pitchFamily="34" charset="-120"/>
              </a:rPr>
              <a:t>Room, surgeon, medicines, consumables</a:t>
            </a:r>
            <a:endParaRPr lang="en-US" sz="950" dirty="0"/>
          </a:p>
        </p:txBody>
      </p:sp>
      <p:sp>
        <p:nvSpPr>
          <p:cNvPr id="34" name="Shape 32"/>
          <p:cNvSpPr/>
          <p:nvPr/>
        </p:nvSpPr>
        <p:spPr>
          <a:xfrm>
            <a:off x="5669280" y="2743200"/>
            <a:ext cx="3017520" cy="621792"/>
          </a:xfrm>
          <a:prstGeom prst="ROUNDED_RECTANGLE">
            <a:avLst>
              <a:gd name="adj" fmla="val 10294"/>
            </a:avLst>
          </a:prstGeom>
          <a:solidFill>
            <a:srgbClr val="F0FFF4"/>
          </a:solidFill>
          <a:ln w="12700">
            <a:solidFill>
              <a:srgbClr val="C8E6C9"/>
            </a:solidFill>
            <a:prstDash val="solid"/>
          </a:ln>
        </p:spPr>
      </p:sp>
      <p:sp>
        <p:nvSpPr>
          <p:cNvPr id="35" name="Text 33"/>
          <p:cNvSpPr/>
          <p:nvPr/>
        </p:nvSpPr>
        <p:spPr>
          <a:xfrm>
            <a:off x="5806440" y="2816352"/>
            <a:ext cx="2743200" cy="256032"/>
          </a:xfrm>
          <a:prstGeom prst="rect">
            <a:avLst/>
          </a:prstGeom>
          <a:noFill/>
          <a:ln/>
        </p:spPr>
        <p:txBody>
          <a:bodyPr wrap="square"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  Cost Drivers</a:t>
            </a:r>
            <a:endParaRPr lang="en-US" sz="1100" dirty="0"/>
          </a:p>
        </p:txBody>
      </p:sp>
      <p:sp>
        <p:nvSpPr>
          <p:cNvPr id="36" name="Text 34"/>
          <p:cNvSpPr/>
          <p:nvPr/>
        </p:nvSpPr>
        <p:spPr>
          <a:xfrm>
            <a:off x="5806440" y="3090672"/>
            <a:ext cx="2743200" cy="201168"/>
          </a:xfrm>
          <a:prstGeom prst="rect">
            <a:avLst/>
          </a:prstGeom>
          <a:noFill/>
          <a:ln/>
        </p:spPr>
        <p:txBody>
          <a:bodyPr wrap="square" rtlCol="0" anchor="ctr"/>
          <a:lstStyle/>
          <a:p>
            <a:pPr indent="0" marL="0">
              <a:buNone/>
            </a:pPr>
            <a:r>
              <a:rPr lang="en-US" sz="950" i="1" dirty="0">
                <a:solidFill>
                  <a:srgbClr val="718096"/>
                </a:solidFill>
                <a:latin typeface="Calibri" pitchFamily="34" charset="0"/>
                <a:ea typeface="Calibri" pitchFamily="34" charset="-122"/>
                <a:cs typeface="Calibri" pitchFamily="34" charset="-120"/>
              </a:rPr>
              <a:t>Key factors making the procedure expensive</a:t>
            </a:r>
            <a:endParaRPr lang="en-US" sz="950" dirty="0"/>
          </a:p>
        </p:txBody>
      </p:sp>
      <p:sp>
        <p:nvSpPr>
          <p:cNvPr id="37" name="Shape 35"/>
          <p:cNvSpPr/>
          <p:nvPr/>
        </p:nvSpPr>
        <p:spPr>
          <a:xfrm>
            <a:off x="5669280" y="3465576"/>
            <a:ext cx="3017520" cy="621792"/>
          </a:xfrm>
          <a:prstGeom prst="ROUNDED_RECTANGLE">
            <a:avLst>
              <a:gd name="adj" fmla="val 10294"/>
            </a:avLst>
          </a:prstGeom>
          <a:solidFill>
            <a:srgbClr val="F0FFF4"/>
          </a:solidFill>
          <a:ln w="12700">
            <a:solidFill>
              <a:srgbClr val="C8E6C9"/>
            </a:solidFill>
            <a:prstDash val="solid"/>
          </a:ln>
        </p:spPr>
      </p:sp>
      <p:sp>
        <p:nvSpPr>
          <p:cNvPr id="38" name="Text 36"/>
          <p:cNvSpPr/>
          <p:nvPr/>
        </p:nvSpPr>
        <p:spPr>
          <a:xfrm>
            <a:off x="5806440" y="3538728"/>
            <a:ext cx="2743200" cy="256032"/>
          </a:xfrm>
          <a:prstGeom prst="rect">
            <a:avLst/>
          </a:prstGeom>
          <a:noFill/>
          <a:ln/>
        </p:spPr>
        <p:txBody>
          <a:bodyPr wrap="square"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  Savings Opportunities</a:t>
            </a:r>
            <a:endParaRPr lang="en-US" sz="1100" dirty="0"/>
          </a:p>
        </p:txBody>
      </p:sp>
      <p:sp>
        <p:nvSpPr>
          <p:cNvPr id="39" name="Text 37"/>
          <p:cNvSpPr/>
          <p:nvPr/>
        </p:nvSpPr>
        <p:spPr>
          <a:xfrm>
            <a:off x="5806440" y="3813048"/>
            <a:ext cx="2743200" cy="201168"/>
          </a:xfrm>
          <a:prstGeom prst="rect">
            <a:avLst/>
          </a:prstGeom>
          <a:noFill/>
          <a:ln/>
        </p:spPr>
        <p:txBody>
          <a:bodyPr wrap="square" rtlCol="0" anchor="ctr"/>
          <a:lstStyle/>
          <a:p>
            <a:pPr indent="0" marL="0">
              <a:buNone/>
            </a:pPr>
            <a:r>
              <a:rPr lang="en-US" sz="950" i="1" dirty="0">
                <a:solidFill>
                  <a:srgbClr val="718096"/>
                </a:solidFill>
                <a:latin typeface="Calibri" pitchFamily="34" charset="0"/>
                <a:ea typeface="Calibri" pitchFamily="34" charset="-122"/>
                <a:cs typeface="Calibri" pitchFamily="34" charset="-120"/>
              </a:rPr>
              <a:t>Questions to ask · Ways to reduce costs</a:t>
            </a:r>
            <a:endParaRPr lang="en-US" sz="950" dirty="0"/>
          </a:p>
        </p:txBody>
      </p:sp>
      <p:sp>
        <p:nvSpPr>
          <p:cNvPr id="40" name="Shape 38"/>
          <p:cNvSpPr/>
          <p:nvPr/>
        </p:nvSpPr>
        <p:spPr>
          <a:xfrm>
            <a:off x="457200" y="4590288"/>
            <a:ext cx="8229600" cy="384048"/>
          </a:xfrm>
          <a:prstGeom prst="ROUNDED_RECTANGLE">
            <a:avLst>
              <a:gd name="adj" fmla="val 16667"/>
            </a:avLst>
          </a:prstGeom>
          <a:solidFill>
            <a:srgbClr val="E6F7F5"/>
          </a:solidFill>
          <a:ln w="12700">
            <a:solidFill>
              <a:srgbClr val="E6F5F4"/>
            </a:solidFill>
            <a:prstDash val="solid"/>
          </a:ln>
        </p:spPr>
      </p:sp>
      <p:sp>
        <p:nvSpPr>
          <p:cNvPr id="41" name="Text 39"/>
          <p:cNvSpPr/>
          <p:nvPr/>
        </p:nvSpPr>
        <p:spPr>
          <a:xfrm>
            <a:off x="594360" y="4608576"/>
            <a:ext cx="7955280" cy="329184"/>
          </a:xfrm>
          <a:prstGeom prst="rect">
            <a:avLst/>
          </a:prstGeom>
          <a:noFill/>
          <a:ln/>
        </p:spPr>
        <p:txBody>
          <a:bodyPr wrap="square" lIns="0" tIns="0" rIns="0" bIns="0" rtlCol="0" anchor="ctr"/>
          <a:lstStyle/>
          <a:p>
            <a:pPr indent="0" marL="0">
              <a:buNone/>
            </a:pPr>
            <a:r>
              <a:rPr lang="en-US" sz="1000" b="1" dirty="0">
                <a:solidFill>
                  <a:srgbClr val="064E3B"/>
                </a:solidFill>
                <a:latin typeface="Calibri" pitchFamily="34" charset="0"/>
                <a:ea typeface="Calibri" pitchFamily="34" charset="-122"/>
                <a:cs typeface="Calibri" pitchFamily="34" charset="-120"/>
              </a:rPr>
              <a:t>✅  Validated for: Cataract  ·  Coronary Angiography  ·  Appendectomy  ·  C-Section     |     Note: Estimate is indicative — not a hospital quotation.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A"/>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Hospital Value Score</a:t>
            </a:r>
            <a:endParaRPr lang="en-US" sz="2600" dirty="0"/>
          </a:p>
        </p:txBody>
      </p:sp>
      <p:sp>
        <p:nvSpPr>
          <p:cNvPr id="3" name="Shape 1"/>
          <p:cNvSpPr/>
          <p:nvPr/>
        </p:nvSpPr>
        <p:spPr>
          <a:xfrm>
            <a:off x="457200" y="749808"/>
            <a:ext cx="384048" cy="50292"/>
          </a:xfrm>
          <a:prstGeom prst="ROUNDED_RECTANGLE">
            <a:avLst>
              <a:gd name="adj" fmla="val 54545"/>
            </a:avLst>
          </a:prstGeom>
          <a:solidFill>
            <a:srgbClr val="12B5A8"/>
          </a:solidFill>
          <a:ln w="12700">
            <a:solidFill>
              <a:srgbClr val="12B5A8"/>
            </a:solidFill>
            <a:prstDash val="solid"/>
          </a:ln>
        </p:spPr>
      </p:sp>
      <p:graphicFrame>
        <p:nvGraphicFramePr>
          <p:cNvPr id="4" name="Chart 0" descr=""/>
          <p:cNvGraphicFramePr/>
          <p:nvPr/>
        </p:nvGraphicFramePr>
        <p:xfrm>
          <a:off x="457200" y="960120"/>
          <a:ext cx="3840480" cy="31089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457200" y="4133088"/>
            <a:ext cx="3840480" cy="384048"/>
          </a:xfrm>
          <a:prstGeom prst="ROUNDED_RECTANGLE">
            <a:avLst>
              <a:gd name="adj" fmla="val 16667"/>
            </a:avLst>
          </a:prstGeom>
          <a:solidFill>
            <a:srgbClr val="FFF8E1"/>
          </a:solidFill>
          <a:ln w="12700">
            <a:solidFill>
              <a:srgbClr val="FFD54F"/>
            </a:solidFill>
            <a:prstDash val="solid"/>
          </a:ln>
        </p:spPr>
      </p:sp>
      <p:sp>
        <p:nvSpPr>
          <p:cNvPr id="6" name="Text 3"/>
          <p:cNvSpPr/>
          <p:nvPr/>
        </p:nvSpPr>
        <p:spPr>
          <a:xfrm>
            <a:off x="594360" y="4169664"/>
            <a:ext cx="3566160" cy="310896"/>
          </a:xfrm>
          <a:prstGeom prst="rect">
            <a:avLst/>
          </a:prstGeom>
          <a:noFill/>
          <a:ln/>
        </p:spPr>
        <p:txBody>
          <a:bodyPr wrap="square" lIns="0" tIns="0" rIns="0" bIns="0" rtlCol="0" anchor="ctr"/>
          <a:lstStyle/>
          <a:p>
            <a:pPr indent="0" marL="0">
              <a:buNone/>
            </a:pPr>
            <a:r>
              <a:rPr lang="en-US" sz="950" b="1" dirty="0">
                <a:solidFill>
                  <a:srgbClr val="78350F"/>
                </a:solidFill>
                <a:latin typeface="Calibri" pitchFamily="34" charset="0"/>
                <a:ea typeface="Calibri" pitchFamily="34" charset="-122"/>
                <a:cs typeface="Calibri" pitchFamily="34" charset="-120"/>
              </a:rPr>
              <a:t>💡 Why not rank by price alone?  Cheapest hospital ≠ best outcome.</a:t>
            </a:r>
            <a:endParaRPr lang="en-US" sz="950" dirty="0"/>
          </a:p>
        </p:txBody>
      </p:sp>
      <p:sp>
        <p:nvSpPr>
          <p:cNvPr id="7" name="Shape 4"/>
          <p:cNvSpPr/>
          <p:nvPr/>
        </p:nvSpPr>
        <p:spPr>
          <a:xfrm>
            <a:off x="4572000" y="960120"/>
            <a:ext cx="4114800" cy="694944"/>
          </a:xfrm>
          <a:prstGeom prst="ROUNDED_RECTANGLE">
            <a:avLst>
              <a:gd name="adj" fmla="val 10526"/>
            </a:avLst>
          </a:prstGeom>
          <a:solidFill>
            <a:srgbClr val="F7FBFA"/>
          </a:solidFill>
          <a:ln w="12700">
            <a:solidFill>
              <a:srgbClr val="D6EDEC"/>
            </a:solidFill>
            <a:prstDash val="solid"/>
          </a:ln>
        </p:spPr>
      </p:sp>
      <p:sp>
        <p:nvSpPr>
          <p:cNvPr id="8" name="Shape 5"/>
          <p:cNvSpPr/>
          <p:nvPr/>
        </p:nvSpPr>
        <p:spPr>
          <a:xfrm>
            <a:off x="4572000" y="960120"/>
            <a:ext cx="530352" cy="694944"/>
          </a:xfrm>
          <a:prstGeom prst="ROUNDED_RECTANGLE">
            <a:avLst>
              <a:gd name="adj" fmla="val 12069"/>
            </a:avLst>
          </a:prstGeom>
          <a:solidFill>
            <a:srgbClr val="1A8884"/>
          </a:solidFill>
          <a:ln w="12700">
            <a:solidFill>
              <a:srgbClr val="1A8884"/>
            </a:solidFill>
            <a:prstDash val="solid"/>
          </a:ln>
        </p:spPr>
      </p:sp>
      <p:sp>
        <p:nvSpPr>
          <p:cNvPr id="9" name="Text 6"/>
          <p:cNvSpPr/>
          <p:nvPr/>
        </p:nvSpPr>
        <p:spPr>
          <a:xfrm>
            <a:off x="4572000" y="960120"/>
            <a:ext cx="530352" cy="69494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40%</a:t>
            </a:r>
            <a:endParaRPr lang="en-US" sz="1200" dirty="0"/>
          </a:p>
        </p:txBody>
      </p:sp>
      <p:sp>
        <p:nvSpPr>
          <p:cNvPr id="10" name="Text 7"/>
          <p:cNvSpPr/>
          <p:nvPr/>
        </p:nvSpPr>
        <p:spPr>
          <a:xfrm>
            <a:off x="5212080" y="1051560"/>
            <a:ext cx="3383280" cy="256032"/>
          </a:xfrm>
          <a:prstGeom prst="rect">
            <a:avLst/>
          </a:prstGeom>
          <a:noFill/>
          <a:ln/>
        </p:spPr>
        <p:txBody>
          <a:bodyPr wrap="square"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Quality</a:t>
            </a:r>
            <a:endParaRPr lang="en-US" sz="1200" dirty="0"/>
          </a:p>
        </p:txBody>
      </p:sp>
      <p:sp>
        <p:nvSpPr>
          <p:cNvPr id="11" name="Text 8"/>
          <p:cNvSpPr/>
          <p:nvPr/>
        </p:nvSpPr>
        <p:spPr>
          <a:xfrm>
            <a:off x="5212080" y="1325880"/>
            <a:ext cx="3383280" cy="256032"/>
          </a:xfrm>
          <a:prstGeom prst="rect">
            <a:avLst/>
          </a:prstGeom>
          <a:noFill/>
          <a:ln/>
        </p:spPr>
        <p:txBody>
          <a:bodyPr wrap="square" rtlCol="0" anchor="ctr"/>
          <a:lstStyle/>
          <a:p>
            <a:pPr indent="0" marL="0">
              <a:lnSpc>
                <a:spcPct val="110000"/>
              </a:lnSpc>
              <a:buNone/>
            </a:pPr>
            <a:r>
              <a:rPr lang="en-US" sz="900" dirty="0">
                <a:solidFill>
                  <a:srgbClr val="475569"/>
                </a:solidFill>
                <a:latin typeface="Calibri" pitchFamily="34" charset="0"/>
                <a:ea typeface="Calibri" pitchFamily="34" charset="-122"/>
                <a:cs typeface="Calibri" pitchFamily="34" charset="-120"/>
              </a:rPr>
              <a:t>NABH accreditation · Specialist availability · ICU capacity · Safety scores</a:t>
            </a:r>
            <a:endParaRPr lang="en-US" sz="900" dirty="0"/>
          </a:p>
        </p:txBody>
      </p:sp>
      <p:sp>
        <p:nvSpPr>
          <p:cNvPr id="12" name="Shape 9"/>
          <p:cNvSpPr/>
          <p:nvPr/>
        </p:nvSpPr>
        <p:spPr>
          <a:xfrm>
            <a:off x="4572000" y="1764792"/>
            <a:ext cx="4114800" cy="694944"/>
          </a:xfrm>
          <a:prstGeom prst="ROUNDED_RECTANGLE">
            <a:avLst>
              <a:gd name="adj" fmla="val 10526"/>
            </a:avLst>
          </a:prstGeom>
          <a:solidFill>
            <a:srgbClr val="F7FBFA"/>
          </a:solidFill>
          <a:ln w="12700">
            <a:solidFill>
              <a:srgbClr val="D6EDEC"/>
            </a:solidFill>
            <a:prstDash val="solid"/>
          </a:ln>
        </p:spPr>
      </p:sp>
      <p:sp>
        <p:nvSpPr>
          <p:cNvPr id="13" name="Shape 10"/>
          <p:cNvSpPr/>
          <p:nvPr/>
        </p:nvSpPr>
        <p:spPr>
          <a:xfrm>
            <a:off x="4572000" y="1764792"/>
            <a:ext cx="530352" cy="694944"/>
          </a:xfrm>
          <a:prstGeom prst="ROUNDED_RECTANGLE">
            <a:avLst>
              <a:gd name="adj" fmla="val 12069"/>
            </a:avLst>
          </a:prstGeom>
          <a:solidFill>
            <a:srgbClr val="1A4B8C"/>
          </a:solidFill>
          <a:ln w="12700">
            <a:solidFill>
              <a:srgbClr val="1A4B8C"/>
            </a:solidFill>
            <a:prstDash val="solid"/>
          </a:ln>
        </p:spPr>
      </p:sp>
      <p:sp>
        <p:nvSpPr>
          <p:cNvPr id="14" name="Text 11"/>
          <p:cNvSpPr/>
          <p:nvPr/>
        </p:nvSpPr>
        <p:spPr>
          <a:xfrm>
            <a:off x="4572000" y="1764792"/>
            <a:ext cx="530352" cy="69494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35%</a:t>
            </a:r>
            <a:endParaRPr lang="en-US" sz="1200" dirty="0"/>
          </a:p>
        </p:txBody>
      </p:sp>
      <p:sp>
        <p:nvSpPr>
          <p:cNvPr id="15" name="Text 12"/>
          <p:cNvSpPr/>
          <p:nvPr/>
        </p:nvSpPr>
        <p:spPr>
          <a:xfrm>
            <a:off x="5212080" y="1856232"/>
            <a:ext cx="3383280" cy="256032"/>
          </a:xfrm>
          <a:prstGeom prst="rect">
            <a:avLst/>
          </a:prstGeom>
          <a:noFill/>
          <a:ln/>
        </p:spPr>
        <p:txBody>
          <a:bodyPr wrap="square"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Price</a:t>
            </a:r>
            <a:endParaRPr lang="en-US" sz="1200" dirty="0"/>
          </a:p>
        </p:txBody>
      </p:sp>
      <p:sp>
        <p:nvSpPr>
          <p:cNvPr id="16" name="Text 13"/>
          <p:cNvSpPr/>
          <p:nvPr/>
        </p:nvSpPr>
        <p:spPr>
          <a:xfrm>
            <a:off x="5212080" y="2130552"/>
            <a:ext cx="3383280" cy="256032"/>
          </a:xfrm>
          <a:prstGeom prst="rect">
            <a:avLst/>
          </a:prstGeom>
          <a:noFill/>
          <a:ln/>
        </p:spPr>
        <p:txBody>
          <a:bodyPr wrap="square" rtlCol="0" anchor="ctr"/>
          <a:lstStyle/>
          <a:p>
            <a:pPr indent="0" marL="0">
              <a:lnSpc>
                <a:spcPct val="110000"/>
              </a:lnSpc>
              <a:buNone/>
            </a:pPr>
            <a:r>
              <a:rPr lang="en-US" sz="900" dirty="0">
                <a:solidFill>
                  <a:srgbClr val="475569"/>
                </a:solidFill>
                <a:latin typeface="Calibri" pitchFamily="34" charset="0"/>
                <a:ea typeface="Calibri" pitchFamily="34" charset="-122"/>
                <a:cs typeface="Calibri" pitchFamily="34" charset="-120"/>
              </a:rPr>
              <a:t>Procedure cost vs. city average and hospital-tier benchmark</a:t>
            </a:r>
            <a:endParaRPr lang="en-US" sz="900" dirty="0"/>
          </a:p>
        </p:txBody>
      </p:sp>
      <p:sp>
        <p:nvSpPr>
          <p:cNvPr id="17" name="Shape 14"/>
          <p:cNvSpPr/>
          <p:nvPr/>
        </p:nvSpPr>
        <p:spPr>
          <a:xfrm>
            <a:off x="4572000" y="2569464"/>
            <a:ext cx="4114800" cy="694944"/>
          </a:xfrm>
          <a:prstGeom prst="ROUNDED_RECTANGLE">
            <a:avLst>
              <a:gd name="adj" fmla="val 10526"/>
            </a:avLst>
          </a:prstGeom>
          <a:solidFill>
            <a:srgbClr val="F7FBFA"/>
          </a:solidFill>
          <a:ln w="12700">
            <a:solidFill>
              <a:srgbClr val="D6EDEC"/>
            </a:solidFill>
            <a:prstDash val="solid"/>
          </a:ln>
        </p:spPr>
      </p:sp>
      <p:sp>
        <p:nvSpPr>
          <p:cNvPr id="18" name="Shape 15"/>
          <p:cNvSpPr/>
          <p:nvPr/>
        </p:nvSpPr>
        <p:spPr>
          <a:xfrm>
            <a:off x="4572000" y="2569464"/>
            <a:ext cx="530352" cy="694944"/>
          </a:xfrm>
          <a:prstGeom prst="ROUNDED_RECTANGLE">
            <a:avLst>
              <a:gd name="adj" fmla="val 12069"/>
            </a:avLst>
          </a:prstGeom>
          <a:solidFill>
            <a:srgbClr val="D97706"/>
          </a:solidFill>
          <a:ln w="12700">
            <a:solidFill>
              <a:srgbClr val="D97706"/>
            </a:solidFill>
            <a:prstDash val="solid"/>
          </a:ln>
        </p:spPr>
      </p:sp>
      <p:sp>
        <p:nvSpPr>
          <p:cNvPr id="19" name="Text 16"/>
          <p:cNvSpPr/>
          <p:nvPr/>
        </p:nvSpPr>
        <p:spPr>
          <a:xfrm>
            <a:off x="4572000" y="2569464"/>
            <a:ext cx="530352" cy="69494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15%</a:t>
            </a:r>
            <a:endParaRPr lang="en-US" sz="1200" dirty="0"/>
          </a:p>
        </p:txBody>
      </p:sp>
      <p:sp>
        <p:nvSpPr>
          <p:cNvPr id="20" name="Text 17"/>
          <p:cNvSpPr/>
          <p:nvPr/>
        </p:nvSpPr>
        <p:spPr>
          <a:xfrm>
            <a:off x="5212080" y="2660904"/>
            <a:ext cx="3383280" cy="256032"/>
          </a:xfrm>
          <a:prstGeom prst="rect">
            <a:avLst/>
          </a:prstGeom>
          <a:noFill/>
          <a:ln/>
        </p:spPr>
        <p:txBody>
          <a:bodyPr wrap="square"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Availability</a:t>
            </a:r>
            <a:endParaRPr lang="en-US" sz="1200" dirty="0"/>
          </a:p>
        </p:txBody>
      </p:sp>
      <p:sp>
        <p:nvSpPr>
          <p:cNvPr id="21" name="Text 18"/>
          <p:cNvSpPr/>
          <p:nvPr/>
        </p:nvSpPr>
        <p:spPr>
          <a:xfrm>
            <a:off x="5212080" y="2935224"/>
            <a:ext cx="3383280" cy="256032"/>
          </a:xfrm>
          <a:prstGeom prst="rect">
            <a:avLst/>
          </a:prstGeom>
          <a:noFill/>
          <a:ln/>
        </p:spPr>
        <p:txBody>
          <a:bodyPr wrap="square" rtlCol="0" anchor="ctr"/>
          <a:lstStyle/>
          <a:p>
            <a:pPr indent="0" marL="0">
              <a:lnSpc>
                <a:spcPct val="110000"/>
              </a:lnSpc>
              <a:buNone/>
            </a:pPr>
            <a:r>
              <a:rPr lang="en-US" sz="900" dirty="0">
                <a:solidFill>
                  <a:srgbClr val="475569"/>
                </a:solidFill>
                <a:latin typeface="Calibri" pitchFamily="34" charset="0"/>
                <a:ea typeface="Calibri" pitchFamily="34" charset="-122"/>
                <a:cs typeface="Calibri" pitchFamily="34" charset="-120"/>
              </a:rPr>
              <a:t>Bed availability · Emergency readiness · Outpatient throughput</a:t>
            </a:r>
            <a:endParaRPr lang="en-US" sz="900" dirty="0"/>
          </a:p>
        </p:txBody>
      </p:sp>
      <p:sp>
        <p:nvSpPr>
          <p:cNvPr id="22" name="Shape 19"/>
          <p:cNvSpPr/>
          <p:nvPr/>
        </p:nvSpPr>
        <p:spPr>
          <a:xfrm>
            <a:off x="4572000" y="3374136"/>
            <a:ext cx="4114800" cy="694944"/>
          </a:xfrm>
          <a:prstGeom prst="ROUNDED_RECTANGLE">
            <a:avLst>
              <a:gd name="adj" fmla="val 10526"/>
            </a:avLst>
          </a:prstGeom>
          <a:solidFill>
            <a:srgbClr val="F7FBFA"/>
          </a:solidFill>
          <a:ln w="12700">
            <a:solidFill>
              <a:srgbClr val="D6EDEC"/>
            </a:solidFill>
            <a:prstDash val="solid"/>
          </a:ln>
        </p:spPr>
      </p:sp>
      <p:sp>
        <p:nvSpPr>
          <p:cNvPr id="23" name="Shape 20"/>
          <p:cNvSpPr/>
          <p:nvPr/>
        </p:nvSpPr>
        <p:spPr>
          <a:xfrm>
            <a:off x="4572000" y="3374136"/>
            <a:ext cx="530352" cy="694944"/>
          </a:xfrm>
          <a:prstGeom prst="ROUNDED_RECTANGLE">
            <a:avLst>
              <a:gd name="adj" fmla="val 12069"/>
            </a:avLst>
          </a:prstGeom>
          <a:solidFill>
            <a:srgbClr val="059669"/>
          </a:solidFill>
          <a:ln w="12700">
            <a:solidFill>
              <a:srgbClr val="059669"/>
            </a:solidFill>
            <a:prstDash val="solid"/>
          </a:ln>
        </p:spPr>
      </p:sp>
      <p:sp>
        <p:nvSpPr>
          <p:cNvPr id="24" name="Text 21"/>
          <p:cNvSpPr/>
          <p:nvPr/>
        </p:nvSpPr>
        <p:spPr>
          <a:xfrm>
            <a:off x="4572000" y="3374136"/>
            <a:ext cx="530352" cy="69494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10%</a:t>
            </a:r>
            <a:endParaRPr lang="en-US" sz="1200" dirty="0"/>
          </a:p>
        </p:txBody>
      </p:sp>
      <p:sp>
        <p:nvSpPr>
          <p:cNvPr id="25" name="Text 22"/>
          <p:cNvSpPr/>
          <p:nvPr/>
        </p:nvSpPr>
        <p:spPr>
          <a:xfrm>
            <a:off x="5212080" y="3465576"/>
            <a:ext cx="3383280" cy="256032"/>
          </a:xfrm>
          <a:prstGeom prst="rect">
            <a:avLst/>
          </a:prstGeom>
          <a:noFill/>
          <a:ln/>
        </p:spPr>
        <p:txBody>
          <a:bodyPr wrap="square"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Trust</a:t>
            </a:r>
            <a:endParaRPr lang="en-US" sz="1200" dirty="0"/>
          </a:p>
        </p:txBody>
      </p:sp>
      <p:sp>
        <p:nvSpPr>
          <p:cNvPr id="26" name="Text 23"/>
          <p:cNvSpPr/>
          <p:nvPr/>
        </p:nvSpPr>
        <p:spPr>
          <a:xfrm>
            <a:off x="5212080" y="3739896"/>
            <a:ext cx="3383280" cy="256032"/>
          </a:xfrm>
          <a:prstGeom prst="rect">
            <a:avLst/>
          </a:prstGeom>
          <a:noFill/>
          <a:ln/>
        </p:spPr>
        <p:txBody>
          <a:bodyPr wrap="square" rtlCol="0" anchor="ctr"/>
          <a:lstStyle/>
          <a:p>
            <a:pPr indent="0" marL="0">
              <a:lnSpc>
                <a:spcPct val="110000"/>
              </a:lnSpc>
              <a:buNone/>
            </a:pPr>
            <a:r>
              <a:rPr lang="en-US" sz="900" dirty="0">
                <a:solidFill>
                  <a:srgbClr val="475569"/>
                </a:solidFill>
                <a:latin typeface="Calibri" pitchFamily="34" charset="0"/>
                <a:ea typeface="Calibri" pitchFamily="34" charset="-122"/>
                <a:cs typeface="Calibri" pitchFamily="34" charset="-120"/>
              </a:rPr>
              <a:t>Ownership type (Govt/Trust/Private) · Accreditation · Complaint records</a:t>
            </a:r>
            <a:endParaRPr lang="en-US" sz="900" dirty="0"/>
          </a:p>
        </p:txBody>
      </p:sp>
      <p:sp>
        <p:nvSpPr>
          <p:cNvPr id="27" name="Shape 24"/>
          <p:cNvSpPr/>
          <p:nvPr/>
        </p:nvSpPr>
        <p:spPr>
          <a:xfrm>
            <a:off x="4572000" y="4224528"/>
            <a:ext cx="4114800" cy="384048"/>
          </a:xfrm>
          <a:prstGeom prst="ROUNDED_RECTANGLE">
            <a:avLst>
              <a:gd name="adj" fmla="val 16667"/>
            </a:avLst>
          </a:prstGeom>
          <a:solidFill>
            <a:srgbClr val="E6F5F4"/>
          </a:solidFill>
          <a:ln w="12700">
            <a:solidFill>
              <a:srgbClr val="D6EDEC"/>
            </a:solidFill>
            <a:prstDash val="solid"/>
          </a:ln>
        </p:spPr>
      </p:sp>
      <p:sp>
        <p:nvSpPr>
          <p:cNvPr id="28" name="Text 25"/>
          <p:cNvSpPr/>
          <p:nvPr/>
        </p:nvSpPr>
        <p:spPr>
          <a:xfrm>
            <a:off x="4709160" y="4261104"/>
            <a:ext cx="3840480" cy="310896"/>
          </a:xfrm>
          <a:prstGeom prst="rect">
            <a:avLst/>
          </a:prstGeom>
          <a:noFill/>
          <a:ln/>
        </p:spPr>
        <p:txBody>
          <a:bodyPr wrap="square" lIns="0" tIns="0" rIns="0" bIns="0" rtlCol="0" anchor="ctr"/>
          <a:lstStyle/>
          <a:p>
            <a:pPr indent="0" marL="0">
              <a:buNone/>
            </a:pPr>
            <a:r>
              <a:rPr lang="en-US" sz="950" b="1" dirty="0">
                <a:solidFill>
                  <a:srgbClr val="1A8884"/>
                </a:solidFill>
                <a:latin typeface="Calibri" pitchFamily="34" charset="0"/>
                <a:ea typeface="Calibri" pitchFamily="34" charset="-122"/>
                <a:cs typeface="Calibri" pitchFamily="34" charset="-120"/>
              </a:rPr>
              <a:t>📊  32 hospitals  ·  11 cities  ·  4 hospital tiers  ·  Confidence-timestamped data</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System Architecture</a:t>
            </a:r>
            <a:endParaRPr lang="en-US" sz="2600" dirty="0"/>
          </a:p>
        </p:txBody>
      </p:sp>
      <p:sp>
        <p:nvSpPr>
          <p:cNvPr id="3" name="Shape 1"/>
          <p:cNvSpPr/>
          <p:nvPr/>
        </p:nvSpPr>
        <p:spPr>
          <a:xfrm>
            <a:off x="457200" y="749808"/>
            <a:ext cx="384048" cy="50292"/>
          </a:xfrm>
          <a:prstGeom prst="ROUNDED_RECTANGLE">
            <a:avLst>
              <a:gd name="adj" fmla="val 54545"/>
            </a:avLst>
          </a:prstGeom>
          <a:solidFill>
            <a:srgbClr val="12B5A8"/>
          </a:solidFill>
          <a:ln w="12700">
            <a:solidFill>
              <a:srgbClr val="12B5A8"/>
            </a:solidFill>
            <a:prstDash val="solid"/>
          </a:ln>
        </p:spPr>
      </p:sp>
      <p:sp>
        <p:nvSpPr>
          <p:cNvPr id="4" name="Shape 2"/>
          <p:cNvSpPr/>
          <p:nvPr/>
        </p:nvSpPr>
        <p:spPr>
          <a:xfrm>
            <a:off x="457200" y="914400"/>
            <a:ext cx="8229600" cy="640080"/>
          </a:xfrm>
          <a:prstGeom prst="ROUNDED_RECTANGLE">
            <a:avLst>
              <a:gd name="adj" fmla="val 11429"/>
            </a:avLst>
          </a:prstGeom>
          <a:solidFill>
            <a:srgbClr val="162635"/>
          </a:solidFill>
          <a:ln w="12700">
            <a:solidFill>
              <a:srgbClr val="1A8884"/>
            </a:solidFill>
            <a:prstDash val="solid"/>
          </a:ln>
        </p:spPr>
      </p:sp>
      <p:sp>
        <p:nvSpPr>
          <p:cNvPr id="5" name="Text 3"/>
          <p:cNvSpPr/>
          <p:nvPr/>
        </p:nvSpPr>
        <p:spPr>
          <a:xfrm>
            <a:off x="640080" y="987552"/>
            <a:ext cx="1280160" cy="237744"/>
          </a:xfrm>
          <a:prstGeom prst="rect">
            <a:avLst/>
          </a:prstGeom>
          <a:noFill/>
          <a:ln/>
        </p:spPr>
        <p:txBody>
          <a:bodyPr wrap="square" rtlCol="0" anchor="ctr"/>
          <a:lstStyle/>
          <a:p>
            <a:pPr indent="0" marL="0">
              <a:buNone/>
            </a:pPr>
            <a:r>
              <a:rPr lang="en-US" sz="850" b="1" spc="150" kern="0" dirty="0">
                <a:solidFill>
                  <a:srgbClr val="12B5A8"/>
                </a:solidFill>
                <a:latin typeface="Calibri" pitchFamily="34" charset="0"/>
                <a:ea typeface="Calibri" pitchFamily="34" charset="-122"/>
                <a:cs typeface="Calibri" pitchFamily="34" charset="-120"/>
              </a:rPr>
              <a:t>FRONTEND</a:t>
            </a:r>
            <a:endParaRPr lang="en-US" sz="850" dirty="0"/>
          </a:p>
        </p:txBody>
      </p:sp>
      <p:sp>
        <p:nvSpPr>
          <p:cNvPr id="6" name="Text 4"/>
          <p:cNvSpPr/>
          <p:nvPr/>
        </p:nvSpPr>
        <p:spPr>
          <a:xfrm>
            <a:off x="2011680" y="987552"/>
            <a:ext cx="2743200" cy="23774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React 19 + TypeScript</a:t>
            </a:r>
            <a:endParaRPr lang="en-US" sz="1200" dirty="0"/>
          </a:p>
        </p:txBody>
      </p:sp>
      <p:sp>
        <p:nvSpPr>
          <p:cNvPr id="7" name="Text 5"/>
          <p:cNvSpPr/>
          <p:nvPr/>
        </p:nvSpPr>
        <p:spPr>
          <a:xfrm>
            <a:off x="640080" y="1280160"/>
            <a:ext cx="6400800" cy="201168"/>
          </a:xfrm>
          <a:prstGeom prst="rect">
            <a:avLst/>
          </a:prstGeom>
          <a:noFill/>
          <a:ln/>
        </p:spPr>
        <p:txBody>
          <a:bodyPr wrap="square" rtlCol="0" anchor="ctr"/>
          <a:lstStyle/>
          <a:p>
            <a:pPr indent="0" marL="0">
              <a:buNone/>
            </a:pPr>
            <a:r>
              <a:rPr lang="en-US" sz="1000" dirty="0">
                <a:solidFill>
                  <a:srgbClr val="B0C4C3"/>
                </a:solidFill>
                <a:latin typeface="Calibri" pitchFamily="34" charset="0"/>
                <a:ea typeface="Calibri" pitchFamily="34" charset="-122"/>
                <a:cs typeface="Calibri" pitchFamily="34" charset="-120"/>
              </a:rPr>
              <a:t>Tailwind CSS  ·  shadcn/ui  ·  Framer Motion  ·  Axios  ·  Port 3000</a:t>
            </a:r>
            <a:endParaRPr lang="en-US" sz="1000" dirty="0"/>
          </a:p>
        </p:txBody>
      </p:sp>
      <p:sp>
        <p:nvSpPr>
          <p:cNvPr id="8" name="Shape 6"/>
          <p:cNvSpPr/>
          <p:nvPr/>
        </p:nvSpPr>
        <p:spPr>
          <a:xfrm>
            <a:off x="4553712" y="1554480"/>
            <a:ext cx="36576" cy="182880"/>
          </a:xfrm>
          <a:prstGeom prst="RECTANGLE">
            <a:avLst/>
          </a:prstGeom>
          <a:solidFill>
            <a:srgbClr val="12B5A8"/>
          </a:solidFill>
          <a:ln w="12700">
            <a:solidFill>
              <a:srgbClr val="12B5A8"/>
            </a:solidFill>
            <a:prstDash val="solid"/>
          </a:ln>
        </p:spPr>
      </p:sp>
      <p:sp>
        <p:nvSpPr>
          <p:cNvPr id="9" name="Shape 7"/>
          <p:cNvSpPr/>
          <p:nvPr/>
        </p:nvSpPr>
        <p:spPr>
          <a:xfrm>
            <a:off x="457200" y="1792224"/>
            <a:ext cx="5577840" cy="1170432"/>
          </a:xfrm>
          <a:prstGeom prst="ROUNDED_RECTANGLE">
            <a:avLst>
              <a:gd name="adj" fmla="val 6250"/>
            </a:avLst>
          </a:prstGeom>
          <a:solidFill>
            <a:srgbClr val="162635"/>
          </a:solidFill>
          <a:ln w="12700">
            <a:solidFill>
              <a:srgbClr val="1A4B8C"/>
            </a:solidFill>
            <a:prstDash val="solid"/>
          </a:ln>
        </p:spPr>
      </p:sp>
      <p:sp>
        <p:nvSpPr>
          <p:cNvPr id="10" name="Text 8"/>
          <p:cNvSpPr/>
          <p:nvPr/>
        </p:nvSpPr>
        <p:spPr>
          <a:xfrm>
            <a:off x="640080" y="1865376"/>
            <a:ext cx="1280160" cy="237744"/>
          </a:xfrm>
          <a:prstGeom prst="rect">
            <a:avLst/>
          </a:prstGeom>
          <a:noFill/>
          <a:ln/>
        </p:spPr>
        <p:txBody>
          <a:bodyPr wrap="square" rtlCol="0" anchor="ctr"/>
          <a:lstStyle/>
          <a:p>
            <a:pPr indent="0" marL="0">
              <a:buNone/>
            </a:pPr>
            <a:r>
              <a:rPr lang="en-US" sz="850" b="1" spc="150" kern="0" dirty="0">
                <a:solidFill>
                  <a:srgbClr val="90CAF9"/>
                </a:solidFill>
                <a:latin typeface="Calibri" pitchFamily="34" charset="0"/>
                <a:ea typeface="Calibri" pitchFamily="34" charset="-122"/>
                <a:cs typeface="Calibri" pitchFamily="34" charset="-120"/>
              </a:rPr>
              <a:t>BACKEND</a:t>
            </a:r>
            <a:endParaRPr lang="en-US" sz="850" dirty="0"/>
          </a:p>
        </p:txBody>
      </p:sp>
      <p:sp>
        <p:nvSpPr>
          <p:cNvPr id="11" name="Text 9"/>
          <p:cNvSpPr/>
          <p:nvPr/>
        </p:nvSpPr>
        <p:spPr>
          <a:xfrm>
            <a:off x="2011680" y="1865376"/>
            <a:ext cx="3931920" cy="237744"/>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FastAPI · Python 3.11 · Uvicorn · Motor (Async) · Port 8001</a:t>
            </a:r>
            <a:endParaRPr lang="en-US" sz="1000" dirty="0"/>
          </a:p>
        </p:txBody>
      </p:sp>
      <p:sp>
        <p:nvSpPr>
          <p:cNvPr id="12" name="Shape 10"/>
          <p:cNvSpPr/>
          <p:nvPr/>
        </p:nvSpPr>
        <p:spPr>
          <a:xfrm>
            <a:off x="640080" y="2249424"/>
            <a:ext cx="1682496" cy="219456"/>
          </a:xfrm>
          <a:prstGeom prst="ROUNDED_RECTANGLE">
            <a:avLst>
              <a:gd name="adj" fmla="val 16667"/>
            </a:avLst>
          </a:prstGeom>
          <a:solidFill>
            <a:srgbClr val="1E3A50"/>
          </a:solidFill>
          <a:ln w="12700">
            <a:solidFill>
              <a:srgbClr val="253D55"/>
            </a:solidFill>
            <a:prstDash val="solid"/>
          </a:ln>
        </p:spPr>
      </p:sp>
      <p:sp>
        <p:nvSpPr>
          <p:cNvPr id="13" name="Text 11"/>
          <p:cNvSpPr/>
          <p:nvPr/>
        </p:nvSpPr>
        <p:spPr>
          <a:xfrm>
            <a:off x="640080" y="2249424"/>
            <a:ext cx="1682496" cy="219456"/>
          </a:xfrm>
          <a:prstGeom prst="rect">
            <a:avLst/>
          </a:prstGeom>
          <a:noFill/>
          <a:ln/>
        </p:spPr>
        <p:txBody>
          <a:bodyPr wrap="square" lIns="0" tIns="0" rIns="0" bIns="0" rtlCol="0" anchor="ctr"/>
          <a:lstStyle/>
          <a:p>
            <a:pPr algn="ctr" indent="0" marL="0">
              <a:buNone/>
            </a:pPr>
            <a:r>
              <a:rPr lang="en-US" sz="850" dirty="0">
                <a:solidFill>
                  <a:srgbClr val="90CAF9"/>
                </a:solidFill>
                <a:latin typeface="Calibri" pitchFamily="34" charset="0"/>
                <a:ea typeface="Calibri" pitchFamily="34" charset="-122"/>
                <a:cs typeface="Calibri" pitchFamily="34" charset="-120"/>
              </a:rPr>
              <a:t>Auth Service</a:t>
            </a:r>
            <a:endParaRPr lang="en-US" sz="850" dirty="0"/>
          </a:p>
        </p:txBody>
      </p:sp>
      <p:sp>
        <p:nvSpPr>
          <p:cNvPr id="14" name="Shape 12"/>
          <p:cNvSpPr/>
          <p:nvPr/>
        </p:nvSpPr>
        <p:spPr>
          <a:xfrm>
            <a:off x="2432304" y="2249424"/>
            <a:ext cx="1682496" cy="219456"/>
          </a:xfrm>
          <a:prstGeom prst="ROUNDED_RECTANGLE">
            <a:avLst>
              <a:gd name="adj" fmla="val 16667"/>
            </a:avLst>
          </a:prstGeom>
          <a:solidFill>
            <a:srgbClr val="1E3A50"/>
          </a:solidFill>
          <a:ln w="12700">
            <a:solidFill>
              <a:srgbClr val="253D55"/>
            </a:solidFill>
            <a:prstDash val="solid"/>
          </a:ln>
        </p:spPr>
      </p:sp>
      <p:sp>
        <p:nvSpPr>
          <p:cNvPr id="15" name="Text 13"/>
          <p:cNvSpPr/>
          <p:nvPr/>
        </p:nvSpPr>
        <p:spPr>
          <a:xfrm>
            <a:off x="2432304" y="2249424"/>
            <a:ext cx="1682496" cy="219456"/>
          </a:xfrm>
          <a:prstGeom prst="rect">
            <a:avLst/>
          </a:prstGeom>
          <a:noFill/>
          <a:ln/>
        </p:spPr>
        <p:txBody>
          <a:bodyPr wrap="square" lIns="0" tIns="0" rIns="0" bIns="0" rtlCol="0" anchor="ctr"/>
          <a:lstStyle/>
          <a:p>
            <a:pPr algn="ctr" indent="0" marL="0">
              <a:buNone/>
            </a:pPr>
            <a:r>
              <a:rPr lang="en-US" sz="850" dirty="0">
                <a:solidFill>
                  <a:srgbClr val="90CAF9"/>
                </a:solidFill>
                <a:latin typeface="Calibri" pitchFamily="34" charset="0"/>
                <a:ea typeface="Calibri" pitchFamily="34" charset="-122"/>
                <a:cs typeface="Calibri" pitchFamily="34" charset="-120"/>
              </a:rPr>
              <a:t>Hospital Service</a:t>
            </a:r>
            <a:endParaRPr lang="en-US" sz="850" dirty="0"/>
          </a:p>
        </p:txBody>
      </p:sp>
      <p:sp>
        <p:nvSpPr>
          <p:cNvPr id="16" name="Shape 14"/>
          <p:cNvSpPr/>
          <p:nvPr/>
        </p:nvSpPr>
        <p:spPr>
          <a:xfrm>
            <a:off x="4224528" y="2249424"/>
            <a:ext cx="1682496" cy="219456"/>
          </a:xfrm>
          <a:prstGeom prst="ROUNDED_RECTANGLE">
            <a:avLst>
              <a:gd name="adj" fmla="val 16667"/>
            </a:avLst>
          </a:prstGeom>
          <a:solidFill>
            <a:srgbClr val="1E3A50"/>
          </a:solidFill>
          <a:ln w="12700">
            <a:solidFill>
              <a:srgbClr val="253D55"/>
            </a:solidFill>
            <a:prstDash val="solid"/>
          </a:ln>
        </p:spPr>
      </p:sp>
      <p:sp>
        <p:nvSpPr>
          <p:cNvPr id="17" name="Text 15"/>
          <p:cNvSpPr/>
          <p:nvPr/>
        </p:nvSpPr>
        <p:spPr>
          <a:xfrm>
            <a:off x="4224528" y="2249424"/>
            <a:ext cx="1682496" cy="219456"/>
          </a:xfrm>
          <a:prstGeom prst="rect">
            <a:avLst/>
          </a:prstGeom>
          <a:noFill/>
          <a:ln/>
        </p:spPr>
        <p:txBody>
          <a:bodyPr wrap="square" lIns="0" tIns="0" rIns="0" bIns="0" rtlCol="0" anchor="ctr"/>
          <a:lstStyle/>
          <a:p>
            <a:pPr algn="ctr" indent="0" marL="0">
              <a:buNone/>
            </a:pPr>
            <a:r>
              <a:rPr lang="en-US" sz="850" dirty="0">
                <a:solidFill>
                  <a:srgbClr val="90CAF9"/>
                </a:solidFill>
                <a:latin typeface="Calibri" pitchFamily="34" charset="0"/>
                <a:ea typeface="Calibri" pitchFamily="34" charset="-122"/>
                <a:cs typeface="Calibri" pitchFamily="34" charset="-120"/>
              </a:rPr>
              <a:t>AI Service</a:t>
            </a:r>
            <a:endParaRPr lang="en-US" sz="850" dirty="0"/>
          </a:p>
        </p:txBody>
      </p:sp>
      <p:sp>
        <p:nvSpPr>
          <p:cNvPr id="18" name="Shape 16"/>
          <p:cNvSpPr/>
          <p:nvPr/>
        </p:nvSpPr>
        <p:spPr>
          <a:xfrm>
            <a:off x="640080" y="2542032"/>
            <a:ext cx="1682496" cy="219456"/>
          </a:xfrm>
          <a:prstGeom prst="ROUNDED_RECTANGLE">
            <a:avLst>
              <a:gd name="adj" fmla="val 16667"/>
            </a:avLst>
          </a:prstGeom>
          <a:solidFill>
            <a:srgbClr val="1E3A50"/>
          </a:solidFill>
          <a:ln w="12700">
            <a:solidFill>
              <a:srgbClr val="253D55"/>
            </a:solidFill>
            <a:prstDash val="solid"/>
          </a:ln>
        </p:spPr>
      </p:sp>
      <p:sp>
        <p:nvSpPr>
          <p:cNvPr id="19" name="Text 17"/>
          <p:cNvSpPr/>
          <p:nvPr/>
        </p:nvSpPr>
        <p:spPr>
          <a:xfrm>
            <a:off x="640080" y="2542032"/>
            <a:ext cx="1682496" cy="219456"/>
          </a:xfrm>
          <a:prstGeom prst="rect">
            <a:avLst/>
          </a:prstGeom>
          <a:noFill/>
          <a:ln/>
        </p:spPr>
        <p:txBody>
          <a:bodyPr wrap="square" lIns="0" tIns="0" rIns="0" bIns="0" rtlCol="0" anchor="ctr"/>
          <a:lstStyle/>
          <a:p>
            <a:pPr algn="ctr" indent="0" marL="0">
              <a:buNone/>
            </a:pPr>
            <a:r>
              <a:rPr lang="en-US" sz="850" dirty="0">
                <a:solidFill>
                  <a:srgbClr val="90CAF9"/>
                </a:solidFill>
                <a:latin typeface="Calibri" pitchFamily="34" charset="0"/>
                <a:ea typeface="Calibri" pitchFamily="34" charset="-122"/>
                <a:cs typeface="Calibri" pitchFamily="34" charset="-120"/>
              </a:rPr>
              <a:t>Emergency Service</a:t>
            </a:r>
            <a:endParaRPr lang="en-US" sz="850" dirty="0"/>
          </a:p>
        </p:txBody>
      </p:sp>
      <p:sp>
        <p:nvSpPr>
          <p:cNvPr id="20" name="Shape 18"/>
          <p:cNvSpPr/>
          <p:nvPr/>
        </p:nvSpPr>
        <p:spPr>
          <a:xfrm>
            <a:off x="2432304" y="2542032"/>
            <a:ext cx="1682496" cy="219456"/>
          </a:xfrm>
          <a:prstGeom prst="ROUNDED_RECTANGLE">
            <a:avLst>
              <a:gd name="adj" fmla="val 16667"/>
            </a:avLst>
          </a:prstGeom>
          <a:solidFill>
            <a:srgbClr val="1E3A50"/>
          </a:solidFill>
          <a:ln w="12700">
            <a:solidFill>
              <a:srgbClr val="253D55"/>
            </a:solidFill>
            <a:prstDash val="solid"/>
          </a:ln>
        </p:spPr>
      </p:sp>
      <p:sp>
        <p:nvSpPr>
          <p:cNvPr id="21" name="Text 19"/>
          <p:cNvSpPr/>
          <p:nvPr/>
        </p:nvSpPr>
        <p:spPr>
          <a:xfrm>
            <a:off x="2432304" y="2542032"/>
            <a:ext cx="1682496" cy="219456"/>
          </a:xfrm>
          <a:prstGeom prst="rect">
            <a:avLst/>
          </a:prstGeom>
          <a:noFill/>
          <a:ln/>
        </p:spPr>
        <p:txBody>
          <a:bodyPr wrap="square" lIns="0" tIns="0" rIns="0" bIns="0" rtlCol="0" anchor="ctr"/>
          <a:lstStyle/>
          <a:p>
            <a:pPr algn="ctr" indent="0" marL="0">
              <a:buNone/>
            </a:pPr>
            <a:r>
              <a:rPr lang="en-US" sz="850" dirty="0">
                <a:solidFill>
                  <a:srgbClr val="90CAF9"/>
                </a:solidFill>
                <a:latin typeface="Calibri" pitchFamily="34" charset="0"/>
                <a:ea typeface="Calibri" pitchFamily="34" charset="-122"/>
                <a:cs typeface="Calibri" pitchFamily="34" charset="-120"/>
              </a:rPr>
              <a:t>Vault Service</a:t>
            </a:r>
            <a:endParaRPr lang="en-US" sz="850" dirty="0"/>
          </a:p>
        </p:txBody>
      </p:sp>
      <p:sp>
        <p:nvSpPr>
          <p:cNvPr id="22" name="Shape 20"/>
          <p:cNvSpPr/>
          <p:nvPr/>
        </p:nvSpPr>
        <p:spPr>
          <a:xfrm>
            <a:off x="6217920" y="1792224"/>
            <a:ext cx="2468880" cy="1170432"/>
          </a:xfrm>
          <a:prstGeom prst="ROUNDED_RECTANGLE">
            <a:avLst>
              <a:gd name="adj" fmla="val 6250"/>
            </a:avLst>
          </a:prstGeom>
          <a:solidFill>
            <a:srgbClr val="162635"/>
          </a:solidFill>
          <a:ln w="12700">
            <a:solidFill>
              <a:srgbClr val="4CAF50"/>
            </a:solidFill>
            <a:prstDash val="solid"/>
          </a:ln>
        </p:spPr>
      </p:sp>
      <p:sp>
        <p:nvSpPr>
          <p:cNvPr id="23" name="Text 21"/>
          <p:cNvSpPr/>
          <p:nvPr/>
        </p:nvSpPr>
        <p:spPr>
          <a:xfrm>
            <a:off x="6400800" y="1883664"/>
            <a:ext cx="2103120" cy="201168"/>
          </a:xfrm>
          <a:prstGeom prst="rect">
            <a:avLst/>
          </a:prstGeom>
          <a:noFill/>
          <a:ln/>
        </p:spPr>
        <p:txBody>
          <a:bodyPr wrap="square" rtlCol="0" anchor="ctr"/>
          <a:lstStyle/>
          <a:p>
            <a:pPr indent="0" marL="0">
              <a:buNone/>
            </a:pPr>
            <a:r>
              <a:rPr lang="en-US" sz="750" b="1" spc="200" kern="0" dirty="0">
                <a:solidFill>
                  <a:srgbClr val="66BB6A"/>
                </a:solidFill>
                <a:latin typeface="Calibri" pitchFamily="34" charset="0"/>
                <a:ea typeface="Calibri" pitchFamily="34" charset="-122"/>
                <a:cs typeface="Calibri" pitchFamily="34" charset="-120"/>
              </a:rPr>
              <a:t>DATABASE</a:t>
            </a:r>
            <a:endParaRPr lang="en-US" sz="750" dirty="0"/>
          </a:p>
        </p:txBody>
      </p:sp>
      <p:sp>
        <p:nvSpPr>
          <p:cNvPr id="24" name="Text 22"/>
          <p:cNvSpPr/>
          <p:nvPr/>
        </p:nvSpPr>
        <p:spPr>
          <a:xfrm>
            <a:off x="6400800" y="2121408"/>
            <a:ext cx="2103120" cy="402336"/>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MongoDB</a:t>
            </a:r>
            <a:endParaRPr lang="en-US" sz="2000" dirty="0"/>
          </a:p>
        </p:txBody>
      </p:sp>
      <p:sp>
        <p:nvSpPr>
          <p:cNvPr id="25" name="Text 23"/>
          <p:cNvSpPr/>
          <p:nvPr/>
        </p:nvSpPr>
        <p:spPr>
          <a:xfrm>
            <a:off x="6400800" y="2542032"/>
            <a:ext cx="2103120" cy="365760"/>
          </a:xfrm>
          <a:prstGeom prst="rect">
            <a:avLst/>
          </a:prstGeom>
          <a:noFill/>
          <a:ln/>
        </p:spPr>
        <p:txBody>
          <a:bodyPr wrap="square" rtlCol="0" anchor="ctr"/>
          <a:lstStyle/>
          <a:p>
            <a:pPr indent="0" marL="0">
              <a:lnSpc>
                <a:spcPct val="115000"/>
              </a:lnSpc>
              <a:buNone/>
            </a:pPr>
            <a:r>
              <a:rPr lang="en-US" sz="850" dirty="0">
                <a:solidFill>
                  <a:srgbClr val="B0C4C3"/>
                </a:solidFill>
                <a:latin typeface="Calibri" pitchFamily="34" charset="0"/>
                <a:ea typeface="Calibri" pitchFamily="34" charset="-122"/>
                <a:cs typeface="Calibri" pitchFamily="34" charset="-120"/>
              </a:rPr>
              <a:t>Motor async driver</a:t>
            </a:r>
            <a:endParaRPr lang="en-US" sz="850" dirty="0"/>
          </a:p>
          <a:p>
            <a:pPr indent="0" marL="0">
              <a:lnSpc>
                <a:spcPct val="115000"/>
              </a:lnSpc>
              <a:buNone/>
            </a:pPr>
            <a:r>
              <a:rPr lang="en-US" sz="850" dirty="0">
                <a:solidFill>
                  <a:srgbClr val="B0C4C3"/>
                </a:solidFill>
                <a:latin typeface="Calibri" pitchFamily="34" charset="0"/>
                <a:ea typeface="Calibri" pitchFamily="34" charset="-122"/>
                <a:cs typeface="Calibri" pitchFamily="34" charset="-120"/>
              </a:rPr>
              <a:t>Users · Hospitals · Bills</a:t>
            </a:r>
            <a:endParaRPr lang="en-US" sz="850" dirty="0"/>
          </a:p>
          <a:p>
            <a:pPr indent="0" marL="0">
              <a:lnSpc>
                <a:spcPct val="115000"/>
              </a:lnSpc>
              <a:buNone/>
            </a:pPr>
            <a:r>
              <a:rPr lang="en-US" sz="850" dirty="0">
                <a:solidFill>
                  <a:srgbClr val="B0C4C3"/>
                </a:solidFill>
                <a:latin typeface="Calibri" pitchFamily="34" charset="0"/>
                <a:ea typeface="Calibri" pitchFamily="34" charset="-122"/>
                <a:cs typeface="Calibri" pitchFamily="34" charset="-120"/>
              </a:rPr>
              <a:t>Documents · Sessions</a:t>
            </a:r>
            <a:endParaRPr lang="en-US" sz="850" dirty="0"/>
          </a:p>
        </p:txBody>
      </p:sp>
      <p:sp>
        <p:nvSpPr>
          <p:cNvPr id="26" name="Shape 24"/>
          <p:cNvSpPr/>
          <p:nvPr/>
        </p:nvSpPr>
        <p:spPr>
          <a:xfrm>
            <a:off x="6035040" y="2368296"/>
            <a:ext cx="182880" cy="18288"/>
          </a:xfrm>
          <a:prstGeom prst="RECTANGLE">
            <a:avLst/>
          </a:prstGeom>
          <a:solidFill>
            <a:srgbClr val="B0C4C3"/>
          </a:solidFill>
          <a:ln w="12700">
            <a:solidFill>
              <a:srgbClr val="B0C4C3"/>
            </a:solidFill>
            <a:prstDash val="solid"/>
          </a:ln>
        </p:spPr>
      </p:sp>
      <p:sp>
        <p:nvSpPr>
          <p:cNvPr id="27" name="Shape 25"/>
          <p:cNvSpPr/>
          <p:nvPr/>
        </p:nvSpPr>
        <p:spPr>
          <a:xfrm>
            <a:off x="2724912" y="2962656"/>
            <a:ext cx="36576" cy="182880"/>
          </a:xfrm>
          <a:prstGeom prst="RECTANGLE">
            <a:avLst/>
          </a:prstGeom>
          <a:solidFill>
            <a:srgbClr val="12B5A8"/>
          </a:solidFill>
          <a:ln w="12700">
            <a:solidFill>
              <a:srgbClr val="12B5A8"/>
            </a:solidFill>
            <a:prstDash val="solid"/>
          </a:ln>
        </p:spPr>
      </p:sp>
      <p:sp>
        <p:nvSpPr>
          <p:cNvPr id="28" name="Shape 26"/>
          <p:cNvSpPr/>
          <p:nvPr/>
        </p:nvSpPr>
        <p:spPr>
          <a:xfrm>
            <a:off x="457200" y="3200400"/>
            <a:ext cx="5577840" cy="438912"/>
          </a:xfrm>
          <a:prstGeom prst="ROUNDED_RECTANGLE">
            <a:avLst>
              <a:gd name="adj" fmla="val 14583"/>
            </a:avLst>
          </a:prstGeom>
          <a:solidFill>
            <a:srgbClr val="162635"/>
          </a:solidFill>
          <a:ln w="12700">
            <a:solidFill>
              <a:srgbClr val="12B5A8"/>
            </a:solidFill>
            <a:prstDash val="solid"/>
          </a:ln>
        </p:spPr>
      </p:sp>
      <p:sp>
        <p:nvSpPr>
          <p:cNvPr id="29" name="Text 27"/>
          <p:cNvSpPr/>
          <p:nvPr/>
        </p:nvSpPr>
        <p:spPr>
          <a:xfrm>
            <a:off x="640080" y="3273552"/>
            <a:ext cx="3200400" cy="256032"/>
          </a:xfrm>
          <a:prstGeom prst="rect">
            <a:avLst/>
          </a:prstGeom>
          <a:noFill/>
          <a:ln/>
        </p:spPr>
        <p:txBody>
          <a:bodyPr wrap="square" rtlCol="0" anchor="ctr"/>
          <a:lstStyle/>
          <a:p>
            <a:pPr indent="0" marL="0">
              <a:buNone/>
            </a:pPr>
            <a:r>
              <a:rPr lang="en-US" sz="1100" b="1" dirty="0">
                <a:solidFill>
                  <a:srgbClr val="12B5A8"/>
                </a:solidFill>
                <a:latin typeface="Calibri" pitchFamily="34" charset="0"/>
                <a:ea typeface="Calibri" pitchFamily="34" charset="-122"/>
                <a:cs typeface="Calibri" pitchFamily="34" charset="-120"/>
              </a:rPr>
              <a:t>⚡  Emergent Universal LLM Gateway</a:t>
            </a:r>
            <a:endParaRPr lang="en-US" sz="1100" dirty="0"/>
          </a:p>
        </p:txBody>
      </p:sp>
      <p:sp>
        <p:nvSpPr>
          <p:cNvPr id="30" name="Text 28"/>
          <p:cNvSpPr/>
          <p:nvPr/>
        </p:nvSpPr>
        <p:spPr>
          <a:xfrm>
            <a:off x="640080" y="3456432"/>
            <a:ext cx="5303520" cy="164592"/>
          </a:xfrm>
          <a:prstGeom prst="rect">
            <a:avLst/>
          </a:prstGeom>
          <a:noFill/>
          <a:ln/>
        </p:spPr>
        <p:txBody>
          <a:bodyPr wrap="square" rtlCol="0" anchor="ctr"/>
          <a:lstStyle/>
          <a:p>
            <a:pPr indent="0" marL="0">
              <a:buNone/>
            </a:pPr>
            <a:r>
              <a:rPr lang="en-US" sz="900" dirty="0">
                <a:solidFill>
                  <a:srgbClr val="B0C4C3"/>
                </a:solidFill>
                <a:latin typeface="Calibri" pitchFamily="34" charset="0"/>
                <a:ea typeface="Calibri" pitchFamily="34" charset="-122"/>
                <a:cs typeface="Calibri" pitchFamily="34" charset="-120"/>
              </a:rPr>
              <a:t>Provider-agnostic routing  ·  Retry handling  ·  Abstraction layer</a:t>
            </a:r>
            <a:endParaRPr lang="en-US" sz="900" dirty="0"/>
          </a:p>
        </p:txBody>
      </p:sp>
      <p:sp>
        <p:nvSpPr>
          <p:cNvPr id="31" name="Shape 29"/>
          <p:cNvSpPr/>
          <p:nvPr/>
        </p:nvSpPr>
        <p:spPr>
          <a:xfrm>
            <a:off x="2724912" y="3639312"/>
            <a:ext cx="36576" cy="182880"/>
          </a:xfrm>
          <a:prstGeom prst="RECTANGLE">
            <a:avLst/>
          </a:prstGeom>
          <a:solidFill>
            <a:srgbClr val="12B5A8"/>
          </a:solidFill>
          <a:ln w="12700">
            <a:solidFill>
              <a:srgbClr val="12B5A8"/>
            </a:solidFill>
            <a:prstDash val="solid"/>
          </a:ln>
        </p:spPr>
      </p:sp>
      <p:sp>
        <p:nvSpPr>
          <p:cNvPr id="32" name="Shape 30"/>
          <p:cNvSpPr/>
          <p:nvPr/>
        </p:nvSpPr>
        <p:spPr>
          <a:xfrm>
            <a:off x="457200" y="3877056"/>
            <a:ext cx="5577840" cy="438912"/>
          </a:xfrm>
          <a:prstGeom prst="ROUNDED_RECTANGLE">
            <a:avLst>
              <a:gd name="adj" fmla="val 14583"/>
            </a:avLst>
          </a:prstGeom>
          <a:solidFill>
            <a:srgbClr val="1A3545"/>
          </a:solidFill>
          <a:ln w="12700">
            <a:solidFill>
              <a:srgbClr val="D97706"/>
            </a:solidFill>
            <a:prstDash val="solid"/>
          </a:ln>
        </p:spPr>
      </p:sp>
      <p:sp>
        <p:nvSpPr>
          <p:cNvPr id="33" name="Text 31"/>
          <p:cNvSpPr/>
          <p:nvPr/>
        </p:nvSpPr>
        <p:spPr>
          <a:xfrm>
            <a:off x="640080" y="3950208"/>
            <a:ext cx="3200400" cy="256032"/>
          </a:xfrm>
          <a:prstGeom prst="rect">
            <a:avLst/>
          </a:prstGeom>
          <a:noFill/>
          <a:ln/>
        </p:spPr>
        <p:txBody>
          <a:bodyPr wrap="square" rtlCol="0" anchor="ctr"/>
          <a:lstStyle/>
          <a:p>
            <a:pPr indent="0" marL="0">
              <a:buNone/>
            </a:pPr>
            <a:r>
              <a:rPr lang="en-US" sz="1100" b="1" dirty="0">
                <a:solidFill>
                  <a:srgbClr val="D97706"/>
                </a:solidFill>
                <a:latin typeface="Calibri" pitchFamily="34" charset="0"/>
                <a:ea typeface="Calibri" pitchFamily="34" charset="-122"/>
                <a:cs typeface="Calibri" pitchFamily="34" charset="-120"/>
              </a:rPr>
              <a:t>🤖  Anthropic Claude Sonnet 4.5</a:t>
            </a:r>
            <a:endParaRPr lang="en-US" sz="1100" dirty="0"/>
          </a:p>
        </p:txBody>
      </p:sp>
      <p:sp>
        <p:nvSpPr>
          <p:cNvPr id="34" name="Text 32"/>
          <p:cNvSpPr/>
          <p:nvPr/>
        </p:nvSpPr>
        <p:spPr>
          <a:xfrm>
            <a:off x="640080" y="4133088"/>
            <a:ext cx="5303520" cy="164592"/>
          </a:xfrm>
          <a:prstGeom prst="rect">
            <a:avLst/>
          </a:prstGeom>
          <a:noFill/>
          <a:ln/>
        </p:spPr>
        <p:txBody>
          <a:bodyPr wrap="square" rtlCol="0" anchor="ctr"/>
          <a:lstStyle/>
          <a:p>
            <a:pPr indent="0" marL="0">
              <a:buNone/>
            </a:pPr>
            <a:r>
              <a:rPr lang="en-US" sz="900" dirty="0">
                <a:solidFill>
                  <a:srgbClr val="B0C4C3"/>
                </a:solidFill>
                <a:latin typeface="Calibri" pitchFamily="34" charset="0"/>
                <a:ea typeface="Calibri" pitchFamily="34" charset="-122"/>
                <a:cs typeface="Calibri" pitchFamily="34" charset="-120"/>
              </a:rPr>
              <a:t>Structured JSON output  ·  Bill analysis + Cost estimation  ·  AIProvider abstraction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A"/>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Technology Stack</a:t>
            </a:r>
            <a:endParaRPr lang="en-US" sz="2600" dirty="0"/>
          </a:p>
        </p:txBody>
      </p:sp>
      <p:sp>
        <p:nvSpPr>
          <p:cNvPr id="3" name="Shape 1"/>
          <p:cNvSpPr/>
          <p:nvPr/>
        </p:nvSpPr>
        <p:spPr>
          <a:xfrm>
            <a:off x="457200" y="749808"/>
            <a:ext cx="384048" cy="50292"/>
          </a:xfrm>
          <a:prstGeom prst="ROUNDED_RECTANGLE">
            <a:avLst>
              <a:gd name="adj" fmla="val 54545"/>
            </a:avLst>
          </a:prstGeom>
          <a:solidFill>
            <a:srgbClr val="12B5A8"/>
          </a:solidFill>
          <a:ln w="12700">
            <a:solidFill>
              <a:srgbClr val="12B5A8"/>
            </a:solidFill>
            <a:prstDash val="solid"/>
          </a:ln>
        </p:spPr>
      </p:sp>
      <p:sp>
        <p:nvSpPr>
          <p:cNvPr id="4" name="Shape 2"/>
          <p:cNvSpPr/>
          <p:nvPr/>
        </p:nvSpPr>
        <p:spPr>
          <a:xfrm>
            <a:off x="457200" y="914400"/>
            <a:ext cx="2578608" cy="1645920"/>
          </a:xfrm>
          <a:prstGeom prst="ROUNDED_RECTANGLE">
            <a:avLst>
              <a:gd name="adj" fmla="val 5000"/>
            </a:avLst>
          </a:prstGeom>
          <a:solidFill>
            <a:srgbClr val="FFFFFF"/>
          </a:solidFill>
          <a:ln w="12700">
            <a:solidFill>
              <a:srgbClr val="D6EDEC"/>
            </a:solidFill>
            <a:prstDash val="solid"/>
          </a:ln>
        </p:spPr>
      </p:sp>
      <p:sp>
        <p:nvSpPr>
          <p:cNvPr id="5" name="Shape 3"/>
          <p:cNvSpPr/>
          <p:nvPr/>
        </p:nvSpPr>
        <p:spPr>
          <a:xfrm>
            <a:off x="457200" y="914400"/>
            <a:ext cx="2578608" cy="365760"/>
          </a:xfrm>
          <a:prstGeom prst="ROUNDED_RECTANGLE">
            <a:avLst>
              <a:gd name="adj" fmla="val 22500"/>
            </a:avLst>
          </a:prstGeom>
          <a:solidFill>
            <a:srgbClr val="1A4B8C"/>
          </a:solidFill>
          <a:ln w="12700">
            <a:solidFill>
              <a:srgbClr val="1A4B8C"/>
            </a:solidFill>
            <a:prstDash val="solid"/>
          </a:ln>
        </p:spPr>
      </p:sp>
      <p:sp>
        <p:nvSpPr>
          <p:cNvPr id="6" name="Shape 4"/>
          <p:cNvSpPr/>
          <p:nvPr/>
        </p:nvSpPr>
        <p:spPr>
          <a:xfrm>
            <a:off x="457200" y="1115568"/>
            <a:ext cx="2578608" cy="182880"/>
          </a:xfrm>
          <a:prstGeom prst="RECTANGLE">
            <a:avLst/>
          </a:prstGeom>
          <a:solidFill>
            <a:srgbClr val="1A4B8C"/>
          </a:solidFill>
          <a:ln w="12700">
            <a:solidFill>
              <a:srgbClr val="1A4B8C"/>
            </a:solidFill>
            <a:prstDash val="solid"/>
          </a:ln>
        </p:spPr>
      </p:sp>
      <p:sp>
        <p:nvSpPr>
          <p:cNvPr id="7" name="Text 5"/>
          <p:cNvSpPr/>
          <p:nvPr/>
        </p:nvSpPr>
        <p:spPr>
          <a:xfrm>
            <a:off x="585216" y="969264"/>
            <a:ext cx="2322576"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Frontend</a:t>
            </a:r>
            <a:endParaRPr lang="en-US" sz="1150" dirty="0"/>
          </a:p>
        </p:txBody>
      </p:sp>
      <p:sp>
        <p:nvSpPr>
          <p:cNvPr id="8" name="Text 6"/>
          <p:cNvSpPr/>
          <p:nvPr/>
        </p:nvSpPr>
        <p:spPr>
          <a:xfrm>
            <a:off x="585216" y="1371600"/>
            <a:ext cx="2322576" cy="18288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React 19</a:t>
            </a:r>
            <a:endParaRPr lang="en-US" sz="950" dirty="0"/>
          </a:p>
        </p:txBody>
      </p:sp>
      <p:sp>
        <p:nvSpPr>
          <p:cNvPr id="9" name="Text 7"/>
          <p:cNvSpPr/>
          <p:nvPr/>
        </p:nvSpPr>
        <p:spPr>
          <a:xfrm>
            <a:off x="585216" y="1572768"/>
            <a:ext cx="2322576" cy="18288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TypeScript</a:t>
            </a:r>
            <a:endParaRPr lang="en-US" sz="950" dirty="0"/>
          </a:p>
        </p:txBody>
      </p:sp>
      <p:sp>
        <p:nvSpPr>
          <p:cNvPr id="10" name="Text 8"/>
          <p:cNvSpPr/>
          <p:nvPr/>
        </p:nvSpPr>
        <p:spPr>
          <a:xfrm>
            <a:off x="585216" y="1773936"/>
            <a:ext cx="2322576" cy="18288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Tailwind CSS</a:t>
            </a:r>
            <a:endParaRPr lang="en-US" sz="950" dirty="0"/>
          </a:p>
        </p:txBody>
      </p:sp>
      <p:sp>
        <p:nvSpPr>
          <p:cNvPr id="11" name="Text 9"/>
          <p:cNvSpPr/>
          <p:nvPr/>
        </p:nvSpPr>
        <p:spPr>
          <a:xfrm>
            <a:off x="585216" y="1975104"/>
            <a:ext cx="2322576" cy="18288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shadcn/ui</a:t>
            </a:r>
            <a:endParaRPr lang="en-US" sz="950" dirty="0"/>
          </a:p>
        </p:txBody>
      </p:sp>
      <p:sp>
        <p:nvSpPr>
          <p:cNvPr id="12" name="Text 10"/>
          <p:cNvSpPr/>
          <p:nvPr/>
        </p:nvSpPr>
        <p:spPr>
          <a:xfrm>
            <a:off x="585216" y="2176272"/>
            <a:ext cx="2322576" cy="18288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Framer Motion</a:t>
            </a:r>
            <a:endParaRPr lang="en-US" sz="950" dirty="0"/>
          </a:p>
        </p:txBody>
      </p:sp>
      <p:sp>
        <p:nvSpPr>
          <p:cNvPr id="13" name="Text 11"/>
          <p:cNvSpPr/>
          <p:nvPr/>
        </p:nvSpPr>
        <p:spPr>
          <a:xfrm>
            <a:off x="585216" y="2377440"/>
            <a:ext cx="2322576" cy="18288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Axios</a:t>
            </a:r>
            <a:endParaRPr lang="en-US" sz="950" dirty="0"/>
          </a:p>
        </p:txBody>
      </p:sp>
      <p:sp>
        <p:nvSpPr>
          <p:cNvPr id="14" name="Shape 12"/>
          <p:cNvSpPr/>
          <p:nvPr/>
        </p:nvSpPr>
        <p:spPr>
          <a:xfrm>
            <a:off x="3108960" y="914400"/>
            <a:ext cx="2578608" cy="1645920"/>
          </a:xfrm>
          <a:prstGeom prst="ROUNDED_RECTANGLE">
            <a:avLst>
              <a:gd name="adj" fmla="val 5000"/>
            </a:avLst>
          </a:prstGeom>
          <a:solidFill>
            <a:srgbClr val="FFFFFF"/>
          </a:solidFill>
          <a:ln w="12700">
            <a:solidFill>
              <a:srgbClr val="D6EDEC"/>
            </a:solidFill>
            <a:prstDash val="solid"/>
          </a:ln>
        </p:spPr>
      </p:sp>
      <p:sp>
        <p:nvSpPr>
          <p:cNvPr id="15" name="Shape 13"/>
          <p:cNvSpPr/>
          <p:nvPr/>
        </p:nvSpPr>
        <p:spPr>
          <a:xfrm>
            <a:off x="3108960" y="914400"/>
            <a:ext cx="2578608" cy="365760"/>
          </a:xfrm>
          <a:prstGeom prst="ROUNDED_RECTANGLE">
            <a:avLst>
              <a:gd name="adj" fmla="val 22500"/>
            </a:avLst>
          </a:prstGeom>
          <a:solidFill>
            <a:srgbClr val="1A8884"/>
          </a:solidFill>
          <a:ln w="12700">
            <a:solidFill>
              <a:srgbClr val="1A8884"/>
            </a:solidFill>
            <a:prstDash val="solid"/>
          </a:ln>
        </p:spPr>
      </p:sp>
      <p:sp>
        <p:nvSpPr>
          <p:cNvPr id="16" name="Shape 14"/>
          <p:cNvSpPr/>
          <p:nvPr/>
        </p:nvSpPr>
        <p:spPr>
          <a:xfrm>
            <a:off x="3108960" y="1115568"/>
            <a:ext cx="2578608" cy="182880"/>
          </a:xfrm>
          <a:prstGeom prst="RECTANGLE">
            <a:avLst/>
          </a:prstGeom>
          <a:solidFill>
            <a:srgbClr val="1A8884"/>
          </a:solidFill>
          <a:ln w="12700">
            <a:solidFill>
              <a:srgbClr val="1A8884"/>
            </a:solidFill>
            <a:prstDash val="solid"/>
          </a:ln>
        </p:spPr>
      </p:sp>
      <p:sp>
        <p:nvSpPr>
          <p:cNvPr id="17" name="Text 15"/>
          <p:cNvSpPr/>
          <p:nvPr/>
        </p:nvSpPr>
        <p:spPr>
          <a:xfrm>
            <a:off x="3236976" y="969264"/>
            <a:ext cx="2322576"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Backend</a:t>
            </a:r>
            <a:endParaRPr lang="en-US" sz="1150" dirty="0"/>
          </a:p>
        </p:txBody>
      </p:sp>
      <p:sp>
        <p:nvSpPr>
          <p:cNvPr id="18" name="Text 16"/>
          <p:cNvSpPr/>
          <p:nvPr/>
        </p:nvSpPr>
        <p:spPr>
          <a:xfrm>
            <a:off x="3236976" y="1371600"/>
            <a:ext cx="2322576" cy="18288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Python 3.11</a:t>
            </a:r>
            <a:endParaRPr lang="en-US" sz="950" dirty="0"/>
          </a:p>
        </p:txBody>
      </p:sp>
      <p:sp>
        <p:nvSpPr>
          <p:cNvPr id="19" name="Text 17"/>
          <p:cNvSpPr/>
          <p:nvPr/>
        </p:nvSpPr>
        <p:spPr>
          <a:xfrm>
            <a:off x="3236976" y="1572768"/>
            <a:ext cx="2322576" cy="18288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FastAPI</a:t>
            </a:r>
            <a:endParaRPr lang="en-US" sz="950" dirty="0"/>
          </a:p>
        </p:txBody>
      </p:sp>
      <p:sp>
        <p:nvSpPr>
          <p:cNvPr id="20" name="Text 18"/>
          <p:cNvSpPr/>
          <p:nvPr/>
        </p:nvSpPr>
        <p:spPr>
          <a:xfrm>
            <a:off x="3236976" y="1773936"/>
            <a:ext cx="2322576" cy="18288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Uvicorn (ASGI)</a:t>
            </a:r>
            <a:endParaRPr lang="en-US" sz="950" dirty="0"/>
          </a:p>
        </p:txBody>
      </p:sp>
      <p:sp>
        <p:nvSpPr>
          <p:cNvPr id="21" name="Text 19"/>
          <p:cNvSpPr/>
          <p:nvPr/>
        </p:nvSpPr>
        <p:spPr>
          <a:xfrm>
            <a:off x="3236976" y="1975104"/>
            <a:ext cx="2322576" cy="18288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Motor (async)</a:t>
            </a:r>
            <a:endParaRPr lang="en-US" sz="950" dirty="0"/>
          </a:p>
        </p:txBody>
      </p:sp>
      <p:sp>
        <p:nvSpPr>
          <p:cNvPr id="22" name="Text 20"/>
          <p:cNvSpPr/>
          <p:nvPr/>
        </p:nvSpPr>
        <p:spPr>
          <a:xfrm>
            <a:off x="3236976" y="2176272"/>
            <a:ext cx="2322576" cy="18288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Pydantic v2</a:t>
            </a:r>
            <a:endParaRPr lang="en-US" sz="950" dirty="0"/>
          </a:p>
        </p:txBody>
      </p:sp>
      <p:sp>
        <p:nvSpPr>
          <p:cNvPr id="23" name="Text 21"/>
          <p:cNvSpPr/>
          <p:nvPr/>
        </p:nvSpPr>
        <p:spPr>
          <a:xfrm>
            <a:off x="3236976" y="2377440"/>
            <a:ext cx="2322576" cy="18288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supervisord</a:t>
            </a:r>
            <a:endParaRPr lang="en-US" sz="950" dirty="0"/>
          </a:p>
        </p:txBody>
      </p:sp>
      <p:sp>
        <p:nvSpPr>
          <p:cNvPr id="24" name="Shape 22"/>
          <p:cNvSpPr/>
          <p:nvPr/>
        </p:nvSpPr>
        <p:spPr>
          <a:xfrm>
            <a:off x="5760720" y="914400"/>
            <a:ext cx="2578608" cy="1645920"/>
          </a:xfrm>
          <a:prstGeom prst="ROUNDED_RECTANGLE">
            <a:avLst>
              <a:gd name="adj" fmla="val 5000"/>
            </a:avLst>
          </a:prstGeom>
          <a:solidFill>
            <a:srgbClr val="FFFFFF"/>
          </a:solidFill>
          <a:ln w="12700">
            <a:solidFill>
              <a:srgbClr val="D6EDEC"/>
            </a:solidFill>
            <a:prstDash val="solid"/>
          </a:ln>
        </p:spPr>
      </p:sp>
      <p:sp>
        <p:nvSpPr>
          <p:cNvPr id="25" name="Shape 23"/>
          <p:cNvSpPr/>
          <p:nvPr/>
        </p:nvSpPr>
        <p:spPr>
          <a:xfrm>
            <a:off x="5760720" y="914400"/>
            <a:ext cx="2578608" cy="365760"/>
          </a:xfrm>
          <a:prstGeom prst="ROUNDED_RECTANGLE">
            <a:avLst>
              <a:gd name="adj" fmla="val 22500"/>
            </a:avLst>
          </a:prstGeom>
          <a:solidFill>
            <a:srgbClr val="065F46"/>
          </a:solidFill>
          <a:ln w="12700">
            <a:solidFill>
              <a:srgbClr val="065F46"/>
            </a:solidFill>
            <a:prstDash val="solid"/>
          </a:ln>
        </p:spPr>
      </p:sp>
      <p:sp>
        <p:nvSpPr>
          <p:cNvPr id="26" name="Shape 24"/>
          <p:cNvSpPr/>
          <p:nvPr/>
        </p:nvSpPr>
        <p:spPr>
          <a:xfrm>
            <a:off x="5760720" y="1115568"/>
            <a:ext cx="2578608" cy="182880"/>
          </a:xfrm>
          <a:prstGeom prst="RECTANGLE">
            <a:avLst/>
          </a:prstGeom>
          <a:solidFill>
            <a:srgbClr val="065F46"/>
          </a:solidFill>
          <a:ln w="12700">
            <a:solidFill>
              <a:srgbClr val="065F46"/>
            </a:solidFill>
            <a:prstDash val="solid"/>
          </a:ln>
        </p:spPr>
      </p:sp>
      <p:sp>
        <p:nvSpPr>
          <p:cNvPr id="27" name="Text 25"/>
          <p:cNvSpPr/>
          <p:nvPr/>
        </p:nvSpPr>
        <p:spPr>
          <a:xfrm>
            <a:off x="5888736" y="969264"/>
            <a:ext cx="2322576"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Database</a:t>
            </a:r>
            <a:endParaRPr lang="en-US" sz="1150" dirty="0"/>
          </a:p>
        </p:txBody>
      </p:sp>
      <p:sp>
        <p:nvSpPr>
          <p:cNvPr id="28" name="Text 26"/>
          <p:cNvSpPr/>
          <p:nvPr/>
        </p:nvSpPr>
        <p:spPr>
          <a:xfrm>
            <a:off x="5888736" y="1371600"/>
            <a:ext cx="2322576" cy="18288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MongoDB</a:t>
            </a:r>
            <a:endParaRPr lang="en-US" sz="950" dirty="0"/>
          </a:p>
        </p:txBody>
      </p:sp>
      <p:sp>
        <p:nvSpPr>
          <p:cNvPr id="29" name="Text 27"/>
          <p:cNvSpPr/>
          <p:nvPr/>
        </p:nvSpPr>
        <p:spPr>
          <a:xfrm>
            <a:off x="5888736" y="1572768"/>
            <a:ext cx="2322576" cy="18288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Motor async driver</a:t>
            </a:r>
            <a:endParaRPr lang="en-US" sz="950" dirty="0"/>
          </a:p>
        </p:txBody>
      </p:sp>
      <p:sp>
        <p:nvSpPr>
          <p:cNvPr id="30" name="Text 28"/>
          <p:cNvSpPr/>
          <p:nvPr/>
        </p:nvSpPr>
        <p:spPr>
          <a:xfrm>
            <a:off x="5888736" y="1773936"/>
            <a:ext cx="2322576" cy="18288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User-scoped collections</a:t>
            </a:r>
            <a:endParaRPr lang="en-US" sz="950" dirty="0"/>
          </a:p>
        </p:txBody>
      </p:sp>
      <p:sp>
        <p:nvSpPr>
          <p:cNvPr id="31" name="Text 29"/>
          <p:cNvSpPr/>
          <p:nvPr/>
        </p:nvSpPr>
        <p:spPr>
          <a:xfrm>
            <a:off x="5888736" y="1975104"/>
            <a:ext cx="2322576" cy="18288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Document vault storage</a:t>
            </a:r>
            <a:endParaRPr lang="en-US" sz="950" dirty="0"/>
          </a:p>
        </p:txBody>
      </p:sp>
      <p:sp>
        <p:nvSpPr>
          <p:cNvPr id="32" name="Shape 30"/>
          <p:cNvSpPr/>
          <p:nvPr/>
        </p:nvSpPr>
        <p:spPr>
          <a:xfrm>
            <a:off x="457200" y="2670048"/>
            <a:ext cx="2578608" cy="1645920"/>
          </a:xfrm>
          <a:prstGeom prst="ROUNDED_RECTANGLE">
            <a:avLst>
              <a:gd name="adj" fmla="val 5000"/>
            </a:avLst>
          </a:prstGeom>
          <a:solidFill>
            <a:srgbClr val="FFFFFF"/>
          </a:solidFill>
          <a:ln w="12700">
            <a:solidFill>
              <a:srgbClr val="D6EDEC"/>
            </a:solidFill>
            <a:prstDash val="solid"/>
          </a:ln>
        </p:spPr>
      </p:sp>
      <p:sp>
        <p:nvSpPr>
          <p:cNvPr id="33" name="Shape 31"/>
          <p:cNvSpPr/>
          <p:nvPr/>
        </p:nvSpPr>
        <p:spPr>
          <a:xfrm>
            <a:off x="457200" y="2670048"/>
            <a:ext cx="2578608" cy="365760"/>
          </a:xfrm>
          <a:prstGeom prst="ROUNDED_RECTANGLE">
            <a:avLst>
              <a:gd name="adj" fmla="val 22500"/>
            </a:avLst>
          </a:prstGeom>
          <a:solidFill>
            <a:srgbClr val="7B1FA2"/>
          </a:solidFill>
          <a:ln w="12700">
            <a:solidFill>
              <a:srgbClr val="7B1FA2"/>
            </a:solidFill>
            <a:prstDash val="solid"/>
          </a:ln>
        </p:spPr>
      </p:sp>
      <p:sp>
        <p:nvSpPr>
          <p:cNvPr id="34" name="Shape 32"/>
          <p:cNvSpPr/>
          <p:nvPr/>
        </p:nvSpPr>
        <p:spPr>
          <a:xfrm>
            <a:off x="457200" y="2871216"/>
            <a:ext cx="2578608" cy="182880"/>
          </a:xfrm>
          <a:prstGeom prst="RECTANGLE">
            <a:avLst/>
          </a:prstGeom>
          <a:solidFill>
            <a:srgbClr val="7B1FA2"/>
          </a:solidFill>
          <a:ln w="12700">
            <a:solidFill>
              <a:srgbClr val="7B1FA2"/>
            </a:solidFill>
            <a:prstDash val="solid"/>
          </a:ln>
        </p:spPr>
      </p:sp>
      <p:sp>
        <p:nvSpPr>
          <p:cNvPr id="35" name="Text 33"/>
          <p:cNvSpPr/>
          <p:nvPr/>
        </p:nvSpPr>
        <p:spPr>
          <a:xfrm>
            <a:off x="585216" y="2724912"/>
            <a:ext cx="2322576"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AI &amp; LLM</a:t>
            </a:r>
            <a:endParaRPr lang="en-US" sz="1150" dirty="0"/>
          </a:p>
        </p:txBody>
      </p:sp>
      <p:sp>
        <p:nvSpPr>
          <p:cNvPr id="36" name="Text 34"/>
          <p:cNvSpPr/>
          <p:nvPr/>
        </p:nvSpPr>
        <p:spPr>
          <a:xfrm>
            <a:off x="585216" y="3127248"/>
            <a:ext cx="2322576" cy="18288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Claude Sonnet 4.5</a:t>
            </a:r>
            <a:endParaRPr lang="en-US" sz="950" dirty="0"/>
          </a:p>
        </p:txBody>
      </p:sp>
      <p:sp>
        <p:nvSpPr>
          <p:cNvPr id="37" name="Text 35"/>
          <p:cNvSpPr/>
          <p:nvPr/>
        </p:nvSpPr>
        <p:spPr>
          <a:xfrm>
            <a:off x="585216" y="3328416"/>
            <a:ext cx="2322576" cy="18288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Emergent LLM Gateway</a:t>
            </a:r>
            <a:endParaRPr lang="en-US" sz="950" dirty="0"/>
          </a:p>
        </p:txBody>
      </p:sp>
      <p:sp>
        <p:nvSpPr>
          <p:cNvPr id="38" name="Text 36"/>
          <p:cNvSpPr/>
          <p:nvPr/>
        </p:nvSpPr>
        <p:spPr>
          <a:xfrm>
            <a:off x="585216" y="3529584"/>
            <a:ext cx="2322576" cy="18288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AIProvider abstraction</a:t>
            </a:r>
            <a:endParaRPr lang="en-US" sz="950" dirty="0"/>
          </a:p>
        </p:txBody>
      </p:sp>
      <p:sp>
        <p:nvSpPr>
          <p:cNvPr id="39" name="Text 37"/>
          <p:cNvSpPr/>
          <p:nvPr/>
        </p:nvSpPr>
        <p:spPr>
          <a:xfrm>
            <a:off x="585216" y="3730752"/>
            <a:ext cx="2322576" cy="18288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Structured JSON output</a:t>
            </a:r>
            <a:endParaRPr lang="en-US" sz="950" dirty="0"/>
          </a:p>
        </p:txBody>
      </p:sp>
      <p:sp>
        <p:nvSpPr>
          <p:cNvPr id="40" name="Text 38"/>
          <p:cNvSpPr/>
          <p:nvPr/>
        </p:nvSpPr>
        <p:spPr>
          <a:xfrm>
            <a:off x="585216" y="3931920"/>
            <a:ext cx="2322576" cy="18288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Retry + fallback handling</a:t>
            </a:r>
            <a:endParaRPr lang="en-US" sz="950" dirty="0"/>
          </a:p>
        </p:txBody>
      </p:sp>
      <p:sp>
        <p:nvSpPr>
          <p:cNvPr id="41" name="Shape 39"/>
          <p:cNvSpPr/>
          <p:nvPr/>
        </p:nvSpPr>
        <p:spPr>
          <a:xfrm>
            <a:off x="3108960" y="2670048"/>
            <a:ext cx="2578608" cy="1645920"/>
          </a:xfrm>
          <a:prstGeom prst="ROUNDED_RECTANGLE">
            <a:avLst>
              <a:gd name="adj" fmla="val 5000"/>
            </a:avLst>
          </a:prstGeom>
          <a:solidFill>
            <a:srgbClr val="FFFFFF"/>
          </a:solidFill>
          <a:ln w="12700">
            <a:solidFill>
              <a:srgbClr val="D6EDEC"/>
            </a:solidFill>
            <a:prstDash val="solid"/>
          </a:ln>
        </p:spPr>
      </p:sp>
      <p:sp>
        <p:nvSpPr>
          <p:cNvPr id="42" name="Shape 40"/>
          <p:cNvSpPr/>
          <p:nvPr/>
        </p:nvSpPr>
        <p:spPr>
          <a:xfrm>
            <a:off x="3108960" y="2670048"/>
            <a:ext cx="2578608" cy="365760"/>
          </a:xfrm>
          <a:prstGeom prst="ROUNDED_RECTANGLE">
            <a:avLst>
              <a:gd name="adj" fmla="val 22500"/>
            </a:avLst>
          </a:prstGeom>
          <a:solidFill>
            <a:srgbClr val="DC2626"/>
          </a:solidFill>
          <a:ln w="12700">
            <a:solidFill>
              <a:srgbClr val="DC2626"/>
            </a:solidFill>
            <a:prstDash val="solid"/>
          </a:ln>
        </p:spPr>
      </p:sp>
      <p:sp>
        <p:nvSpPr>
          <p:cNvPr id="43" name="Shape 41"/>
          <p:cNvSpPr/>
          <p:nvPr/>
        </p:nvSpPr>
        <p:spPr>
          <a:xfrm>
            <a:off x="3108960" y="2871216"/>
            <a:ext cx="2578608" cy="182880"/>
          </a:xfrm>
          <a:prstGeom prst="RECTANGLE">
            <a:avLst/>
          </a:prstGeom>
          <a:solidFill>
            <a:srgbClr val="DC2626"/>
          </a:solidFill>
          <a:ln w="12700">
            <a:solidFill>
              <a:srgbClr val="DC2626"/>
            </a:solidFill>
            <a:prstDash val="solid"/>
          </a:ln>
        </p:spPr>
      </p:sp>
      <p:sp>
        <p:nvSpPr>
          <p:cNvPr id="44" name="Text 42"/>
          <p:cNvSpPr/>
          <p:nvPr/>
        </p:nvSpPr>
        <p:spPr>
          <a:xfrm>
            <a:off x="3236976" y="2724912"/>
            <a:ext cx="2322576"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Authentication</a:t>
            </a:r>
            <a:endParaRPr lang="en-US" sz="1150" dirty="0"/>
          </a:p>
        </p:txBody>
      </p:sp>
      <p:sp>
        <p:nvSpPr>
          <p:cNvPr id="45" name="Text 43"/>
          <p:cNvSpPr/>
          <p:nvPr/>
        </p:nvSpPr>
        <p:spPr>
          <a:xfrm>
            <a:off x="3236976" y="3127248"/>
            <a:ext cx="2322576" cy="18288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JWT (HS256)</a:t>
            </a:r>
            <a:endParaRPr lang="en-US" sz="950" dirty="0"/>
          </a:p>
        </p:txBody>
      </p:sp>
      <p:sp>
        <p:nvSpPr>
          <p:cNvPr id="46" name="Text 44"/>
          <p:cNvSpPr/>
          <p:nvPr/>
        </p:nvSpPr>
        <p:spPr>
          <a:xfrm>
            <a:off x="3236976" y="3328416"/>
            <a:ext cx="2322576" cy="18288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bcrypt hashing</a:t>
            </a:r>
            <a:endParaRPr lang="en-US" sz="950" dirty="0"/>
          </a:p>
        </p:txBody>
      </p:sp>
      <p:sp>
        <p:nvSpPr>
          <p:cNvPr id="47" name="Text 45"/>
          <p:cNvSpPr/>
          <p:nvPr/>
        </p:nvSpPr>
        <p:spPr>
          <a:xfrm>
            <a:off x="3236976" y="3529584"/>
            <a:ext cx="2322576" cy="18288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Google OAuth 2.0</a:t>
            </a:r>
            <a:endParaRPr lang="en-US" sz="950" dirty="0"/>
          </a:p>
        </p:txBody>
      </p:sp>
      <p:sp>
        <p:nvSpPr>
          <p:cNvPr id="48" name="Text 46"/>
          <p:cNvSpPr/>
          <p:nvPr/>
        </p:nvSpPr>
        <p:spPr>
          <a:xfrm>
            <a:off x="3236976" y="3730752"/>
            <a:ext cx="2322576" cy="18288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HttpOnly Secure cookies</a:t>
            </a:r>
            <a:endParaRPr lang="en-US" sz="950" dirty="0"/>
          </a:p>
        </p:txBody>
      </p:sp>
      <p:sp>
        <p:nvSpPr>
          <p:cNvPr id="49" name="Shape 47"/>
          <p:cNvSpPr/>
          <p:nvPr/>
        </p:nvSpPr>
        <p:spPr>
          <a:xfrm>
            <a:off x="5760720" y="2670048"/>
            <a:ext cx="2578608" cy="1645920"/>
          </a:xfrm>
          <a:prstGeom prst="ROUNDED_RECTANGLE">
            <a:avLst>
              <a:gd name="adj" fmla="val 5000"/>
            </a:avLst>
          </a:prstGeom>
          <a:solidFill>
            <a:srgbClr val="FFFFFF"/>
          </a:solidFill>
          <a:ln w="12700">
            <a:solidFill>
              <a:srgbClr val="D6EDEC"/>
            </a:solidFill>
            <a:prstDash val="solid"/>
          </a:ln>
        </p:spPr>
      </p:sp>
      <p:sp>
        <p:nvSpPr>
          <p:cNvPr id="50" name="Shape 48"/>
          <p:cNvSpPr/>
          <p:nvPr/>
        </p:nvSpPr>
        <p:spPr>
          <a:xfrm>
            <a:off x="5760720" y="2670048"/>
            <a:ext cx="2578608" cy="365760"/>
          </a:xfrm>
          <a:prstGeom prst="ROUNDED_RECTANGLE">
            <a:avLst>
              <a:gd name="adj" fmla="val 22500"/>
            </a:avLst>
          </a:prstGeom>
          <a:solidFill>
            <a:srgbClr val="B45309"/>
          </a:solidFill>
          <a:ln w="12700">
            <a:solidFill>
              <a:srgbClr val="B45309"/>
            </a:solidFill>
            <a:prstDash val="solid"/>
          </a:ln>
        </p:spPr>
      </p:sp>
      <p:sp>
        <p:nvSpPr>
          <p:cNvPr id="51" name="Shape 49"/>
          <p:cNvSpPr/>
          <p:nvPr/>
        </p:nvSpPr>
        <p:spPr>
          <a:xfrm>
            <a:off x="5760720" y="2871216"/>
            <a:ext cx="2578608" cy="182880"/>
          </a:xfrm>
          <a:prstGeom prst="RECTANGLE">
            <a:avLst/>
          </a:prstGeom>
          <a:solidFill>
            <a:srgbClr val="B45309"/>
          </a:solidFill>
          <a:ln w="12700">
            <a:solidFill>
              <a:srgbClr val="B45309"/>
            </a:solidFill>
            <a:prstDash val="solid"/>
          </a:ln>
        </p:spPr>
      </p:sp>
      <p:sp>
        <p:nvSpPr>
          <p:cNvPr id="52" name="Text 50"/>
          <p:cNvSpPr/>
          <p:nvPr/>
        </p:nvSpPr>
        <p:spPr>
          <a:xfrm>
            <a:off x="5888736" y="2724912"/>
            <a:ext cx="2322576"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Deployment</a:t>
            </a:r>
            <a:endParaRPr lang="en-US" sz="1150" dirty="0"/>
          </a:p>
        </p:txBody>
      </p:sp>
      <p:sp>
        <p:nvSpPr>
          <p:cNvPr id="53" name="Text 51"/>
          <p:cNvSpPr/>
          <p:nvPr/>
        </p:nvSpPr>
        <p:spPr>
          <a:xfrm>
            <a:off x="5888736" y="3127248"/>
            <a:ext cx="2322576" cy="18288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Port 3000 (Frontend)</a:t>
            </a:r>
            <a:endParaRPr lang="en-US" sz="950" dirty="0"/>
          </a:p>
        </p:txBody>
      </p:sp>
      <p:sp>
        <p:nvSpPr>
          <p:cNvPr id="54" name="Text 52"/>
          <p:cNvSpPr/>
          <p:nvPr/>
        </p:nvSpPr>
        <p:spPr>
          <a:xfrm>
            <a:off x="5888736" y="3328416"/>
            <a:ext cx="2322576" cy="18288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Port 8001 (API)</a:t>
            </a:r>
            <a:endParaRPr lang="en-US" sz="950" dirty="0"/>
          </a:p>
        </p:txBody>
      </p:sp>
      <p:sp>
        <p:nvSpPr>
          <p:cNvPr id="55" name="Text 53"/>
          <p:cNvSpPr/>
          <p:nvPr/>
        </p:nvSpPr>
        <p:spPr>
          <a:xfrm>
            <a:off x="5888736" y="3529584"/>
            <a:ext cx="2322576" cy="18288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supervisord process mgmt</a:t>
            </a:r>
            <a:endParaRPr lang="en-US" sz="950" dirty="0"/>
          </a:p>
        </p:txBody>
      </p:sp>
      <p:sp>
        <p:nvSpPr>
          <p:cNvPr id="56" name="Text 54"/>
          <p:cNvSpPr/>
          <p:nvPr/>
        </p:nvSpPr>
        <p:spPr>
          <a:xfrm>
            <a:off x="5888736" y="3730752"/>
            <a:ext cx="2322576" cy="182880"/>
          </a:xfrm>
          <a:prstGeom prst="rect">
            <a:avLst/>
          </a:prstGeom>
          <a:noFill/>
          <a:ln/>
        </p:spPr>
        <p:txBody>
          <a:bodyPr wrap="square" rtlCol="0" anchor="ctr"/>
          <a:lstStyle/>
          <a:p>
            <a:pPr indent="0" marL="0">
              <a:buNone/>
            </a:pPr>
            <a:r>
              <a:rPr lang="en-US" sz="950" dirty="0">
                <a:solidFill>
                  <a:srgbClr val="0F172A"/>
                </a:solidFill>
                <a:latin typeface="Calibri" pitchFamily="34" charset="0"/>
                <a:ea typeface="Calibri" pitchFamily="34" charset="-122"/>
                <a:cs typeface="Calibri" pitchFamily="34" charset="-120"/>
              </a:rPr>
              <a:t>▸  Ubuntu Linux 24.04</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A"/>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AI Architecture &amp; Provider Abstraction</a:t>
            </a:r>
            <a:endParaRPr lang="en-US" sz="2600" dirty="0"/>
          </a:p>
        </p:txBody>
      </p:sp>
      <p:sp>
        <p:nvSpPr>
          <p:cNvPr id="3" name="Shape 1"/>
          <p:cNvSpPr/>
          <p:nvPr/>
        </p:nvSpPr>
        <p:spPr>
          <a:xfrm>
            <a:off x="457200" y="749808"/>
            <a:ext cx="384048" cy="50292"/>
          </a:xfrm>
          <a:prstGeom prst="ROUNDED_RECTANGLE">
            <a:avLst>
              <a:gd name="adj" fmla="val 54545"/>
            </a:avLst>
          </a:prstGeom>
          <a:solidFill>
            <a:srgbClr val="12B5A8"/>
          </a:solidFill>
          <a:ln w="12700">
            <a:solidFill>
              <a:srgbClr val="12B5A8"/>
            </a:solidFill>
            <a:prstDash val="solid"/>
          </a:ln>
        </p:spPr>
      </p:sp>
      <p:sp>
        <p:nvSpPr>
          <p:cNvPr id="4" name="Shape 2"/>
          <p:cNvSpPr/>
          <p:nvPr/>
        </p:nvSpPr>
        <p:spPr>
          <a:xfrm>
            <a:off x="457200" y="932688"/>
            <a:ext cx="3401568" cy="493776"/>
          </a:xfrm>
          <a:prstGeom prst="ROUNDED_RECTANGLE">
            <a:avLst>
              <a:gd name="adj" fmla="val 12963"/>
            </a:avLst>
          </a:prstGeom>
          <a:solidFill>
            <a:srgbClr val="1A4B8C"/>
          </a:solidFill>
          <a:ln w="12700">
            <a:solidFill>
              <a:srgbClr val="1A4B8C"/>
            </a:solidFill>
            <a:prstDash val="solid"/>
          </a:ln>
        </p:spPr>
      </p:sp>
      <p:sp>
        <p:nvSpPr>
          <p:cNvPr id="5" name="Text 3"/>
          <p:cNvSpPr/>
          <p:nvPr/>
        </p:nvSpPr>
        <p:spPr>
          <a:xfrm>
            <a:off x="594360" y="978408"/>
            <a:ext cx="3127248" cy="237744"/>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AI Services (FastAPI)</a:t>
            </a:r>
            <a:endParaRPr lang="en-US" sz="1150" dirty="0"/>
          </a:p>
        </p:txBody>
      </p:sp>
      <p:sp>
        <p:nvSpPr>
          <p:cNvPr id="6" name="Text 4"/>
          <p:cNvSpPr/>
          <p:nvPr/>
        </p:nvSpPr>
        <p:spPr>
          <a:xfrm>
            <a:off x="594360" y="1216152"/>
            <a:ext cx="3127248" cy="182880"/>
          </a:xfrm>
          <a:prstGeom prst="rect">
            <a:avLst/>
          </a:prstGeom>
          <a:noFill/>
          <a:ln/>
        </p:spPr>
        <p:txBody>
          <a:bodyPr wrap="square" rtlCol="0" anchor="ctr"/>
          <a:lstStyle/>
          <a:p>
            <a:pPr indent="0" marL="0">
              <a:buNone/>
            </a:pPr>
            <a:r>
              <a:rPr lang="en-US" sz="850" dirty="0">
                <a:solidFill>
                  <a:srgbClr val="D6EDEC"/>
                </a:solidFill>
                <a:latin typeface="Calibri" pitchFamily="34" charset="0"/>
                <a:ea typeface="Calibri" pitchFamily="34" charset="-122"/>
                <a:cs typeface="Calibri" pitchFamily="34" charset="-120"/>
              </a:rPr>
              <a:t>bill_service.py  ·  cost_service.py</a:t>
            </a:r>
            <a:endParaRPr lang="en-US" sz="850" dirty="0"/>
          </a:p>
        </p:txBody>
      </p:sp>
      <p:sp>
        <p:nvSpPr>
          <p:cNvPr id="7" name="Shape 5"/>
          <p:cNvSpPr/>
          <p:nvPr/>
        </p:nvSpPr>
        <p:spPr>
          <a:xfrm>
            <a:off x="2144268" y="1426464"/>
            <a:ext cx="27432" cy="219456"/>
          </a:xfrm>
          <a:prstGeom prst="RECTANGLE">
            <a:avLst/>
          </a:prstGeom>
          <a:solidFill>
            <a:srgbClr val="12B5A8"/>
          </a:solidFill>
          <a:ln w="12700">
            <a:solidFill>
              <a:srgbClr val="12B5A8"/>
            </a:solidFill>
            <a:prstDash val="solid"/>
          </a:ln>
        </p:spPr>
      </p:sp>
      <p:sp>
        <p:nvSpPr>
          <p:cNvPr id="8" name="Shape 6"/>
          <p:cNvSpPr/>
          <p:nvPr/>
        </p:nvSpPr>
        <p:spPr>
          <a:xfrm>
            <a:off x="457200" y="1645920"/>
            <a:ext cx="3401568" cy="493776"/>
          </a:xfrm>
          <a:prstGeom prst="ROUNDED_RECTANGLE">
            <a:avLst>
              <a:gd name="adj" fmla="val 12963"/>
            </a:avLst>
          </a:prstGeom>
          <a:solidFill>
            <a:srgbClr val="1A8884"/>
          </a:solidFill>
          <a:ln w="12700">
            <a:solidFill>
              <a:srgbClr val="1A8884"/>
            </a:solidFill>
            <a:prstDash val="solid"/>
          </a:ln>
        </p:spPr>
      </p:sp>
      <p:sp>
        <p:nvSpPr>
          <p:cNvPr id="9" name="Text 7"/>
          <p:cNvSpPr/>
          <p:nvPr/>
        </p:nvSpPr>
        <p:spPr>
          <a:xfrm>
            <a:off x="594360" y="1691640"/>
            <a:ext cx="3127248" cy="237744"/>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AIProvider (Interface)</a:t>
            </a:r>
            <a:endParaRPr lang="en-US" sz="1150" dirty="0"/>
          </a:p>
        </p:txBody>
      </p:sp>
      <p:sp>
        <p:nvSpPr>
          <p:cNvPr id="10" name="Text 8"/>
          <p:cNvSpPr/>
          <p:nvPr/>
        </p:nvSpPr>
        <p:spPr>
          <a:xfrm>
            <a:off x="594360" y="1929384"/>
            <a:ext cx="3127248" cy="182880"/>
          </a:xfrm>
          <a:prstGeom prst="rect">
            <a:avLst/>
          </a:prstGeom>
          <a:noFill/>
          <a:ln/>
        </p:spPr>
        <p:txBody>
          <a:bodyPr wrap="square" rtlCol="0" anchor="ctr"/>
          <a:lstStyle/>
          <a:p>
            <a:pPr indent="0" marL="0">
              <a:buNone/>
            </a:pPr>
            <a:r>
              <a:rPr lang="en-US" sz="850" dirty="0">
                <a:solidFill>
                  <a:srgbClr val="D6EDEC"/>
                </a:solidFill>
                <a:latin typeface="Calibri" pitchFamily="34" charset="0"/>
                <a:ea typeface="Calibri" pitchFamily="34" charset="-122"/>
                <a:cs typeface="Calibri" pitchFamily="34" charset="-120"/>
              </a:rPr>
              <a:t>Abstract Python ABC  —  provider-agnostic</a:t>
            </a:r>
            <a:endParaRPr lang="en-US" sz="850" dirty="0"/>
          </a:p>
        </p:txBody>
      </p:sp>
      <p:sp>
        <p:nvSpPr>
          <p:cNvPr id="11" name="Shape 9"/>
          <p:cNvSpPr/>
          <p:nvPr/>
        </p:nvSpPr>
        <p:spPr>
          <a:xfrm>
            <a:off x="2144268" y="2139696"/>
            <a:ext cx="27432" cy="219456"/>
          </a:xfrm>
          <a:prstGeom prst="RECTANGLE">
            <a:avLst/>
          </a:prstGeom>
          <a:solidFill>
            <a:srgbClr val="12B5A8"/>
          </a:solidFill>
          <a:ln w="12700">
            <a:solidFill>
              <a:srgbClr val="12B5A8"/>
            </a:solidFill>
            <a:prstDash val="solid"/>
          </a:ln>
        </p:spPr>
      </p:sp>
      <p:sp>
        <p:nvSpPr>
          <p:cNvPr id="12" name="Shape 10"/>
          <p:cNvSpPr/>
          <p:nvPr/>
        </p:nvSpPr>
        <p:spPr>
          <a:xfrm>
            <a:off x="457200" y="2359152"/>
            <a:ext cx="3401568" cy="493776"/>
          </a:xfrm>
          <a:prstGeom prst="ROUNDED_RECTANGLE">
            <a:avLst>
              <a:gd name="adj" fmla="val 12963"/>
            </a:avLst>
          </a:prstGeom>
          <a:solidFill>
            <a:srgbClr val="7B1FA2"/>
          </a:solidFill>
          <a:ln w="12700">
            <a:solidFill>
              <a:srgbClr val="7B1FA2"/>
            </a:solidFill>
            <a:prstDash val="solid"/>
          </a:ln>
        </p:spPr>
      </p:sp>
      <p:sp>
        <p:nvSpPr>
          <p:cNvPr id="13" name="Text 11"/>
          <p:cNvSpPr/>
          <p:nvPr/>
        </p:nvSpPr>
        <p:spPr>
          <a:xfrm>
            <a:off x="594360" y="2404872"/>
            <a:ext cx="3127248" cy="237744"/>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ClaudeProvider</a:t>
            </a:r>
            <a:endParaRPr lang="en-US" sz="1150" dirty="0"/>
          </a:p>
        </p:txBody>
      </p:sp>
      <p:sp>
        <p:nvSpPr>
          <p:cNvPr id="14" name="Text 12"/>
          <p:cNvSpPr/>
          <p:nvPr/>
        </p:nvSpPr>
        <p:spPr>
          <a:xfrm>
            <a:off x="594360" y="2642616"/>
            <a:ext cx="3127248" cy="182880"/>
          </a:xfrm>
          <a:prstGeom prst="rect">
            <a:avLst/>
          </a:prstGeom>
          <a:noFill/>
          <a:ln/>
        </p:spPr>
        <p:txBody>
          <a:bodyPr wrap="square" rtlCol="0" anchor="ctr"/>
          <a:lstStyle/>
          <a:p>
            <a:pPr indent="0" marL="0">
              <a:buNone/>
            </a:pPr>
            <a:r>
              <a:rPr lang="en-US" sz="850" dirty="0">
                <a:solidFill>
                  <a:srgbClr val="D6EDEC"/>
                </a:solidFill>
                <a:latin typeface="Calibri" pitchFamily="34" charset="0"/>
                <a:ea typeface="Calibri" pitchFamily="34" charset="-122"/>
                <a:cs typeface="Calibri" pitchFamily="34" charset="-120"/>
              </a:rPr>
              <a:t>Concrete implementation of AIProvider</a:t>
            </a:r>
            <a:endParaRPr lang="en-US" sz="850" dirty="0"/>
          </a:p>
        </p:txBody>
      </p:sp>
      <p:sp>
        <p:nvSpPr>
          <p:cNvPr id="15" name="Shape 13"/>
          <p:cNvSpPr/>
          <p:nvPr/>
        </p:nvSpPr>
        <p:spPr>
          <a:xfrm>
            <a:off x="2144268" y="2852928"/>
            <a:ext cx="27432" cy="219456"/>
          </a:xfrm>
          <a:prstGeom prst="RECTANGLE">
            <a:avLst/>
          </a:prstGeom>
          <a:solidFill>
            <a:srgbClr val="12B5A8"/>
          </a:solidFill>
          <a:ln w="12700">
            <a:solidFill>
              <a:srgbClr val="12B5A8"/>
            </a:solidFill>
            <a:prstDash val="solid"/>
          </a:ln>
        </p:spPr>
      </p:sp>
      <p:sp>
        <p:nvSpPr>
          <p:cNvPr id="16" name="Shape 14"/>
          <p:cNvSpPr/>
          <p:nvPr/>
        </p:nvSpPr>
        <p:spPr>
          <a:xfrm>
            <a:off x="457200" y="3072384"/>
            <a:ext cx="3401568" cy="493776"/>
          </a:xfrm>
          <a:prstGeom prst="ROUNDED_RECTANGLE">
            <a:avLst>
              <a:gd name="adj" fmla="val 12963"/>
            </a:avLst>
          </a:prstGeom>
          <a:solidFill>
            <a:srgbClr val="0D1B2A"/>
          </a:solidFill>
          <a:ln w="12700">
            <a:solidFill>
              <a:srgbClr val="0D1B2A"/>
            </a:solidFill>
            <a:prstDash val="solid"/>
          </a:ln>
        </p:spPr>
      </p:sp>
      <p:sp>
        <p:nvSpPr>
          <p:cNvPr id="17" name="Text 15"/>
          <p:cNvSpPr/>
          <p:nvPr/>
        </p:nvSpPr>
        <p:spPr>
          <a:xfrm>
            <a:off x="594360" y="3118104"/>
            <a:ext cx="3127248" cy="237744"/>
          </a:xfrm>
          <a:prstGeom prst="rect">
            <a:avLst/>
          </a:prstGeom>
          <a:noFill/>
          <a:ln/>
        </p:spPr>
        <p:txBody>
          <a:bodyPr wrap="square" rtlCol="0" anchor="ctr"/>
          <a:lstStyle/>
          <a:p>
            <a:pPr indent="0" marL="0">
              <a:buNone/>
            </a:pPr>
            <a:r>
              <a:rPr lang="en-US" sz="1150" b="1" dirty="0">
                <a:solidFill>
                  <a:srgbClr val="12B5A8"/>
                </a:solidFill>
                <a:latin typeface="Calibri" pitchFamily="34" charset="0"/>
                <a:ea typeface="Calibri" pitchFamily="34" charset="-122"/>
                <a:cs typeface="Calibri" pitchFamily="34" charset="-120"/>
              </a:rPr>
              <a:t>Emergent LLM Gateway</a:t>
            </a:r>
            <a:endParaRPr lang="en-US" sz="1150" dirty="0"/>
          </a:p>
        </p:txBody>
      </p:sp>
      <p:sp>
        <p:nvSpPr>
          <p:cNvPr id="18" name="Text 16"/>
          <p:cNvSpPr/>
          <p:nvPr/>
        </p:nvSpPr>
        <p:spPr>
          <a:xfrm>
            <a:off x="594360" y="3355848"/>
            <a:ext cx="3127248" cy="182880"/>
          </a:xfrm>
          <a:prstGeom prst="rect">
            <a:avLst/>
          </a:prstGeom>
          <a:noFill/>
          <a:ln/>
        </p:spPr>
        <p:txBody>
          <a:bodyPr wrap="square" rtlCol="0" anchor="ctr"/>
          <a:lstStyle/>
          <a:p>
            <a:pPr indent="0" marL="0">
              <a:buNone/>
            </a:pPr>
            <a:r>
              <a:rPr lang="en-US" sz="850" dirty="0">
                <a:solidFill>
                  <a:srgbClr val="D6EDEC"/>
                </a:solidFill>
                <a:latin typeface="Calibri" pitchFamily="34" charset="0"/>
                <a:ea typeface="Calibri" pitchFamily="34" charset="-122"/>
                <a:cs typeface="Calibri" pitchFamily="34" charset="-120"/>
              </a:rPr>
              <a:t>Universal LLM routing &amp; request handling</a:t>
            </a:r>
            <a:endParaRPr lang="en-US" sz="850" dirty="0"/>
          </a:p>
        </p:txBody>
      </p:sp>
      <p:sp>
        <p:nvSpPr>
          <p:cNvPr id="19" name="Shape 17"/>
          <p:cNvSpPr/>
          <p:nvPr/>
        </p:nvSpPr>
        <p:spPr>
          <a:xfrm>
            <a:off x="2144268" y="3566160"/>
            <a:ext cx="27432" cy="219456"/>
          </a:xfrm>
          <a:prstGeom prst="RECTANGLE">
            <a:avLst/>
          </a:prstGeom>
          <a:solidFill>
            <a:srgbClr val="12B5A8"/>
          </a:solidFill>
          <a:ln w="12700">
            <a:solidFill>
              <a:srgbClr val="12B5A8"/>
            </a:solidFill>
            <a:prstDash val="solid"/>
          </a:ln>
        </p:spPr>
      </p:sp>
      <p:sp>
        <p:nvSpPr>
          <p:cNvPr id="20" name="Shape 18"/>
          <p:cNvSpPr/>
          <p:nvPr/>
        </p:nvSpPr>
        <p:spPr>
          <a:xfrm>
            <a:off x="457200" y="3785616"/>
            <a:ext cx="3401568" cy="493776"/>
          </a:xfrm>
          <a:prstGeom prst="ROUNDED_RECTANGLE">
            <a:avLst>
              <a:gd name="adj" fmla="val 12963"/>
            </a:avLst>
          </a:prstGeom>
          <a:solidFill>
            <a:srgbClr val="D97706"/>
          </a:solidFill>
          <a:ln w="12700">
            <a:solidFill>
              <a:srgbClr val="D97706"/>
            </a:solidFill>
            <a:prstDash val="solid"/>
          </a:ln>
        </p:spPr>
      </p:sp>
      <p:sp>
        <p:nvSpPr>
          <p:cNvPr id="21" name="Text 19"/>
          <p:cNvSpPr/>
          <p:nvPr/>
        </p:nvSpPr>
        <p:spPr>
          <a:xfrm>
            <a:off x="594360" y="3831336"/>
            <a:ext cx="3127248" cy="237744"/>
          </a:xfrm>
          <a:prstGeom prst="rect">
            <a:avLst/>
          </a:prstGeom>
          <a:noFill/>
          <a:ln/>
        </p:spPr>
        <p:txBody>
          <a:bodyPr wrap="square" rtlCol="0" anchor="ctr"/>
          <a:lstStyle/>
          <a:p>
            <a:pPr indent="0" marL="0">
              <a:buNone/>
            </a:pPr>
            <a:r>
              <a:rPr lang="en-US" sz="1150" b="1" dirty="0">
                <a:solidFill>
                  <a:srgbClr val="0D1B2A"/>
                </a:solidFill>
                <a:latin typeface="Calibri" pitchFamily="34" charset="0"/>
                <a:ea typeface="Calibri" pitchFamily="34" charset="-122"/>
                <a:cs typeface="Calibri" pitchFamily="34" charset="-120"/>
              </a:rPr>
              <a:t>Claude Sonnet 4.5</a:t>
            </a:r>
            <a:endParaRPr lang="en-US" sz="1150" dirty="0"/>
          </a:p>
        </p:txBody>
      </p:sp>
      <p:sp>
        <p:nvSpPr>
          <p:cNvPr id="22" name="Text 20"/>
          <p:cNvSpPr/>
          <p:nvPr/>
        </p:nvSpPr>
        <p:spPr>
          <a:xfrm>
            <a:off x="594360" y="4069080"/>
            <a:ext cx="3127248" cy="182880"/>
          </a:xfrm>
          <a:prstGeom prst="rect">
            <a:avLst/>
          </a:prstGeom>
          <a:noFill/>
          <a:ln/>
        </p:spPr>
        <p:txBody>
          <a:bodyPr wrap="square" rtlCol="0" anchor="ctr"/>
          <a:lstStyle/>
          <a:p>
            <a:pPr indent="0" marL="0">
              <a:buNone/>
            </a:pPr>
            <a:r>
              <a:rPr lang="en-US" sz="850" dirty="0">
                <a:solidFill>
                  <a:srgbClr val="475569"/>
                </a:solidFill>
                <a:latin typeface="Calibri" pitchFamily="34" charset="0"/>
                <a:ea typeface="Calibri" pitchFamily="34" charset="-122"/>
                <a:cs typeface="Calibri" pitchFamily="34" charset="-120"/>
              </a:rPr>
              <a:t>Anthropic API  ·  Structured JSON response</a:t>
            </a:r>
            <a:endParaRPr lang="en-US" sz="850" dirty="0"/>
          </a:p>
        </p:txBody>
      </p:sp>
      <p:sp>
        <p:nvSpPr>
          <p:cNvPr id="23" name="Text 21"/>
          <p:cNvSpPr/>
          <p:nvPr/>
        </p:nvSpPr>
        <p:spPr>
          <a:xfrm>
            <a:off x="457200" y="4608576"/>
            <a:ext cx="3401568" cy="182880"/>
          </a:xfrm>
          <a:prstGeom prst="rect">
            <a:avLst/>
          </a:prstGeom>
          <a:noFill/>
          <a:ln/>
        </p:spPr>
        <p:txBody>
          <a:bodyPr wrap="square" rtlCol="0" anchor="ctr"/>
          <a:lstStyle/>
          <a:p>
            <a:pPr indent="0" marL="0">
              <a:buNone/>
            </a:pPr>
            <a:r>
              <a:rPr lang="en-US" sz="700" b="1" spc="150" kern="0" dirty="0">
                <a:solidFill>
                  <a:srgbClr val="718096"/>
                </a:solidFill>
                <a:latin typeface="Calibri" pitchFamily="34" charset="0"/>
                <a:ea typeface="Calibri" pitchFamily="34" charset="-122"/>
                <a:cs typeface="Calibri" pitchFamily="34" charset="-120"/>
              </a:rPr>
              <a:t>PLANNED FUTURE PROVIDERS</a:t>
            </a:r>
            <a:endParaRPr lang="en-US" sz="700" dirty="0"/>
          </a:p>
        </p:txBody>
      </p:sp>
      <p:sp>
        <p:nvSpPr>
          <p:cNvPr id="24" name="Shape 22"/>
          <p:cNvSpPr/>
          <p:nvPr/>
        </p:nvSpPr>
        <p:spPr>
          <a:xfrm>
            <a:off x="457200" y="4791456"/>
            <a:ext cx="1042416" cy="256032"/>
          </a:xfrm>
          <a:prstGeom prst="ROUNDED_RECTANGLE">
            <a:avLst>
              <a:gd name="adj" fmla="val 14286"/>
            </a:avLst>
          </a:prstGeom>
          <a:solidFill>
            <a:srgbClr val="F0F0F0"/>
          </a:solidFill>
          <a:ln w="12700">
            <a:solidFill>
              <a:srgbClr val="D6EDEC"/>
            </a:solidFill>
            <a:prstDash val="solid"/>
          </a:ln>
        </p:spPr>
      </p:sp>
      <p:sp>
        <p:nvSpPr>
          <p:cNvPr id="25" name="Text 23"/>
          <p:cNvSpPr/>
          <p:nvPr/>
        </p:nvSpPr>
        <p:spPr>
          <a:xfrm>
            <a:off x="457200" y="4791456"/>
            <a:ext cx="1042416" cy="256032"/>
          </a:xfrm>
          <a:prstGeom prst="rect">
            <a:avLst/>
          </a:prstGeom>
          <a:noFill/>
          <a:ln/>
        </p:spPr>
        <p:txBody>
          <a:bodyPr wrap="square" lIns="0" tIns="0" rIns="0" bIns="0" rtlCol="0" anchor="ctr"/>
          <a:lstStyle/>
          <a:p>
            <a:pPr algn="ctr" indent="0" marL="0">
              <a:buNone/>
            </a:pPr>
            <a:r>
              <a:rPr lang="en-US" sz="800" dirty="0">
                <a:solidFill>
                  <a:srgbClr val="718096"/>
                </a:solidFill>
                <a:latin typeface="Calibri" pitchFamily="34" charset="0"/>
                <a:ea typeface="Calibri" pitchFamily="34" charset="-122"/>
                <a:cs typeface="Calibri" pitchFamily="34" charset="-120"/>
              </a:rPr>
              <a:t>OpenAI GPT-4o</a:t>
            </a:r>
            <a:endParaRPr lang="en-US" sz="800" dirty="0"/>
          </a:p>
        </p:txBody>
      </p:sp>
      <p:sp>
        <p:nvSpPr>
          <p:cNvPr id="26" name="Shape 24"/>
          <p:cNvSpPr/>
          <p:nvPr/>
        </p:nvSpPr>
        <p:spPr>
          <a:xfrm>
            <a:off x="1609344" y="4791456"/>
            <a:ext cx="1042416" cy="256032"/>
          </a:xfrm>
          <a:prstGeom prst="ROUNDED_RECTANGLE">
            <a:avLst>
              <a:gd name="adj" fmla="val 14286"/>
            </a:avLst>
          </a:prstGeom>
          <a:solidFill>
            <a:srgbClr val="F0F0F0"/>
          </a:solidFill>
          <a:ln w="12700">
            <a:solidFill>
              <a:srgbClr val="D6EDEC"/>
            </a:solidFill>
            <a:prstDash val="solid"/>
          </a:ln>
        </p:spPr>
      </p:sp>
      <p:sp>
        <p:nvSpPr>
          <p:cNvPr id="27" name="Text 25"/>
          <p:cNvSpPr/>
          <p:nvPr/>
        </p:nvSpPr>
        <p:spPr>
          <a:xfrm>
            <a:off x="1609344" y="4791456"/>
            <a:ext cx="1042416" cy="256032"/>
          </a:xfrm>
          <a:prstGeom prst="rect">
            <a:avLst/>
          </a:prstGeom>
          <a:noFill/>
          <a:ln/>
        </p:spPr>
        <p:txBody>
          <a:bodyPr wrap="square" lIns="0" tIns="0" rIns="0" bIns="0" rtlCol="0" anchor="ctr"/>
          <a:lstStyle/>
          <a:p>
            <a:pPr algn="ctr" indent="0" marL="0">
              <a:buNone/>
            </a:pPr>
            <a:r>
              <a:rPr lang="en-US" sz="800" dirty="0">
                <a:solidFill>
                  <a:srgbClr val="718096"/>
                </a:solidFill>
                <a:latin typeface="Calibri" pitchFamily="34" charset="0"/>
                <a:ea typeface="Calibri" pitchFamily="34" charset="-122"/>
                <a:cs typeface="Calibri" pitchFamily="34" charset="-120"/>
              </a:rPr>
              <a:t>Google Gemini</a:t>
            </a:r>
            <a:endParaRPr lang="en-US" sz="800" dirty="0"/>
          </a:p>
        </p:txBody>
      </p:sp>
      <p:sp>
        <p:nvSpPr>
          <p:cNvPr id="28" name="Shape 26"/>
          <p:cNvSpPr/>
          <p:nvPr/>
        </p:nvSpPr>
        <p:spPr>
          <a:xfrm>
            <a:off x="2761488" y="4791456"/>
            <a:ext cx="1042416" cy="256032"/>
          </a:xfrm>
          <a:prstGeom prst="ROUNDED_RECTANGLE">
            <a:avLst>
              <a:gd name="adj" fmla="val 14286"/>
            </a:avLst>
          </a:prstGeom>
          <a:solidFill>
            <a:srgbClr val="F0F0F0"/>
          </a:solidFill>
          <a:ln w="12700">
            <a:solidFill>
              <a:srgbClr val="D6EDEC"/>
            </a:solidFill>
            <a:prstDash val="solid"/>
          </a:ln>
        </p:spPr>
      </p:sp>
      <p:sp>
        <p:nvSpPr>
          <p:cNvPr id="29" name="Text 27"/>
          <p:cNvSpPr/>
          <p:nvPr/>
        </p:nvSpPr>
        <p:spPr>
          <a:xfrm>
            <a:off x="2761488" y="4791456"/>
            <a:ext cx="1042416" cy="256032"/>
          </a:xfrm>
          <a:prstGeom prst="rect">
            <a:avLst/>
          </a:prstGeom>
          <a:noFill/>
          <a:ln/>
        </p:spPr>
        <p:txBody>
          <a:bodyPr wrap="square" lIns="0" tIns="0" rIns="0" bIns="0" rtlCol="0" anchor="ctr"/>
          <a:lstStyle/>
          <a:p>
            <a:pPr algn="ctr" indent="0" marL="0">
              <a:buNone/>
            </a:pPr>
            <a:r>
              <a:rPr lang="en-US" sz="800" dirty="0">
                <a:solidFill>
                  <a:srgbClr val="718096"/>
                </a:solidFill>
                <a:latin typeface="Calibri" pitchFamily="34" charset="0"/>
                <a:ea typeface="Calibri" pitchFamily="34" charset="-122"/>
                <a:cs typeface="Calibri" pitchFamily="34" charset="-120"/>
              </a:rPr>
              <a:t>Meta Llama</a:t>
            </a:r>
            <a:endParaRPr lang="en-US" sz="800" dirty="0"/>
          </a:p>
        </p:txBody>
      </p:sp>
      <p:sp>
        <p:nvSpPr>
          <p:cNvPr id="30" name="Shape 28"/>
          <p:cNvSpPr/>
          <p:nvPr/>
        </p:nvSpPr>
        <p:spPr>
          <a:xfrm>
            <a:off x="4114800" y="932688"/>
            <a:ext cx="4572000" cy="694944"/>
          </a:xfrm>
          <a:prstGeom prst="ROUNDED_RECTANGLE">
            <a:avLst>
              <a:gd name="adj" fmla="val 10526"/>
            </a:avLst>
          </a:prstGeom>
          <a:solidFill>
            <a:srgbClr val="E6F5F4"/>
          </a:solidFill>
          <a:ln w="12700">
            <a:solidFill>
              <a:srgbClr val="D6EDEC"/>
            </a:solidFill>
            <a:prstDash val="solid"/>
          </a:ln>
        </p:spPr>
      </p:sp>
      <p:sp>
        <p:nvSpPr>
          <p:cNvPr id="31" name="Shape 29"/>
          <p:cNvSpPr/>
          <p:nvPr/>
        </p:nvSpPr>
        <p:spPr>
          <a:xfrm>
            <a:off x="4114800" y="932688"/>
            <a:ext cx="59436" cy="694944"/>
          </a:xfrm>
          <a:prstGeom prst="ROUNDED_RECTANGLE">
            <a:avLst>
              <a:gd name="adj" fmla="val 61538"/>
            </a:avLst>
          </a:prstGeom>
          <a:solidFill>
            <a:srgbClr val="12B5A8"/>
          </a:solidFill>
          <a:ln w="12700">
            <a:solidFill>
              <a:srgbClr val="12B5A8"/>
            </a:solidFill>
            <a:prstDash val="solid"/>
          </a:ln>
        </p:spPr>
      </p:sp>
      <p:sp>
        <p:nvSpPr>
          <p:cNvPr id="32" name="Text 30"/>
          <p:cNvSpPr/>
          <p:nvPr/>
        </p:nvSpPr>
        <p:spPr>
          <a:xfrm>
            <a:off x="4251960" y="1024128"/>
            <a:ext cx="4297680" cy="256032"/>
          </a:xfrm>
          <a:prstGeom prst="rect">
            <a:avLst/>
          </a:prstGeom>
          <a:noFill/>
          <a:ln/>
        </p:spPr>
        <p:txBody>
          <a:bodyPr wrap="square"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Provider Abstraction</a:t>
            </a:r>
            <a:endParaRPr lang="en-US" sz="1100" dirty="0"/>
          </a:p>
        </p:txBody>
      </p:sp>
      <p:sp>
        <p:nvSpPr>
          <p:cNvPr id="33" name="Text 31"/>
          <p:cNvSpPr/>
          <p:nvPr/>
        </p:nvSpPr>
        <p:spPr>
          <a:xfrm>
            <a:off x="4251960" y="1298448"/>
            <a:ext cx="4297680" cy="274320"/>
          </a:xfrm>
          <a:prstGeom prst="rect">
            <a:avLst/>
          </a:prstGeom>
          <a:noFill/>
          <a:ln/>
        </p:spPr>
        <p:txBody>
          <a:bodyPr wrap="square" rtlCol="0" anchor="ctr"/>
          <a:lstStyle/>
          <a:p>
            <a:pPr indent="0" marL="0">
              <a:lnSpc>
                <a:spcPct val="110000"/>
              </a:lnSpc>
              <a:buNone/>
            </a:pPr>
            <a:r>
              <a:rPr lang="en-US" sz="950" dirty="0">
                <a:solidFill>
                  <a:srgbClr val="475569"/>
                </a:solidFill>
                <a:latin typeface="Calibri" pitchFamily="34" charset="0"/>
                <a:ea typeface="Calibri" pitchFamily="34" charset="-122"/>
                <a:cs typeface="Calibri" pitchFamily="34" charset="-120"/>
              </a:rPr>
              <a:t>Services call the AIProvider interface, not Claude directly. Swap models via config — zero code rewrite needed.</a:t>
            </a:r>
            <a:endParaRPr lang="en-US" sz="950" dirty="0"/>
          </a:p>
        </p:txBody>
      </p:sp>
      <p:sp>
        <p:nvSpPr>
          <p:cNvPr id="34" name="Shape 32"/>
          <p:cNvSpPr/>
          <p:nvPr/>
        </p:nvSpPr>
        <p:spPr>
          <a:xfrm>
            <a:off x="4114800" y="1737360"/>
            <a:ext cx="4572000" cy="694944"/>
          </a:xfrm>
          <a:prstGeom prst="ROUNDED_RECTANGLE">
            <a:avLst>
              <a:gd name="adj" fmla="val 10526"/>
            </a:avLst>
          </a:prstGeom>
          <a:solidFill>
            <a:srgbClr val="E6F5F4"/>
          </a:solidFill>
          <a:ln w="12700">
            <a:solidFill>
              <a:srgbClr val="D6EDEC"/>
            </a:solidFill>
            <a:prstDash val="solid"/>
          </a:ln>
        </p:spPr>
      </p:sp>
      <p:sp>
        <p:nvSpPr>
          <p:cNvPr id="35" name="Shape 33"/>
          <p:cNvSpPr/>
          <p:nvPr/>
        </p:nvSpPr>
        <p:spPr>
          <a:xfrm>
            <a:off x="4114800" y="1737360"/>
            <a:ext cx="59436" cy="694944"/>
          </a:xfrm>
          <a:prstGeom prst="ROUNDED_RECTANGLE">
            <a:avLst>
              <a:gd name="adj" fmla="val 61538"/>
            </a:avLst>
          </a:prstGeom>
          <a:solidFill>
            <a:srgbClr val="12B5A8"/>
          </a:solidFill>
          <a:ln w="12700">
            <a:solidFill>
              <a:srgbClr val="12B5A8"/>
            </a:solidFill>
            <a:prstDash val="solid"/>
          </a:ln>
        </p:spPr>
      </p:sp>
      <p:sp>
        <p:nvSpPr>
          <p:cNvPr id="36" name="Text 34"/>
          <p:cNvSpPr/>
          <p:nvPr/>
        </p:nvSpPr>
        <p:spPr>
          <a:xfrm>
            <a:off x="4251960" y="1828800"/>
            <a:ext cx="4297680" cy="256032"/>
          </a:xfrm>
          <a:prstGeom prst="rect">
            <a:avLst/>
          </a:prstGeom>
          <a:noFill/>
          <a:ln/>
        </p:spPr>
        <p:txBody>
          <a:bodyPr wrap="square"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Structured JSON Output</a:t>
            </a:r>
            <a:endParaRPr lang="en-US" sz="1100" dirty="0"/>
          </a:p>
        </p:txBody>
      </p:sp>
      <p:sp>
        <p:nvSpPr>
          <p:cNvPr id="37" name="Text 35"/>
          <p:cNvSpPr/>
          <p:nvPr/>
        </p:nvSpPr>
        <p:spPr>
          <a:xfrm>
            <a:off x="4251960" y="2103120"/>
            <a:ext cx="4297680" cy="274320"/>
          </a:xfrm>
          <a:prstGeom prst="rect">
            <a:avLst/>
          </a:prstGeom>
          <a:noFill/>
          <a:ln/>
        </p:spPr>
        <p:txBody>
          <a:bodyPr wrap="square" rtlCol="0" anchor="ctr"/>
          <a:lstStyle/>
          <a:p>
            <a:pPr indent="0" marL="0">
              <a:lnSpc>
                <a:spcPct val="110000"/>
              </a:lnSpc>
              <a:buNone/>
            </a:pPr>
            <a:r>
              <a:rPr lang="en-US" sz="950" dirty="0">
                <a:solidFill>
                  <a:srgbClr val="475569"/>
                </a:solidFill>
                <a:latin typeface="Calibri" pitchFamily="34" charset="0"/>
                <a:ea typeface="Calibri" pitchFamily="34" charset="-122"/>
                <a:cs typeface="Calibri" pitchFamily="34" charset="-120"/>
              </a:rPr>
              <a:t>Every prompt specifies a strict JSON schema. Retry + extraction logic handles edge-case malformed responses.</a:t>
            </a:r>
            <a:endParaRPr lang="en-US" sz="950" dirty="0"/>
          </a:p>
        </p:txBody>
      </p:sp>
      <p:sp>
        <p:nvSpPr>
          <p:cNvPr id="38" name="Shape 36"/>
          <p:cNvSpPr/>
          <p:nvPr/>
        </p:nvSpPr>
        <p:spPr>
          <a:xfrm>
            <a:off x="4114800" y="2542032"/>
            <a:ext cx="4572000" cy="694944"/>
          </a:xfrm>
          <a:prstGeom prst="ROUNDED_RECTANGLE">
            <a:avLst>
              <a:gd name="adj" fmla="val 10526"/>
            </a:avLst>
          </a:prstGeom>
          <a:solidFill>
            <a:srgbClr val="E6F5F4"/>
          </a:solidFill>
          <a:ln w="12700">
            <a:solidFill>
              <a:srgbClr val="D6EDEC"/>
            </a:solidFill>
            <a:prstDash val="solid"/>
          </a:ln>
        </p:spPr>
      </p:sp>
      <p:sp>
        <p:nvSpPr>
          <p:cNvPr id="39" name="Shape 37"/>
          <p:cNvSpPr/>
          <p:nvPr/>
        </p:nvSpPr>
        <p:spPr>
          <a:xfrm>
            <a:off x="4114800" y="2542032"/>
            <a:ext cx="59436" cy="694944"/>
          </a:xfrm>
          <a:prstGeom prst="ROUNDED_RECTANGLE">
            <a:avLst>
              <a:gd name="adj" fmla="val 61538"/>
            </a:avLst>
          </a:prstGeom>
          <a:solidFill>
            <a:srgbClr val="12B5A8"/>
          </a:solidFill>
          <a:ln w="12700">
            <a:solidFill>
              <a:srgbClr val="12B5A8"/>
            </a:solidFill>
            <a:prstDash val="solid"/>
          </a:ln>
        </p:spPr>
      </p:sp>
      <p:sp>
        <p:nvSpPr>
          <p:cNvPr id="40" name="Text 38"/>
          <p:cNvSpPr/>
          <p:nvPr/>
        </p:nvSpPr>
        <p:spPr>
          <a:xfrm>
            <a:off x="4251960" y="2633472"/>
            <a:ext cx="4297680" cy="256032"/>
          </a:xfrm>
          <a:prstGeom prst="rect">
            <a:avLst/>
          </a:prstGeom>
          <a:noFill/>
          <a:ln/>
        </p:spPr>
        <p:txBody>
          <a:bodyPr wrap="square"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Retry Handling</a:t>
            </a:r>
            <a:endParaRPr lang="en-US" sz="1100" dirty="0"/>
          </a:p>
        </p:txBody>
      </p:sp>
      <p:sp>
        <p:nvSpPr>
          <p:cNvPr id="41" name="Text 39"/>
          <p:cNvSpPr/>
          <p:nvPr/>
        </p:nvSpPr>
        <p:spPr>
          <a:xfrm>
            <a:off x="4251960" y="2907792"/>
            <a:ext cx="4297680" cy="274320"/>
          </a:xfrm>
          <a:prstGeom prst="rect">
            <a:avLst/>
          </a:prstGeom>
          <a:noFill/>
          <a:ln/>
        </p:spPr>
        <p:txBody>
          <a:bodyPr wrap="square" rtlCol="0" anchor="ctr"/>
          <a:lstStyle/>
          <a:p>
            <a:pPr indent="0" marL="0">
              <a:lnSpc>
                <a:spcPct val="110000"/>
              </a:lnSpc>
              <a:buNone/>
            </a:pPr>
            <a:r>
              <a:rPr lang="en-US" sz="950" dirty="0">
                <a:solidFill>
                  <a:srgbClr val="475569"/>
                </a:solidFill>
                <a:latin typeface="Calibri" pitchFamily="34" charset="0"/>
                <a:ea typeface="Calibri" pitchFamily="34" charset="-122"/>
                <a:cs typeface="Calibri" pitchFamily="34" charset="-120"/>
              </a:rPr>
              <a:t>Transient API errors trigger automatic retries. Production-grade resilience built into the AI service layer.</a:t>
            </a:r>
            <a:endParaRPr lang="en-US" sz="950" dirty="0"/>
          </a:p>
        </p:txBody>
      </p:sp>
      <p:sp>
        <p:nvSpPr>
          <p:cNvPr id="42" name="Shape 40"/>
          <p:cNvSpPr/>
          <p:nvPr/>
        </p:nvSpPr>
        <p:spPr>
          <a:xfrm>
            <a:off x="4114800" y="3346704"/>
            <a:ext cx="4572000" cy="694944"/>
          </a:xfrm>
          <a:prstGeom prst="ROUNDED_RECTANGLE">
            <a:avLst>
              <a:gd name="adj" fmla="val 10526"/>
            </a:avLst>
          </a:prstGeom>
          <a:solidFill>
            <a:srgbClr val="E6F5F4"/>
          </a:solidFill>
          <a:ln w="12700">
            <a:solidFill>
              <a:srgbClr val="D6EDEC"/>
            </a:solidFill>
            <a:prstDash val="solid"/>
          </a:ln>
        </p:spPr>
      </p:sp>
      <p:sp>
        <p:nvSpPr>
          <p:cNvPr id="43" name="Shape 41"/>
          <p:cNvSpPr/>
          <p:nvPr/>
        </p:nvSpPr>
        <p:spPr>
          <a:xfrm>
            <a:off x="4114800" y="3346704"/>
            <a:ext cx="59436" cy="694944"/>
          </a:xfrm>
          <a:prstGeom prst="ROUNDED_RECTANGLE">
            <a:avLst>
              <a:gd name="adj" fmla="val 61538"/>
            </a:avLst>
          </a:prstGeom>
          <a:solidFill>
            <a:srgbClr val="12B5A8"/>
          </a:solidFill>
          <a:ln w="12700">
            <a:solidFill>
              <a:srgbClr val="12B5A8"/>
            </a:solidFill>
            <a:prstDash val="solid"/>
          </a:ln>
        </p:spPr>
      </p:sp>
      <p:sp>
        <p:nvSpPr>
          <p:cNvPr id="44" name="Text 42"/>
          <p:cNvSpPr/>
          <p:nvPr/>
        </p:nvSpPr>
        <p:spPr>
          <a:xfrm>
            <a:off x="4251960" y="3438144"/>
            <a:ext cx="4297680" cy="256032"/>
          </a:xfrm>
          <a:prstGeom prst="rect">
            <a:avLst/>
          </a:prstGeom>
          <a:noFill/>
          <a:ln/>
        </p:spPr>
        <p:txBody>
          <a:bodyPr wrap="square"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Evidence-Based Prompting</a:t>
            </a:r>
            <a:endParaRPr lang="en-US" sz="1100" dirty="0"/>
          </a:p>
        </p:txBody>
      </p:sp>
      <p:sp>
        <p:nvSpPr>
          <p:cNvPr id="45" name="Text 43"/>
          <p:cNvSpPr/>
          <p:nvPr/>
        </p:nvSpPr>
        <p:spPr>
          <a:xfrm>
            <a:off x="4251960" y="3712464"/>
            <a:ext cx="4297680" cy="274320"/>
          </a:xfrm>
          <a:prstGeom prst="rect">
            <a:avLst/>
          </a:prstGeom>
          <a:noFill/>
          <a:ln/>
        </p:spPr>
        <p:txBody>
          <a:bodyPr wrap="square" rtlCol="0" anchor="ctr"/>
          <a:lstStyle/>
          <a:p>
            <a:pPr indent="0" marL="0">
              <a:lnSpc>
                <a:spcPct val="110000"/>
              </a:lnSpc>
              <a:buNone/>
            </a:pPr>
            <a:r>
              <a:rPr lang="en-US" sz="950" dirty="0">
                <a:solidFill>
                  <a:srgbClr val="475569"/>
                </a:solidFill>
                <a:latin typeface="Calibri" pitchFamily="34" charset="0"/>
                <a:ea typeface="Calibri" pitchFamily="34" charset="-122"/>
                <a:cs typeface="Calibri" pitchFamily="34" charset="-120"/>
              </a:rPr>
              <a:t>Prompts enforce cautious, caveat-heavy language. AI is constrained from making definitive fraud accusations.</a:t>
            </a:r>
            <a:endParaRPr lang="en-US" sz="950" dirty="0"/>
          </a:p>
        </p:txBody>
      </p:sp>
      <p:sp>
        <p:nvSpPr>
          <p:cNvPr id="46" name="Shape 44"/>
          <p:cNvSpPr/>
          <p:nvPr/>
        </p:nvSpPr>
        <p:spPr>
          <a:xfrm>
            <a:off x="4114800" y="4151376"/>
            <a:ext cx="4572000" cy="694944"/>
          </a:xfrm>
          <a:prstGeom prst="ROUNDED_RECTANGLE">
            <a:avLst>
              <a:gd name="adj" fmla="val 10526"/>
            </a:avLst>
          </a:prstGeom>
          <a:solidFill>
            <a:srgbClr val="E6F5F4"/>
          </a:solidFill>
          <a:ln w="12700">
            <a:solidFill>
              <a:srgbClr val="D6EDEC"/>
            </a:solidFill>
            <a:prstDash val="solid"/>
          </a:ln>
        </p:spPr>
      </p:sp>
      <p:sp>
        <p:nvSpPr>
          <p:cNvPr id="47" name="Shape 45"/>
          <p:cNvSpPr/>
          <p:nvPr/>
        </p:nvSpPr>
        <p:spPr>
          <a:xfrm>
            <a:off x="4114800" y="4151376"/>
            <a:ext cx="59436" cy="694944"/>
          </a:xfrm>
          <a:prstGeom prst="ROUNDED_RECTANGLE">
            <a:avLst>
              <a:gd name="adj" fmla="val 61538"/>
            </a:avLst>
          </a:prstGeom>
          <a:solidFill>
            <a:srgbClr val="12B5A8"/>
          </a:solidFill>
          <a:ln w="12700">
            <a:solidFill>
              <a:srgbClr val="12B5A8"/>
            </a:solidFill>
            <a:prstDash val="solid"/>
          </a:ln>
        </p:spPr>
      </p:sp>
      <p:sp>
        <p:nvSpPr>
          <p:cNvPr id="48" name="Text 46"/>
          <p:cNvSpPr/>
          <p:nvPr/>
        </p:nvSpPr>
        <p:spPr>
          <a:xfrm>
            <a:off x="4251960" y="4242816"/>
            <a:ext cx="4297680" cy="256032"/>
          </a:xfrm>
          <a:prstGeom prst="rect">
            <a:avLst/>
          </a:prstGeom>
          <a:noFill/>
          <a:ln/>
        </p:spPr>
        <p:txBody>
          <a:bodyPr wrap="square"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City + Tier Context Injection</a:t>
            </a:r>
            <a:endParaRPr lang="en-US" sz="1100" dirty="0"/>
          </a:p>
        </p:txBody>
      </p:sp>
      <p:sp>
        <p:nvSpPr>
          <p:cNvPr id="49" name="Text 47"/>
          <p:cNvSpPr/>
          <p:nvPr/>
        </p:nvSpPr>
        <p:spPr>
          <a:xfrm>
            <a:off x="4251960" y="4517136"/>
            <a:ext cx="4297680" cy="274320"/>
          </a:xfrm>
          <a:prstGeom prst="rect">
            <a:avLst/>
          </a:prstGeom>
          <a:noFill/>
          <a:ln/>
        </p:spPr>
        <p:txBody>
          <a:bodyPr wrap="square" rtlCol="0" anchor="ctr"/>
          <a:lstStyle/>
          <a:p>
            <a:pPr indent="0" marL="0">
              <a:lnSpc>
                <a:spcPct val="110000"/>
              </a:lnSpc>
              <a:buNone/>
            </a:pPr>
            <a:r>
              <a:rPr lang="en-US" sz="950" dirty="0">
                <a:solidFill>
                  <a:srgbClr val="475569"/>
                </a:solidFill>
                <a:latin typeface="Calibri" pitchFamily="34" charset="0"/>
                <a:ea typeface="Calibri" pitchFamily="34" charset="-122"/>
                <a:cs typeface="Calibri" pitchFamily="34" charset="-120"/>
              </a:rPr>
              <a:t>Cost prompts include city, hospital tier, and insurance context for localized, accurate estimates.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A"/>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Security, Privacy &amp; Healthcare Compliance</a:t>
            </a:r>
            <a:endParaRPr lang="en-US" sz="2600" dirty="0"/>
          </a:p>
        </p:txBody>
      </p:sp>
      <p:sp>
        <p:nvSpPr>
          <p:cNvPr id="3" name="Shape 1"/>
          <p:cNvSpPr/>
          <p:nvPr/>
        </p:nvSpPr>
        <p:spPr>
          <a:xfrm>
            <a:off x="457200" y="749808"/>
            <a:ext cx="384048" cy="50292"/>
          </a:xfrm>
          <a:prstGeom prst="ROUNDED_RECTANGLE">
            <a:avLst>
              <a:gd name="adj" fmla="val 54545"/>
            </a:avLst>
          </a:prstGeom>
          <a:solidFill>
            <a:srgbClr val="12B5A8"/>
          </a:solidFill>
          <a:ln w="12700">
            <a:solidFill>
              <a:srgbClr val="12B5A8"/>
            </a:solidFill>
            <a:prstDash val="solid"/>
          </a:ln>
        </p:spPr>
      </p:sp>
      <p:sp>
        <p:nvSpPr>
          <p:cNvPr id="4" name="Shape 2"/>
          <p:cNvSpPr/>
          <p:nvPr/>
        </p:nvSpPr>
        <p:spPr>
          <a:xfrm>
            <a:off x="457200" y="960120"/>
            <a:ext cx="2578608" cy="1261872"/>
          </a:xfrm>
          <a:prstGeom prst="ROUNDED_RECTANGLE">
            <a:avLst>
              <a:gd name="adj" fmla="val 6522"/>
            </a:avLst>
          </a:prstGeom>
          <a:solidFill>
            <a:srgbClr val="FFFFFF"/>
          </a:solidFill>
          <a:ln w="12700">
            <a:solidFill>
              <a:srgbClr val="D6EDEC"/>
            </a:solidFill>
            <a:prstDash val="solid"/>
          </a:ln>
        </p:spPr>
      </p:sp>
      <p:sp>
        <p:nvSpPr>
          <p:cNvPr id="5" name="Shape 3"/>
          <p:cNvSpPr/>
          <p:nvPr/>
        </p:nvSpPr>
        <p:spPr>
          <a:xfrm>
            <a:off x="457200" y="960120"/>
            <a:ext cx="2578608" cy="347472"/>
          </a:xfrm>
          <a:prstGeom prst="ROUNDED_RECTANGLE">
            <a:avLst>
              <a:gd name="adj" fmla="val 23684"/>
            </a:avLst>
          </a:prstGeom>
          <a:solidFill>
            <a:srgbClr val="1A4B8C"/>
          </a:solidFill>
          <a:ln w="12700">
            <a:solidFill>
              <a:srgbClr val="1A4B8C"/>
            </a:solidFill>
            <a:prstDash val="solid"/>
          </a:ln>
        </p:spPr>
      </p:sp>
      <p:sp>
        <p:nvSpPr>
          <p:cNvPr id="6" name="Shape 4"/>
          <p:cNvSpPr/>
          <p:nvPr/>
        </p:nvSpPr>
        <p:spPr>
          <a:xfrm>
            <a:off x="457200" y="1151230"/>
            <a:ext cx="2578608" cy="173736"/>
          </a:xfrm>
          <a:prstGeom prst="RECTANGLE">
            <a:avLst/>
          </a:prstGeom>
          <a:solidFill>
            <a:srgbClr val="1A4B8C"/>
          </a:solidFill>
          <a:ln w="12700">
            <a:solidFill>
              <a:srgbClr val="1A4B8C"/>
            </a:solidFill>
            <a:prstDash val="solid"/>
          </a:ln>
        </p:spPr>
      </p:sp>
      <p:sp>
        <p:nvSpPr>
          <p:cNvPr id="7" name="Text 5"/>
          <p:cNvSpPr/>
          <p:nvPr/>
        </p:nvSpPr>
        <p:spPr>
          <a:xfrm>
            <a:off x="566928" y="1005840"/>
            <a:ext cx="235915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DPDP Act 2023</a:t>
            </a:r>
            <a:endParaRPr lang="en-US" sz="1100" dirty="0"/>
          </a:p>
        </p:txBody>
      </p:sp>
      <p:sp>
        <p:nvSpPr>
          <p:cNvPr id="8" name="Text 6"/>
          <p:cNvSpPr/>
          <p:nvPr/>
        </p:nvSpPr>
        <p:spPr>
          <a:xfrm>
            <a:off x="566928" y="1380744"/>
            <a:ext cx="2359152" cy="768096"/>
          </a:xfrm>
          <a:prstGeom prst="rect">
            <a:avLst/>
          </a:prstGeom>
          <a:noFill/>
          <a:ln/>
        </p:spPr>
        <p:txBody>
          <a:bodyPr wrap="square" rtlCol="0" anchor="ctr"/>
          <a:lstStyle/>
          <a:p>
            <a:pPr indent="0" marL="0">
              <a:lnSpc>
                <a:spcPct val="125000"/>
              </a:lnSpc>
              <a:buNone/>
            </a:pPr>
            <a:r>
              <a:rPr lang="en-US" sz="950" dirty="0">
                <a:solidFill>
                  <a:srgbClr val="0F172A"/>
                </a:solidFill>
                <a:latin typeface="Calibri" pitchFamily="34" charset="0"/>
                <a:ea typeface="Calibri" pitchFamily="34" charset="-122"/>
                <a:cs typeface="Calibri" pitchFamily="34" charset="-120"/>
              </a:rPr>
              <a:t>Data Fiduciary model · Consent management framework · User data rights aligned with Indian law</a:t>
            </a:r>
            <a:endParaRPr lang="en-US" sz="950" dirty="0"/>
          </a:p>
        </p:txBody>
      </p:sp>
      <p:sp>
        <p:nvSpPr>
          <p:cNvPr id="9" name="Shape 7"/>
          <p:cNvSpPr/>
          <p:nvPr/>
        </p:nvSpPr>
        <p:spPr>
          <a:xfrm>
            <a:off x="3127248" y="960120"/>
            <a:ext cx="2578608" cy="1261872"/>
          </a:xfrm>
          <a:prstGeom prst="ROUNDED_RECTANGLE">
            <a:avLst>
              <a:gd name="adj" fmla="val 6522"/>
            </a:avLst>
          </a:prstGeom>
          <a:solidFill>
            <a:srgbClr val="FFFFFF"/>
          </a:solidFill>
          <a:ln w="12700">
            <a:solidFill>
              <a:srgbClr val="D6EDEC"/>
            </a:solidFill>
            <a:prstDash val="solid"/>
          </a:ln>
        </p:spPr>
      </p:sp>
      <p:sp>
        <p:nvSpPr>
          <p:cNvPr id="10" name="Shape 8"/>
          <p:cNvSpPr/>
          <p:nvPr/>
        </p:nvSpPr>
        <p:spPr>
          <a:xfrm>
            <a:off x="3127248" y="960120"/>
            <a:ext cx="2578608" cy="347472"/>
          </a:xfrm>
          <a:prstGeom prst="ROUNDED_RECTANGLE">
            <a:avLst>
              <a:gd name="adj" fmla="val 23684"/>
            </a:avLst>
          </a:prstGeom>
          <a:solidFill>
            <a:srgbClr val="1A8884"/>
          </a:solidFill>
          <a:ln w="12700">
            <a:solidFill>
              <a:srgbClr val="1A8884"/>
            </a:solidFill>
            <a:prstDash val="solid"/>
          </a:ln>
        </p:spPr>
      </p:sp>
      <p:sp>
        <p:nvSpPr>
          <p:cNvPr id="11" name="Shape 9"/>
          <p:cNvSpPr/>
          <p:nvPr/>
        </p:nvSpPr>
        <p:spPr>
          <a:xfrm>
            <a:off x="3127248" y="1151230"/>
            <a:ext cx="2578608" cy="173736"/>
          </a:xfrm>
          <a:prstGeom prst="RECTANGLE">
            <a:avLst/>
          </a:prstGeom>
          <a:solidFill>
            <a:srgbClr val="1A8884"/>
          </a:solidFill>
          <a:ln w="12700">
            <a:solidFill>
              <a:srgbClr val="1A8884"/>
            </a:solidFill>
            <a:prstDash val="solid"/>
          </a:ln>
        </p:spPr>
      </p:sp>
      <p:sp>
        <p:nvSpPr>
          <p:cNvPr id="12" name="Text 10"/>
          <p:cNvSpPr/>
          <p:nvPr/>
        </p:nvSpPr>
        <p:spPr>
          <a:xfrm>
            <a:off x="3236976" y="1005840"/>
            <a:ext cx="235915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Encryption</a:t>
            </a:r>
            <a:endParaRPr lang="en-US" sz="1100" dirty="0"/>
          </a:p>
        </p:txBody>
      </p:sp>
      <p:sp>
        <p:nvSpPr>
          <p:cNvPr id="13" name="Text 11"/>
          <p:cNvSpPr/>
          <p:nvPr/>
        </p:nvSpPr>
        <p:spPr>
          <a:xfrm>
            <a:off x="3236976" y="1380744"/>
            <a:ext cx="2359152" cy="768096"/>
          </a:xfrm>
          <a:prstGeom prst="rect">
            <a:avLst/>
          </a:prstGeom>
          <a:noFill/>
          <a:ln/>
        </p:spPr>
        <p:txBody>
          <a:bodyPr wrap="square" rtlCol="0" anchor="ctr"/>
          <a:lstStyle/>
          <a:p>
            <a:pPr indent="0" marL="0">
              <a:lnSpc>
                <a:spcPct val="125000"/>
              </a:lnSpc>
              <a:buNone/>
            </a:pPr>
            <a:r>
              <a:rPr lang="en-US" sz="950" dirty="0">
                <a:solidFill>
                  <a:srgbClr val="0F172A"/>
                </a:solidFill>
                <a:latin typeface="Calibri" pitchFamily="34" charset="0"/>
                <a:ea typeface="Calibri" pitchFamily="34" charset="-122"/>
                <a:cs typeface="Calibri" pitchFamily="34" charset="-120"/>
              </a:rPr>
              <a:t>AES-256 encryption at rest · TLS 1.3 in transit · bcrypt adaptive password hashing</a:t>
            </a:r>
            <a:endParaRPr lang="en-US" sz="950" dirty="0"/>
          </a:p>
        </p:txBody>
      </p:sp>
      <p:sp>
        <p:nvSpPr>
          <p:cNvPr id="14" name="Shape 12"/>
          <p:cNvSpPr/>
          <p:nvPr/>
        </p:nvSpPr>
        <p:spPr>
          <a:xfrm>
            <a:off x="5797296" y="960120"/>
            <a:ext cx="2578608" cy="1261872"/>
          </a:xfrm>
          <a:prstGeom prst="ROUNDED_RECTANGLE">
            <a:avLst>
              <a:gd name="adj" fmla="val 6522"/>
            </a:avLst>
          </a:prstGeom>
          <a:solidFill>
            <a:srgbClr val="FFFFFF"/>
          </a:solidFill>
          <a:ln w="12700">
            <a:solidFill>
              <a:srgbClr val="D6EDEC"/>
            </a:solidFill>
            <a:prstDash val="solid"/>
          </a:ln>
        </p:spPr>
      </p:sp>
      <p:sp>
        <p:nvSpPr>
          <p:cNvPr id="15" name="Shape 13"/>
          <p:cNvSpPr/>
          <p:nvPr/>
        </p:nvSpPr>
        <p:spPr>
          <a:xfrm>
            <a:off x="5797296" y="960120"/>
            <a:ext cx="2578608" cy="347472"/>
          </a:xfrm>
          <a:prstGeom prst="ROUNDED_RECTANGLE">
            <a:avLst>
              <a:gd name="adj" fmla="val 23684"/>
            </a:avLst>
          </a:prstGeom>
          <a:solidFill>
            <a:srgbClr val="7B1FA2"/>
          </a:solidFill>
          <a:ln w="12700">
            <a:solidFill>
              <a:srgbClr val="7B1FA2"/>
            </a:solidFill>
            <a:prstDash val="solid"/>
          </a:ln>
        </p:spPr>
      </p:sp>
      <p:sp>
        <p:nvSpPr>
          <p:cNvPr id="16" name="Shape 14"/>
          <p:cNvSpPr/>
          <p:nvPr/>
        </p:nvSpPr>
        <p:spPr>
          <a:xfrm>
            <a:off x="5797296" y="1151230"/>
            <a:ext cx="2578608" cy="173736"/>
          </a:xfrm>
          <a:prstGeom prst="RECTANGLE">
            <a:avLst/>
          </a:prstGeom>
          <a:solidFill>
            <a:srgbClr val="7B1FA2"/>
          </a:solidFill>
          <a:ln w="12700">
            <a:solidFill>
              <a:srgbClr val="7B1FA2"/>
            </a:solidFill>
            <a:prstDash val="solid"/>
          </a:ln>
        </p:spPr>
      </p:sp>
      <p:sp>
        <p:nvSpPr>
          <p:cNvPr id="17" name="Text 15"/>
          <p:cNvSpPr/>
          <p:nvPr/>
        </p:nvSpPr>
        <p:spPr>
          <a:xfrm>
            <a:off x="5907024" y="1005840"/>
            <a:ext cx="235915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Authentication</a:t>
            </a:r>
            <a:endParaRPr lang="en-US" sz="1100" dirty="0"/>
          </a:p>
        </p:txBody>
      </p:sp>
      <p:sp>
        <p:nvSpPr>
          <p:cNvPr id="18" name="Text 16"/>
          <p:cNvSpPr/>
          <p:nvPr/>
        </p:nvSpPr>
        <p:spPr>
          <a:xfrm>
            <a:off x="5907024" y="1380744"/>
            <a:ext cx="2359152" cy="768096"/>
          </a:xfrm>
          <a:prstGeom prst="rect">
            <a:avLst/>
          </a:prstGeom>
          <a:noFill/>
          <a:ln/>
        </p:spPr>
        <p:txBody>
          <a:bodyPr wrap="square" rtlCol="0" anchor="ctr"/>
          <a:lstStyle/>
          <a:p>
            <a:pPr indent="0" marL="0">
              <a:lnSpc>
                <a:spcPct val="125000"/>
              </a:lnSpc>
              <a:buNone/>
            </a:pPr>
            <a:r>
              <a:rPr lang="en-US" sz="950" dirty="0">
                <a:solidFill>
                  <a:srgbClr val="0F172A"/>
                </a:solidFill>
                <a:latin typeface="Calibri" pitchFamily="34" charset="0"/>
                <a:ea typeface="Calibri" pitchFamily="34" charset="-122"/>
                <a:cs typeface="Calibri" pitchFamily="34" charset="-120"/>
              </a:rPr>
              <a:t>JWT (HS256) session tokens · Google OAuth 2.0 · HttpOnly Secure cookies for token storage</a:t>
            </a:r>
            <a:endParaRPr lang="en-US" sz="950" dirty="0"/>
          </a:p>
        </p:txBody>
      </p:sp>
      <p:sp>
        <p:nvSpPr>
          <p:cNvPr id="19" name="Shape 17"/>
          <p:cNvSpPr/>
          <p:nvPr/>
        </p:nvSpPr>
        <p:spPr>
          <a:xfrm>
            <a:off x="457200" y="2331720"/>
            <a:ext cx="2578608" cy="1261872"/>
          </a:xfrm>
          <a:prstGeom prst="ROUNDED_RECTANGLE">
            <a:avLst>
              <a:gd name="adj" fmla="val 6522"/>
            </a:avLst>
          </a:prstGeom>
          <a:solidFill>
            <a:srgbClr val="FFFFFF"/>
          </a:solidFill>
          <a:ln w="12700">
            <a:solidFill>
              <a:srgbClr val="D6EDEC"/>
            </a:solidFill>
            <a:prstDash val="solid"/>
          </a:ln>
        </p:spPr>
      </p:sp>
      <p:sp>
        <p:nvSpPr>
          <p:cNvPr id="20" name="Shape 18"/>
          <p:cNvSpPr/>
          <p:nvPr/>
        </p:nvSpPr>
        <p:spPr>
          <a:xfrm>
            <a:off x="457200" y="2331720"/>
            <a:ext cx="2578608" cy="347472"/>
          </a:xfrm>
          <a:prstGeom prst="ROUNDED_RECTANGLE">
            <a:avLst>
              <a:gd name="adj" fmla="val 23684"/>
            </a:avLst>
          </a:prstGeom>
          <a:solidFill>
            <a:srgbClr val="DC2626"/>
          </a:solidFill>
          <a:ln w="12700">
            <a:solidFill>
              <a:srgbClr val="DC2626"/>
            </a:solidFill>
            <a:prstDash val="solid"/>
          </a:ln>
        </p:spPr>
      </p:sp>
      <p:sp>
        <p:nvSpPr>
          <p:cNvPr id="21" name="Shape 19"/>
          <p:cNvSpPr/>
          <p:nvPr/>
        </p:nvSpPr>
        <p:spPr>
          <a:xfrm>
            <a:off x="457200" y="2522830"/>
            <a:ext cx="2578608" cy="173736"/>
          </a:xfrm>
          <a:prstGeom prst="RECTANGLE">
            <a:avLst/>
          </a:prstGeom>
          <a:solidFill>
            <a:srgbClr val="DC2626"/>
          </a:solidFill>
          <a:ln w="12700">
            <a:solidFill>
              <a:srgbClr val="DC2626"/>
            </a:solidFill>
            <a:prstDash val="solid"/>
          </a:ln>
        </p:spPr>
      </p:sp>
      <p:sp>
        <p:nvSpPr>
          <p:cNvPr id="22" name="Text 20"/>
          <p:cNvSpPr/>
          <p:nvPr/>
        </p:nvSpPr>
        <p:spPr>
          <a:xfrm>
            <a:off x="566928" y="2377440"/>
            <a:ext cx="235915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Health Vault Security</a:t>
            </a:r>
            <a:endParaRPr lang="en-US" sz="1100" dirty="0"/>
          </a:p>
        </p:txBody>
      </p:sp>
      <p:sp>
        <p:nvSpPr>
          <p:cNvPr id="23" name="Text 21"/>
          <p:cNvSpPr/>
          <p:nvPr/>
        </p:nvSpPr>
        <p:spPr>
          <a:xfrm>
            <a:off x="566928" y="2752344"/>
            <a:ext cx="2359152" cy="768096"/>
          </a:xfrm>
          <a:prstGeom prst="rect">
            <a:avLst/>
          </a:prstGeom>
          <a:noFill/>
          <a:ln/>
        </p:spPr>
        <p:txBody>
          <a:bodyPr wrap="square" rtlCol="0" anchor="ctr"/>
          <a:lstStyle/>
          <a:p>
            <a:pPr indent="0" marL="0">
              <a:lnSpc>
                <a:spcPct val="125000"/>
              </a:lnSpc>
              <a:buNone/>
            </a:pPr>
            <a:r>
              <a:rPr lang="en-US" sz="950" dirty="0">
                <a:solidFill>
                  <a:srgbClr val="0F172A"/>
                </a:solidFill>
                <a:latin typeface="Calibri" pitchFamily="34" charset="0"/>
                <a:ea typeface="Calibri" pitchFamily="34" charset="-122"/>
                <a:cs typeface="Calibri" pitchFamily="34" charset="-120"/>
              </a:rPr>
              <a:t>Strictly user-scoped documents · No cross-user data access · Encrypted storage architecture</a:t>
            </a:r>
            <a:endParaRPr lang="en-US" sz="950" dirty="0"/>
          </a:p>
        </p:txBody>
      </p:sp>
      <p:sp>
        <p:nvSpPr>
          <p:cNvPr id="24" name="Shape 22"/>
          <p:cNvSpPr/>
          <p:nvPr/>
        </p:nvSpPr>
        <p:spPr>
          <a:xfrm>
            <a:off x="3127248" y="2331720"/>
            <a:ext cx="2578608" cy="1261872"/>
          </a:xfrm>
          <a:prstGeom prst="ROUNDED_RECTANGLE">
            <a:avLst>
              <a:gd name="adj" fmla="val 6522"/>
            </a:avLst>
          </a:prstGeom>
          <a:solidFill>
            <a:srgbClr val="FFFFFF"/>
          </a:solidFill>
          <a:ln w="12700">
            <a:solidFill>
              <a:srgbClr val="D6EDEC"/>
            </a:solidFill>
            <a:prstDash val="solid"/>
          </a:ln>
        </p:spPr>
      </p:sp>
      <p:sp>
        <p:nvSpPr>
          <p:cNvPr id="25" name="Shape 23"/>
          <p:cNvSpPr/>
          <p:nvPr/>
        </p:nvSpPr>
        <p:spPr>
          <a:xfrm>
            <a:off x="3127248" y="2331720"/>
            <a:ext cx="2578608" cy="347472"/>
          </a:xfrm>
          <a:prstGeom prst="ROUNDED_RECTANGLE">
            <a:avLst>
              <a:gd name="adj" fmla="val 23684"/>
            </a:avLst>
          </a:prstGeom>
          <a:solidFill>
            <a:srgbClr val="B45309"/>
          </a:solidFill>
          <a:ln w="12700">
            <a:solidFill>
              <a:srgbClr val="B45309"/>
            </a:solidFill>
            <a:prstDash val="solid"/>
          </a:ln>
        </p:spPr>
      </p:sp>
      <p:sp>
        <p:nvSpPr>
          <p:cNvPr id="26" name="Shape 24"/>
          <p:cNvSpPr/>
          <p:nvPr/>
        </p:nvSpPr>
        <p:spPr>
          <a:xfrm>
            <a:off x="3127248" y="2522830"/>
            <a:ext cx="2578608" cy="173736"/>
          </a:xfrm>
          <a:prstGeom prst="RECTANGLE">
            <a:avLst/>
          </a:prstGeom>
          <a:solidFill>
            <a:srgbClr val="B45309"/>
          </a:solidFill>
          <a:ln w="12700">
            <a:solidFill>
              <a:srgbClr val="B45309"/>
            </a:solidFill>
            <a:prstDash val="solid"/>
          </a:ln>
        </p:spPr>
      </p:sp>
      <p:sp>
        <p:nvSpPr>
          <p:cNvPr id="27" name="Text 25"/>
          <p:cNvSpPr/>
          <p:nvPr/>
        </p:nvSpPr>
        <p:spPr>
          <a:xfrm>
            <a:off x="3236976" y="2377440"/>
            <a:ext cx="235915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AI Transparency</a:t>
            </a:r>
            <a:endParaRPr lang="en-US" sz="1100" dirty="0"/>
          </a:p>
        </p:txBody>
      </p:sp>
      <p:sp>
        <p:nvSpPr>
          <p:cNvPr id="28" name="Text 26"/>
          <p:cNvSpPr/>
          <p:nvPr/>
        </p:nvSpPr>
        <p:spPr>
          <a:xfrm>
            <a:off x="3236976" y="2752344"/>
            <a:ext cx="2359152" cy="768096"/>
          </a:xfrm>
          <a:prstGeom prst="rect">
            <a:avLst/>
          </a:prstGeom>
          <a:noFill/>
          <a:ln/>
        </p:spPr>
        <p:txBody>
          <a:bodyPr wrap="square" rtlCol="0" anchor="ctr"/>
          <a:lstStyle/>
          <a:p>
            <a:pPr indent="0" marL="0">
              <a:lnSpc>
                <a:spcPct val="125000"/>
              </a:lnSpc>
              <a:buNone/>
            </a:pPr>
            <a:r>
              <a:rPr lang="en-US" sz="950" dirty="0">
                <a:solidFill>
                  <a:srgbClr val="0F172A"/>
                </a:solidFill>
                <a:latin typeface="Calibri" pitchFamily="34" charset="0"/>
                <a:ea typeface="Calibri" pitchFamily="34" charset="-122"/>
                <a:cs typeface="Calibri" pitchFamily="34" charset="-120"/>
              </a:rPr>
              <a:t>Confidence levels on every output · Explicit caveats · No medical diagnosis · No dosage advice</a:t>
            </a:r>
            <a:endParaRPr lang="en-US" sz="950" dirty="0"/>
          </a:p>
        </p:txBody>
      </p:sp>
      <p:sp>
        <p:nvSpPr>
          <p:cNvPr id="29" name="Shape 27"/>
          <p:cNvSpPr/>
          <p:nvPr/>
        </p:nvSpPr>
        <p:spPr>
          <a:xfrm>
            <a:off x="5797296" y="2331720"/>
            <a:ext cx="2578608" cy="1261872"/>
          </a:xfrm>
          <a:prstGeom prst="ROUNDED_RECTANGLE">
            <a:avLst>
              <a:gd name="adj" fmla="val 6522"/>
            </a:avLst>
          </a:prstGeom>
          <a:solidFill>
            <a:srgbClr val="FFFFFF"/>
          </a:solidFill>
          <a:ln w="12700">
            <a:solidFill>
              <a:srgbClr val="D6EDEC"/>
            </a:solidFill>
            <a:prstDash val="solid"/>
          </a:ln>
        </p:spPr>
      </p:sp>
      <p:sp>
        <p:nvSpPr>
          <p:cNvPr id="30" name="Shape 28"/>
          <p:cNvSpPr/>
          <p:nvPr/>
        </p:nvSpPr>
        <p:spPr>
          <a:xfrm>
            <a:off x="5797296" y="2331720"/>
            <a:ext cx="2578608" cy="347472"/>
          </a:xfrm>
          <a:prstGeom prst="ROUNDED_RECTANGLE">
            <a:avLst>
              <a:gd name="adj" fmla="val 23684"/>
            </a:avLst>
          </a:prstGeom>
          <a:solidFill>
            <a:srgbClr val="065F46"/>
          </a:solidFill>
          <a:ln w="12700">
            <a:solidFill>
              <a:srgbClr val="065F46"/>
            </a:solidFill>
            <a:prstDash val="solid"/>
          </a:ln>
        </p:spPr>
      </p:sp>
      <p:sp>
        <p:nvSpPr>
          <p:cNvPr id="31" name="Shape 29"/>
          <p:cNvSpPr/>
          <p:nvPr/>
        </p:nvSpPr>
        <p:spPr>
          <a:xfrm>
            <a:off x="5797296" y="2522830"/>
            <a:ext cx="2578608" cy="173736"/>
          </a:xfrm>
          <a:prstGeom prst="RECTANGLE">
            <a:avLst/>
          </a:prstGeom>
          <a:solidFill>
            <a:srgbClr val="065F46"/>
          </a:solidFill>
          <a:ln w="12700">
            <a:solidFill>
              <a:srgbClr val="065F46"/>
            </a:solidFill>
            <a:prstDash val="solid"/>
          </a:ln>
        </p:spPr>
      </p:sp>
      <p:sp>
        <p:nvSpPr>
          <p:cNvPr id="32" name="Text 30"/>
          <p:cNvSpPr/>
          <p:nvPr/>
        </p:nvSpPr>
        <p:spPr>
          <a:xfrm>
            <a:off x="5907024" y="2377440"/>
            <a:ext cx="2359152"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India-First Compliance</a:t>
            </a:r>
            <a:endParaRPr lang="en-US" sz="1100" dirty="0"/>
          </a:p>
        </p:txBody>
      </p:sp>
      <p:sp>
        <p:nvSpPr>
          <p:cNvPr id="33" name="Text 31"/>
          <p:cNvSpPr/>
          <p:nvPr/>
        </p:nvSpPr>
        <p:spPr>
          <a:xfrm>
            <a:off x="5907024" y="2752344"/>
            <a:ext cx="2359152" cy="768096"/>
          </a:xfrm>
          <a:prstGeom prst="rect">
            <a:avLst/>
          </a:prstGeom>
          <a:noFill/>
          <a:ln/>
        </p:spPr>
        <p:txBody>
          <a:bodyPr wrap="square" rtlCol="0" anchor="ctr"/>
          <a:lstStyle/>
          <a:p>
            <a:pPr indent="0" marL="0">
              <a:lnSpc>
                <a:spcPct val="125000"/>
              </a:lnSpc>
              <a:buNone/>
            </a:pPr>
            <a:r>
              <a:rPr lang="en-US" sz="950" dirty="0">
                <a:solidFill>
                  <a:srgbClr val="0F172A"/>
                </a:solidFill>
                <a:latin typeface="Calibri" pitchFamily="34" charset="0"/>
                <a:ea typeface="Calibri" pitchFamily="34" charset="-122"/>
                <a:cs typeface="Calibri" pitchFamily="34" charset="-120"/>
              </a:rPr>
              <a:t>India-based storage planned for scale · DPDP consent flows · ABDM alignment in Phase 3 roadmap</a:t>
            </a:r>
            <a:endParaRPr lang="en-US" sz="950" dirty="0"/>
          </a:p>
        </p:txBody>
      </p:sp>
      <p:sp>
        <p:nvSpPr>
          <p:cNvPr id="34" name="Text 32"/>
          <p:cNvSpPr/>
          <p:nvPr/>
        </p:nvSpPr>
        <p:spPr>
          <a:xfrm>
            <a:off x="457200" y="4663440"/>
            <a:ext cx="8229600" cy="256032"/>
          </a:xfrm>
          <a:prstGeom prst="rect">
            <a:avLst/>
          </a:prstGeom>
          <a:noFill/>
          <a:ln/>
        </p:spPr>
        <p:txBody>
          <a:bodyPr wrap="square" rtlCol="0" anchor="ctr"/>
          <a:lstStyle/>
          <a:p>
            <a:pPr algn="ctr" indent="0" marL="0">
              <a:buNone/>
            </a:pPr>
            <a:r>
              <a:rPr lang="en-US" sz="850" i="1" dirty="0">
                <a:solidFill>
                  <a:srgbClr val="718096"/>
                </a:solidFill>
                <a:latin typeface="Calibri" pitchFamily="34" charset="0"/>
                <a:ea typeface="Calibri" pitchFamily="34" charset="-122"/>
                <a:cs typeface="Calibri" pitchFamily="34" charset="-120"/>
              </a:rPr>
              <a:t>Note: Security and compliance measures are implemented at MVP level. Full ABDM certification is planned for Phase 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A"/>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Challenges Faced &amp; Engineering Solutions</a:t>
            </a:r>
            <a:endParaRPr lang="en-US" sz="2600" dirty="0"/>
          </a:p>
        </p:txBody>
      </p:sp>
      <p:sp>
        <p:nvSpPr>
          <p:cNvPr id="3" name="Shape 1"/>
          <p:cNvSpPr/>
          <p:nvPr/>
        </p:nvSpPr>
        <p:spPr>
          <a:xfrm>
            <a:off x="457200" y="749808"/>
            <a:ext cx="384048" cy="50292"/>
          </a:xfrm>
          <a:prstGeom prst="ROUNDED_RECTANGLE">
            <a:avLst>
              <a:gd name="adj" fmla="val 54545"/>
            </a:avLst>
          </a:prstGeom>
          <a:solidFill>
            <a:srgbClr val="12B5A8"/>
          </a:solidFill>
          <a:ln w="12700">
            <a:solidFill>
              <a:srgbClr val="12B5A8"/>
            </a:solidFill>
            <a:prstDash val="solid"/>
          </a:ln>
        </p:spPr>
      </p:sp>
      <p:sp>
        <p:nvSpPr>
          <p:cNvPr id="4" name="Shape 2"/>
          <p:cNvSpPr/>
          <p:nvPr/>
        </p:nvSpPr>
        <p:spPr>
          <a:xfrm>
            <a:off x="457200" y="941832"/>
            <a:ext cx="1901952" cy="1572768"/>
          </a:xfrm>
          <a:prstGeom prst="ROUNDED_RECTANGLE">
            <a:avLst>
              <a:gd name="adj" fmla="val 4651"/>
            </a:avLst>
          </a:prstGeom>
          <a:solidFill>
            <a:srgbClr val="FFF5F5"/>
          </a:solidFill>
          <a:ln w="12700">
            <a:solidFill>
              <a:srgbClr val="FFC7C7"/>
            </a:solidFill>
            <a:prstDash val="solid"/>
          </a:ln>
        </p:spPr>
      </p:sp>
      <p:sp>
        <p:nvSpPr>
          <p:cNvPr id="5" name="Text 3"/>
          <p:cNvSpPr/>
          <p:nvPr/>
        </p:nvSpPr>
        <p:spPr>
          <a:xfrm>
            <a:off x="548640" y="1014984"/>
            <a:ext cx="1719072" cy="201168"/>
          </a:xfrm>
          <a:prstGeom prst="rect">
            <a:avLst/>
          </a:prstGeom>
          <a:noFill/>
          <a:ln/>
        </p:spPr>
        <p:txBody>
          <a:bodyPr wrap="square" rtlCol="0" anchor="ctr"/>
          <a:lstStyle/>
          <a:p>
            <a:pPr indent="0" marL="0">
              <a:buNone/>
            </a:pPr>
            <a:r>
              <a:rPr lang="en-US" sz="750" b="1" spc="100" kern="0" dirty="0">
                <a:solidFill>
                  <a:srgbClr val="DC2626"/>
                </a:solidFill>
                <a:latin typeface="Calibri" pitchFamily="34" charset="0"/>
                <a:ea typeface="Calibri" pitchFamily="34" charset="-122"/>
                <a:cs typeface="Calibri" pitchFamily="34" charset="-120"/>
              </a:rPr>
              <a:t>Challenge</a:t>
            </a:r>
            <a:endParaRPr lang="en-US" sz="750" dirty="0"/>
          </a:p>
        </p:txBody>
      </p:sp>
      <p:sp>
        <p:nvSpPr>
          <p:cNvPr id="6" name="Text 4"/>
          <p:cNvSpPr/>
          <p:nvPr/>
        </p:nvSpPr>
        <p:spPr>
          <a:xfrm>
            <a:off x="548640" y="1234440"/>
            <a:ext cx="1719072" cy="384048"/>
          </a:xfrm>
          <a:prstGeom prst="rect">
            <a:avLst/>
          </a:prstGeom>
          <a:noFill/>
          <a:ln/>
        </p:spPr>
        <p:txBody>
          <a:bodyPr wrap="square" rtlCol="0" anchor="ctr"/>
          <a:lstStyle/>
          <a:p>
            <a:pPr indent="0" marL="0">
              <a:lnSpc>
                <a:spcPct val="100000"/>
              </a:lnSpc>
              <a:buNone/>
            </a:pPr>
            <a:r>
              <a:rPr lang="en-US" sz="1100" b="1" dirty="0">
                <a:solidFill>
                  <a:srgbClr val="7B1818"/>
                </a:solidFill>
                <a:latin typeface="Calibri" pitchFamily="34" charset="0"/>
                <a:ea typeface="Calibri" pitchFamily="34" charset="-122"/>
                <a:cs typeface="Calibri" pitchFamily="34" charset="-120"/>
              </a:rPr>
              <a:t>AI Response Latency</a:t>
            </a:r>
            <a:endParaRPr lang="en-US" sz="1100" dirty="0"/>
          </a:p>
        </p:txBody>
      </p:sp>
      <p:sp>
        <p:nvSpPr>
          <p:cNvPr id="7" name="Text 5"/>
          <p:cNvSpPr/>
          <p:nvPr/>
        </p:nvSpPr>
        <p:spPr>
          <a:xfrm>
            <a:off x="548640" y="1655064"/>
            <a:ext cx="1719072" cy="768096"/>
          </a:xfrm>
          <a:prstGeom prst="rect">
            <a:avLst/>
          </a:prstGeom>
          <a:noFill/>
          <a:ln/>
        </p:spPr>
        <p:txBody>
          <a:bodyPr wrap="square" rtlCol="0" anchor="ctr"/>
          <a:lstStyle/>
          <a:p>
            <a:pPr indent="0" marL="0">
              <a:lnSpc>
                <a:spcPct val="120000"/>
              </a:lnSpc>
              <a:buNone/>
            </a:pPr>
            <a:r>
              <a:rPr lang="en-US" sz="850" dirty="0">
                <a:solidFill>
                  <a:srgbClr val="7B3333"/>
                </a:solidFill>
                <a:latin typeface="Calibri" pitchFamily="34" charset="0"/>
                <a:ea typeface="Calibri" pitchFamily="34" charset="-122"/>
                <a:cs typeface="Calibri" pitchFamily="34" charset="-120"/>
              </a:rPr>
              <a:t>Bill analysis: ~30–40 seconds</a:t>
            </a:r>
            <a:endParaRPr lang="en-US" sz="850" dirty="0"/>
          </a:p>
          <a:p>
            <a:pPr indent="0" marL="0">
              <a:lnSpc>
                <a:spcPct val="120000"/>
              </a:lnSpc>
              <a:buNone/>
            </a:pPr>
            <a:r>
              <a:rPr lang="en-US" sz="850" dirty="0">
                <a:solidFill>
                  <a:srgbClr val="7B3333"/>
                </a:solidFill>
                <a:latin typeface="Calibri" pitchFamily="34" charset="0"/>
                <a:ea typeface="Calibri" pitchFamily="34" charset="-122"/>
                <a:cs typeface="Calibri" pitchFamily="34" charset="-120"/>
              </a:rPr>
              <a:t>Cost estimation: ~20–30 seconds</a:t>
            </a:r>
            <a:endParaRPr lang="en-US" sz="850" dirty="0"/>
          </a:p>
        </p:txBody>
      </p:sp>
      <p:sp>
        <p:nvSpPr>
          <p:cNvPr id="8" name="Shape 6"/>
          <p:cNvSpPr/>
          <p:nvPr/>
        </p:nvSpPr>
        <p:spPr>
          <a:xfrm>
            <a:off x="2359152" y="1719072"/>
            <a:ext cx="128016" cy="18288"/>
          </a:xfrm>
          <a:prstGeom prst="RECTANGLE">
            <a:avLst/>
          </a:prstGeom>
          <a:solidFill>
            <a:srgbClr val="718096"/>
          </a:solidFill>
          <a:ln w="12700">
            <a:solidFill>
              <a:srgbClr val="718096"/>
            </a:solidFill>
            <a:prstDash val="solid"/>
          </a:ln>
        </p:spPr>
      </p:sp>
      <p:sp>
        <p:nvSpPr>
          <p:cNvPr id="9" name="Shape 7"/>
          <p:cNvSpPr/>
          <p:nvPr/>
        </p:nvSpPr>
        <p:spPr>
          <a:xfrm>
            <a:off x="2487168" y="941832"/>
            <a:ext cx="1901952" cy="1572768"/>
          </a:xfrm>
          <a:prstGeom prst="ROUNDED_RECTANGLE">
            <a:avLst>
              <a:gd name="adj" fmla="val 4651"/>
            </a:avLst>
          </a:prstGeom>
          <a:solidFill>
            <a:srgbClr val="F0FFF4"/>
          </a:solidFill>
          <a:ln w="12700">
            <a:solidFill>
              <a:srgbClr val="B2DFDB"/>
            </a:solidFill>
            <a:prstDash val="solid"/>
          </a:ln>
        </p:spPr>
      </p:sp>
      <p:sp>
        <p:nvSpPr>
          <p:cNvPr id="10" name="Text 8"/>
          <p:cNvSpPr/>
          <p:nvPr/>
        </p:nvSpPr>
        <p:spPr>
          <a:xfrm>
            <a:off x="2578608" y="1014984"/>
            <a:ext cx="1719072" cy="201168"/>
          </a:xfrm>
          <a:prstGeom prst="rect">
            <a:avLst/>
          </a:prstGeom>
          <a:noFill/>
          <a:ln/>
        </p:spPr>
        <p:txBody>
          <a:bodyPr wrap="square" rtlCol="0" anchor="ctr"/>
          <a:lstStyle/>
          <a:p>
            <a:pPr indent="0" marL="0">
              <a:buNone/>
            </a:pPr>
            <a:r>
              <a:rPr lang="en-US" sz="750" b="1" spc="100" kern="0" dirty="0">
                <a:solidFill>
                  <a:srgbClr val="059669"/>
                </a:solidFill>
                <a:latin typeface="Calibri" pitchFamily="34" charset="0"/>
                <a:ea typeface="Calibri" pitchFamily="34" charset="-122"/>
                <a:cs typeface="Calibri" pitchFamily="34" charset="-120"/>
              </a:rPr>
              <a:t>Solution</a:t>
            </a:r>
            <a:endParaRPr lang="en-US" sz="750" dirty="0"/>
          </a:p>
        </p:txBody>
      </p:sp>
      <p:sp>
        <p:nvSpPr>
          <p:cNvPr id="11" name="Text 9"/>
          <p:cNvSpPr/>
          <p:nvPr/>
        </p:nvSpPr>
        <p:spPr>
          <a:xfrm>
            <a:off x="2578608" y="1234440"/>
            <a:ext cx="1719072" cy="384048"/>
          </a:xfrm>
          <a:prstGeom prst="rect">
            <a:avLst/>
          </a:prstGeom>
          <a:noFill/>
          <a:ln/>
        </p:spPr>
        <p:txBody>
          <a:bodyPr wrap="square" rtlCol="0" anchor="ctr"/>
          <a:lstStyle/>
          <a:p>
            <a:pPr indent="0" marL="0">
              <a:lnSpc>
                <a:spcPct val="100000"/>
              </a:lnSpc>
              <a:buNone/>
            </a:pPr>
            <a:r>
              <a:rPr lang="en-US" sz="1100" b="1" dirty="0">
                <a:solidFill>
                  <a:srgbClr val="1B5E20"/>
                </a:solidFill>
                <a:latin typeface="Calibri" pitchFamily="34" charset="0"/>
                <a:ea typeface="Calibri" pitchFamily="34" charset="-122"/>
                <a:cs typeface="Calibri" pitchFamily="34" charset="-120"/>
              </a:rPr>
              <a:t>Optimized Prompt Design</a:t>
            </a:r>
            <a:endParaRPr lang="en-US" sz="1100" dirty="0"/>
          </a:p>
        </p:txBody>
      </p:sp>
      <p:sp>
        <p:nvSpPr>
          <p:cNvPr id="12" name="Text 10"/>
          <p:cNvSpPr/>
          <p:nvPr/>
        </p:nvSpPr>
        <p:spPr>
          <a:xfrm>
            <a:off x="2578608" y="1655064"/>
            <a:ext cx="1719072" cy="768096"/>
          </a:xfrm>
          <a:prstGeom prst="rect">
            <a:avLst/>
          </a:prstGeom>
          <a:noFill/>
          <a:ln/>
        </p:spPr>
        <p:txBody>
          <a:bodyPr wrap="square" rtlCol="0" anchor="ctr"/>
          <a:lstStyle/>
          <a:p>
            <a:pPr indent="0" marL="0">
              <a:lnSpc>
                <a:spcPct val="120000"/>
              </a:lnSpc>
              <a:buNone/>
            </a:pPr>
            <a:r>
              <a:rPr lang="en-US" sz="850" dirty="0">
                <a:solidFill>
                  <a:srgbClr val="2E7D32"/>
                </a:solidFill>
                <a:latin typeface="Calibri" pitchFamily="34" charset="0"/>
                <a:ea typeface="Calibri" pitchFamily="34" charset="-122"/>
                <a:cs typeface="Calibri" pitchFamily="34" charset="-120"/>
              </a:rPr>
              <a:t>Structured prompts · Controlled prompt size · Strict JSON extraction · Async processing architecture</a:t>
            </a:r>
            <a:endParaRPr lang="en-US" sz="850" dirty="0"/>
          </a:p>
        </p:txBody>
      </p:sp>
      <p:sp>
        <p:nvSpPr>
          <p:cNvPr id="13" name="Shape 11"/>
          <p:cNvSpPr/>
          <p:nvPr/>
        </p:nvSpPr>
        <p:spPr>
          <a:xfrm>
            <a:off x="4700016" y="941832"/>
            <a:ext cx="1901952" cy="1572768"/>
          </a:xfrm>
          <a:prstGeom prst="ROUNDED_RECTANGLE">
            <a:avLst>
              <a:gd name="adj" fmla="val 4651"/>
            </a:avLst>
          </a:prstGeom>
          <a:solidFill>
            <a:srgbClr val="FFF5F5"/>
          </a:solidFill>
          <a:ln w="12700">
            <a:solidFill>
              <a:srgbClr val="FFC7C7"/>
            </a:solidFill>
            <a:prstDash val="solid"/>
          </a:ln>
        </p:spPr>
      </p:sp>
      <p:sp>
        <p:nvSpPr>
          <p:cNvPr id="14" name="Text 12"/>
          <p:cNvSpPr/>
          <p:nvPr/>
        </p:nvSpPr>
        <p:spPr>
          <a:xfrm>
            <a:off x="4791456" y="1014984"/>
            <a:ext cx="1719072" cy="201168"/>
          </a:xfrm>
          <a:prstGeom prst="rect">
            <a:avLst/>
          </a:prstGeom>
          <a:noFill/>
          <a:ln/>
        </p:spPr>
        <p:txBody>
          <a:bodyPr wrap="square" rtlCol="0" anchor="ctr"/>
          <a:lstStyle/>
          <a:p>
            <a:pPr indent="0" marL="0">
              <a:buNone/>
            </a:pPr>
            <a:r>
              <a:rPr lang="en-US" sz="750" b="1" spc="100" kern="0" dirty="0">
                <a:solidFill>
                  <a:srgbClr val="DC2626"/>
                </a:solidFill>
                <a:latin typeface="Calibri" pitchFamily="34" charset="0"/>
                <a:ea typeface="Calibri" pitchFamily="34" charset="-122"/>
                <a:cs typeface="Calibri" pitchFamily="34" charset="-120"/>
              </a:rPr>
              <a:t>Challenge</a:t>
            </a:r>
            <a:endParaRPr lang="en-US" sz="750" dirty="0"/>
          </a:p>
        </p:txBody>
      </p:sp>
      <p:sp>
        <p:nvSpPr>
          <p:cNvPr id="15" name="Text 13"/>
          <p:cNvSpPr/>
          <p:nvPr/>
        </p:nvSpPr>
        <p:spPr>
          <a:xfrm>
            <a:off x="4791456" y="1234440"/>
            <a:ext cx="1719072" cy="384048"/>
          </a:xfrm>
          <a:prstGeom prst="rect">
            <a:avLst/>
          </a:prstGeom>
          <a:noFill/>
          <a:ln/>
        </p:spPr>
        <p:txBody>
          <a:bodyPr wrap="square" rtlCol="0" anchor="ctr"/>
          <a:lstStyle/>
          <a:p>
            <a:pPr indent="0" marL="0">
              <a:lnSpc>
                <a:spcPct val="100000"/>
              </a:lnSpc>
              <a:buNone/>
            </a:pPr>
            <a:r>
              <a:rPr lang="en-US" sz="1100" b="1" dirty="0">
                <a:solidFill>
                  <a:srgbClr val="7B1818"/>
                </a:solidFill>
                <a:latin typeface="Calibri" pitchFamily="34" charset="0"/>
                <a:ea typeface="Calibri" pitchFamily="34" charset="-122"/>
                <a:cs typeface="Calibri" pitchFamily="34" charset="-120"/>
              </a:rPr>
              <a:t>Healthcare Data Sensitivity</a:t>
            </a:r>
            <a:endParaRPr lang="en-US" sz="1100" dirty="0"/>
          </a:p>
        </p:txBody>
      </p:sp>
      <p:sp>
        <p:nvSpPr>
          <p:cNvPr id="16" name="Text 14"/>
          <p:cNvSpPr/>
          <p:nvPr/>
        </p:nvSpPr>
        <p:spPr>
          <a:xfrm>
            <a:off x="4791456" y="1655064"/>
            <a:ext cx="1719072" cy="768096"/>
          </a:xfrm>
          <a:prstGeom prst="rect">
            <a:avLst/>
          </a:prstGeom>
          <a:noFill/>
          <a:ln/>
        </p:spPr>
        <p:txBody>
          <a:bodyPr wrap="square" rtlCol="0" anchor="ctr"/>
          <a:lstStyle/>
          <a:p>
            <a:pPr indent="0" marL="0">
              <a:lnSpc>
                <a:spcPct val="120000"/>
              </a:lnSpc>
              <a:buNone/>
            </a:pPr>
            <a:r>
              <a:rPr lang="en-US" sz="850" dirty="0">
                <a:solidFill>
                  <a:srgbClr val="7B3333"/>
                </a:solidFill>
                <a:latin typeface="Calibri" pitchFamily="34" charset="0"/>
                <a:ea typeface="Calibri" pitchFamily="34" charset="-122"/>
                <a:cs typeface="Calibri" pitchFamily="34" charset="-120"/>
              </a:rPr>
              <a:t>Medical documents demand the highest privacy standards and user trust</a:t>
            </a:r>
            <a:endParaRPr lang="en-US" sz="850" dirty="0"/>
          </a:p>
        </p:txBody>
      </p:sp>
      <p:sp>
        <p:nvSpPr>
          <p:cNvPr id="17" name="Shape 15"/>
          <p:cNvSpPr/>
          <p:nvPr/>
        </p:nvSpPr>
        <p:spPr>
          <a:xfrm>
            <a:off x="6601968" y="1719072"/>
            <a:ext cx="128016" cy="18288"/>
          </a:xfrm>
          <a:prstGeom prst="RECTANGLE">
            <a:avLst/>
          </a:prstGeom>
          <a:solidFill>
            <a:srgbClr val="718096"/>
          </a:solidFill>
          <a:ln w="12700">
            <a:solidFill>
              <a:srgbClr val="718096"/>
            </a:solidFill>
            <a:prstDash val="solid"/>
          </a:ln>
        </p:spPr>
      </p:sp>
      <p:sp>
        <p:nvSpPr>
          <p:cNvPr id="18" name="Shape 16"/>
          <p:cNvSpPr/>
          <p:nvPr/>
        </p:nvSpPr>
        <p:spPr>
          <a:xfrm>
            <a:off x="6729984" y="941832"/>
            <a:ext cx="1901952" cy="1572768"/>
          </a:xfrm>
          <a:prstGeom prst="ROUNDED_RECTANGLE">
            <a:avLst>
              <a:gd name="adj" fmla="val 4651"/>
            </a:avLst>
          </a:prstGeom>
          <a:solidFill>
            <a:srgbClr val="F0FFF4"/>
          </a:solidFill>
          <a:ln w="12700">
            <a:solidFill>
              <a:srgbClr val="B2DFDB"/>
            </a:solidFill>
            <a:prstDash val="solid"/>
          </a:ln>
        </p:spPr>
      </p:sp>
      <p:sp>
        <p:nvSpPr>
          <p:cNvPr id="19" name="Text 17"/>
          <p:cNvSpPr/>
          <p:nvPr/>
        </p:nvSpPr>
        <p:spPr>
          <a:xfrm>
            <a:off x="6821424" y="1014984"/>
            <a:ext cx="1719072" cy="201168"/>
          </a:xfrm>
          <a:prstGeom prst="rect">
            <a:avLst/>
          </a:prstGeom>
          <a:noFill/>
          <a:ln/>
        </p:spPr>
        <p:txBody>
          <a:bodyPr wrap="square" rtlCol="0" anchor="ctr"/>
          <a:lstStyle/>
          <a:p>
            <a:pPr indent="0" marL="0">
              <a:buNone/>
            </a:pPr>
            <a:r>
              <a:rPr lang="en-US" sz="750" b="1" spc="100" kern="0" dirty="0">
                <a:solidFill>
                  <a:srgbClr val="059669"/>
                </a:solidFill>
                <a:latin typeface="Calibri" pitchFamily="34" charset="0"/>
                <a:ea typeface="Calibri" pitchFamily="34" charset="-122"/>
                <a:cs typeface="Calibri" pitchFamily="34" charset="-120"/>
              </a:rPr>
              <a:t>Solution</a:t>
            </a:r>
            <a:endParaRPr lang="en-US" sz="750" dirty="0"/>
          </a:p>
        </p:txBody>
      </p:sp>
      <p:sp>
        <p:nvSpPr>
          <p:cNvPr id="20" name="Text 18"/>
          <p:cNvSpPr/>
          <p:nvPr/>
        </p:nvSpPr>
        <p:spPr>
          <a:xfrm>
            <a:off x="6821424" y="1234440"/>
            <a:ext cx="1719072" cy="384048"/>
          </a:xfrm>
          <a:prstGeom prst="rect">
            <a:avLst/>
          </a:prstGeom>
          <a:noFill/>
          <a:ln/>
        </p:spPr>
        <p:txBody>
          <a:bodyPr wrap="square" rtlCol="0" anchor="ctr"/>
          <a:lstStyle/>
          <a:p>
            <a:pPr indent="0" marL="0">
              <a:lnSpc>
                <a:spcPct val="100000"/>
              </a:lnSpc>
              <a:buNone/>
            </a:pPr>
            <a:r>
              <a:rPr lang="en-US" sz="1100" b="1" dirty="0">
                <a:solidFill>
                  <a:srgbClr val="1B5E20"/>
                </a:solidFill>
                <a:latin typeface="Calibri" pitchFamily="34" charset="0"/>
                <a:ea typeface="Calibri" pitchFamily="34" charset="-122"/>
                <a:cs typeface="Calibri" pitchFamily="34" charset="-120"/>
              </a:rPr>
              <a:t>Privacy-First Architecture</a:t>
            </a:r>
            <a:endParaRPr lang="en-US" sz="1100" dirty="0"/>
          </a:p>
        </p:txBody>
      </p:sp>
      <p:sp>
        <p:nvSpPr>
          <p:cNvPr id="21" name="Text 19"/>
          <p:cNvSpPr/>
          <p:nvPr/>
        </p:nvSpPr>
        <p:spPr>
          <a:xfrm>
            <a:off x="6821424" y="1655064"/>
            <a:ext cx="1719072" cy="768096"/>
          </a:xfrm>
          <a:prstGeom prst="rect">
            <a:avLst/>
          </a:prstGeom>
          <a:noFill/>
          <a:ln/>
        </p:spPr>
        <p:txBody>
          <a:bodyPr wrap="square" rtlCol="0" anchor="ctr"/>
          <a:lstStyle/>
          <a:p>
            <a:pPr indent="0" marL="0">
              <a:lnSpc>
                <a:spcPct val="120000"/>
              </a:lnSpc>
              <a:buNone/>
            </a:pPr>
            <a:r>
              <a:rPr lang="en-US" sz="850" dirty="0">
                <a:solidFill>
                  <a:srgbClr val="2E7D32"/>
                </a:solidFill>
                <a:latin typeface="Calibri" pitchFamily="34" charset="0"/>
                <a:ea typeface="Calibri" pitchFamily="34" charset="-122"/>
                <a:cs typeface="Calibri" pitchFamily="34" charset="-120"/>
              </a:rPr>
              <a:t>User-scoped vault · JWT + bcrypt auth · AES-256 encryption · DPDP consent framework</a:t>
            </a:r>
            <a:endParaRPr lang="en-US" sz="850" dirty="0"/>
          </a:p>
        </p:txBody>
      </p:sp>
      <p:sp>
        <p:nvSpPr>
          <p:cNvPr id="22" name="Shape 20"/>
          <p:cNvSpPr/>
          <p:nvPr/>
        </p:nvSpPr>
        <p:spPr>
          <a:xfrm>
            <a:off x="457200" y="2679192"/>
            <a:ext cx="1901952" cy="1572768"/>
          </a:xfrm>
          <a:prstGeom prst="ROUNDED_RECTANGLE">
            <a:avLst>
              <a:gd name="adj" fmla="val 4651"/>
            </a:avLst>
          </a:prstGeom>
          <a:solidFill>
            <a:srgbClr val="FFF5F5"/>
          </a:solidFill>
          <a:ln w="12700">
            <a:solidFill>
              <a:srgbClr val="FFC7C7"/>
            </a:solidFill>
            <a:prstDash val="solid"/>
          </a:ln>
        </p:spPr>
      </p:sp>
      <p:sp>
        <p:nvSpPr>
          <p:cNvPr id="23" name="Text 21"/>
          <p:cNvSpPr/>
          <p:nvPr/>
        </p:nvSpPr>
        <p:spPr>
          <a:xfrm>
            <a:off x="548640" y="2752344"/>
            <a:ext cx="1719072" cy="201168"/>
          </a:xfrm>
          <a:prstGeom prst="rect">
            <a:avLst/>
          </a:prstGeom>
          <a:noFill/>
          <a:ln/>
        </p:spPr>
        <p:txBody>
          <a:bodyPr wrap="square" rtlCol="0" anchor="ctr"/>
          <a:lstStyle/>
          <a:p>
            <a:pPr indent="0" marL="0">
              <a:buNone/>
            </a:pPr>
            <a:r>
              <a:rPr lang="en-US" sz="750" b="1" spc="100" kern="0" dirty="0">
                <a:solidFill>
                  <a:srgbClr val="DC2626"/>
                </a:solidFill>
                <a:latin typeface="Calibri" pitchFamily="34" charset="0"/>
                <a:ea typeface="Calibri" pitchFamily="34" charset="-122"/>
                <a:cs typeface="Calibri" pitchFamily="34" charset="-120"/>
              </a:rPr>
              <a:t>Challenge</a:t>
            </a:r>
            <a:endParaRPr lang="en-US" sz="750" dirty="0"/>
          </a:p>
        </p:txBody>
      </p:sp>
      <p:sp>
        <p:nvSpPr>
          <p:cNvPr id="24" name="Text 22"/>
          <p:cNvSpPr/>
          <p:nvPr/>
        </p:nvSpPr>
        <p:spPr>
          <a:xfrm>
            <a:off x="548640" y="2971800"/>
            <a:ext cx="1719072" cy="384048"/>
          </a:xfrm>
          <a:prstGeom prst="rect">
            <a:avLst/>
          </a:prstGeom>
          <a:noFill/>
          <a:ln/>
        </p:spPr>
        <p:txBody>
          <a:bodyPr wrap="square" rtlCol="0" anchor="ctr"/>
          <a:lstStyle/>
          <a:p>
            <a:pPr indent="0" marL="0">
              <a:lnSpc>
                <a:spcPct val="100000"/>
              </a:lnSpc>
              <a:buNone/>
            </a:pPr>
            <a:r>
              <a:rPr lang="en-US" sz="1100" b="1" dirty="0">
                <a:solidFill>
                  <a:srgbClr val="7B1818"/>
                </a:solidFill>
                <a:latin typeface="Calibri" pitchFamily="34" charset="0"/>
                <a:ea typeface="Calibri" pitchFamily="34" charset="-122"/>
                <a:cs typeface="Calibri" pitchFamily="34" charset="-120"/>
              </a:rPr>
              <a:t>Hospital Pricing Complexity</a:t>
            </a:r>
            <a:endParaRPr lang="en-US" sz="1100" dirty="0"/>
          </a:p>
        </p:txBody>
      </p:sp>
      <p:sp>
        <p:nvSpPr>
          <p:cNvPr id="25" name="Text 23"/>
          <p:cNvSpPr/>
          <p:nvPr/>
        </p:nvSpPr>
        <p:spPr>
          <a:xfrm>
            <a:off x="548640" y="3392424"/>
            <a:ext cx="1719072" cy="768096"/>
          </a:xfrm>
          <a:prstGeom prst="rect">
            <a:avLst/>
          </a:prstGeom>
          <a:noFill/>
          <a:ln/>
        </p:spPr>
        <p:txBody>
          <a:bodyPr wrap="square" rtlCol="0" anchor="ctr"/>
          <a:lstStyle/>
          <a:p>
            <a:pPr indent="0" marL="0">
              <a:lnSpc>
                <a:spcPct val="120000"/>
              </a:lnSpc>
              <a:buNone/>
            </a:pPr>
            <a:r>
              <a:rPr lang="en-US" sz="850" dirty="0">
                <a:solidFill>
                  <a:srgbClr val="7B3333"/>
                </a:solidFill>
                <a:latin typeface="Calibri" pitchFamily="34" charset="0"/>
                <a:ea typeface="Calibri" pitchFamily="34" charset="-122"/>
                <a:cs typeface="Calibri" pitchFamily="34" charset="-120"/>
              </a:rPr>
              <a:t>Costs vary by city, procedure, hospital tier, and patient insurance status</a:t>
            </a:r>
            <a:endParaRPr lang="en-US" sz="850" dirty="0"/>
          </a:p>
        </p:txBody>
      </p:sp>
      <p:sp>
        <p:nvSpPr>
          <p:cNvPr id="26" name="Shape 24"/>
          <p:cNvSpPr/>
          <p:nvPr/>
        </p:nvSpPr>
        <p:spPr>
          <a:xfrm>
            <a:off x="2359152" y="3456432"/>
            <a:ext cx="128016" cy="18288"/>
          </a:xfrm>
          <a:prstGeom prst="RECTANGLE">
            <a:avLst/>
          </a:prstGeom>
          <a:solidFill>
            <a:srgbClr val="718096"/>
          </a:solidFill>
          <a:ln w="12700">
            <a:solidFill>
              <a:srgbClr val="718096"/>
            </a:solidFill>
            <a:prstDash val="solid"/>
          </a:ln>
        </p:spPr>
      </p:sp>
      <p:sp>
        <p:nvSpPr>
          <p:cNvPr id="27" name="Shape 25"/>
          <p:cNvSpPr/>
          <p:nvPr/>
        </p:nvSpPr>
        <p:spPr>
          <a:xfrm>
            <a:off x="2487168" y="2679192"/>
            <a:ext cx="1901952" cy="1572768"/>
          </a:xfrm>
          <a:prstGeom prst="ROUNDED_RECTANGLE">
            <a:avLst>
              <a:gd name="adj" fmla="val 4651"/>
            </a:avLst>
          </a:prstGeom>
          <a:solidFill>
            <a:srgbClr val="F0FFF4"/>
          </a:solidFill>
          <a:ln w="12700">
            <a:solidFill>
              <a:srgbClr val="B2DFDB"/>
            </a:solidFill>
            <a:prstDash val="solid"/>
          </a:ln>
        </p:spPr>
      </p:sp>
      <p:sp>
        <p:nvSpPr>
          <p:cNvPr id="28" name="Text 26"/>
          <p:cNvSpPr/>
          <p:nvPr/>
        </p:nvSpPr>
        <p:spPr>
          <a:xfrm>
            <a:off x="2578608" y="2752344"/>
            <a:ext cx="1719072" cy="201168"/>
          </a:xfrm>
          <a:prstGeom prst="rect">
            <a:avLst/>
          </a:prstGeom>
          <a:noFill/>
          <a:ln/>
        </p:spPr>
        <p:txBody>
          <a:bodyPr wrap="square" rtlCol="0" anchor="ctr"/>
          <a:lstStyle/>
          <a:p>
            <a:pPr indent="0" marL="0">
              <a:buNone/>
            </a:pPr>
            <a:r>
              <a:rPr lang="en-US" sz="750" b="1" spc="100" kern="0" dirty="0">
                <a:solidFill>
                  <a:srgbClr val="059669"/>
                </a:solidFill>
                <a:latin typeface="Calibri" pitchFamily="34" charset="0"/>
                <a:ea typeface="Calibri" pitchFamily="34" charset="-122"/>
                <a:cs typeface="Calibri" pitchFamily="34" charset="-120"/>
              </a:rPr>
              <a:t>Solution</a:t>
            </a:r>
            <a:endParaRPr lang="en-US" sz="750" dirty="0"/>
          </a:p>
        </p:txBody>
      </p:sp>
      <p:sp>
        <p:nvSpPr>
          <p:cNvPr id="29" name="Text 27"/>
          <p:cNvSpPr/>
          <p:nvPr/>
        </p:nvSpPr>
        <p:spPr>
          <a:xfrm>
            <a:off x="2578608" y="2971800"/>
            <a:ext cx="1719072" cy="384048"/>
          </a:xfrm>
          <a:prstGeom prst="rect">
            <a:avLst/>
          </a:prstGeom>
          <a:noFill/>
          <a:ln/>
        </p:spPr>
        <p:txBody>
          <a:bodyPr wrap="square" rtlCol="0" anchor="ctr"/>
          <a:lstStyle/>
          <a:p>
            <a:pPr indent="0" marL="0">
              <a:lnSpc>
                <a:spcPct val="100000"/>
              </a:lnSpc>
              <a:buNone/>
            </a:pPr>
            <a:r>
              <a:rPr lang="en-US" sz="1100" b="1" dirty="0">
                <a:solidFill>
                  <a:srgbClr val="1B5E20"/>
                </a:solidFill>
                <a:latin typeface="Calibri" pitchFamily="34" charset="0"/>
                <a:ea typeface="Calibri" pitchFamily="34" charset="-122"/>
                <a:cs typeface="Calibri" pitchFamily="34" charset="-120"/>
              </a:rPr>
              <a:t>Context-Aware Cost Model</a:t>
            </a:r>
            <a:endParaRPr lang="en-US" sz="1100" dirty="0"/>
          </a:p>
        </p:txBody>
      </p:sp>
      <p:sp>
        <p:nvSpPr>
          <p:cNvPr id="30" name="Text 28"/>
          <p:cNvSpPr/>
          <p:nvPr/>
        </p:nvSpPr>
        <p:spPr>
          <a:xfrm>
            <a:off x="2578608" y="3392424"/>
            <a:ext cx="1719072" cy="768096"/>
          </a:xfrm>
          <a:prstGeom prst="rect">
            <a:avLst/>
          </a:prstGeom>
          <a:noFill/>
          <a:ln/>
        </p:spPr>
        <p:txBody>
          <a:bodyPr wrap="square" rtlCol="0" anchor="ctr"/>
          <a:lstStyle/>
          <a:p>
            <a:pPr indent="0" marL="0">
              <a:lnSpc>
                <a:spcPct val="120000"/>
              </a:lnSpc>
              <a:buNone/>
            </a:pPr>
            <a:r>
              <a:rPr lang="en-US" sz="850" dirty="0">
                <a:solidFill>
                  <a:srgbClr val="2E7D32"/>
                </a:solidFill>
                <a:latin typeface="Calibri" pitchFamily="34" charset="0"/>
                <a:ea typeface="Calibri" pitchFamily="34" charset="-122"/>
                <a:cs typeface="Calibri" pitchFamily="34" charset="-120"/>
              </a:rPr>
              <a:t>City + tier + procedure-aware prompts · Validated on 4 real procedure types · Itemized breakdown</a:t>
            </a:r>
            <a:endParaRPr lang="en-US" sz="850" dirty="0"/>
          </a:p>
        </p:txBody>
      </p:sp>
      <p:sp>
        <p:nvSpPr>
          <p:cNvPr id="31" name="Shape 29"/>
          <p:cNvSpPr/>
          <p:nvPr/>
        </p:nvSpPr>
        <p:spPr>
          <a:xfrm>
            <a:off x="4700016" y="2679192"/>
            <a:ext cx="1901952" cy="1572768"/>
          </a:xfrm>
          <a:prstGeom prst="ROUNDED_RECTANGLE">
            <a:avLst>
              <a:gd name="adj" fmla="val 4651"/>
            </a:avLst>
          </a:prstGeom>
          <a:solidFill>
            <a:srgbClr val="FFF5F5"/>
          </a:solidFill>
          <a:ln w="12700">
            <a:solidFill>
              <a:srgbClr val="FFC7C7"/>
            </a:solidFill>
            <a:prstDash val="solid"/>
          </a:ln>
        </p:spPr>
      </p:sp>
      <p:sp>
        <p:nvSpPr>
          <p:cNvPr id="32" name="Text 30"/>
          <p:cNvSpPr/>
          <p:nvPr/>
        </p:nvSpPr>
        <p:spPr>
          <a:xfrm>
            <a:off x="4791456" y="2752344"/>
            <a:ext cx="1719072" cy="201168"/>
          </a:xfrm>
          <a:prstGeom prst="rect">
            <a:avLst/>
          </a:prstGeom>
          <a:noFill/>
          <a:ln/>
        </p:spPr>
        <p:txBody>
          <a:bodyPr wrap="square" rtlCol="0" anchor="ctr"/>
          <a:lstStyle/>
          <a:p>
            <a:pPr indent="0" marL="0">
              <a:buNone/>
            </a:pPr>
            <a:r>
              <a:rPr lang="en-US" sz="750" b="1" spc="100" kern="0" dirty="0">
                <a:solidFill>
                  <a:srgbClr val="DC2626"/>
                </a:solidFill>
                <a:latin typeface="Calibri" pitchFamily="34" charset="0"/>
                <a:ea typeface="Calibri" pitchFamily="34" charset="-122"/>
                <a:cs typeface="Calibri" pitchFamily="34" charset="-120"/>
              </a:rPr>
              <a:t>Challenge</a:t>
            </a:r>
            <a:endParaRPr lang="en-US" sz="750" dirty="0"/>
          </a:p>
        </p:txBody>
      </p:sp>
      <p:sp>
        <p:nvSpPr>
          <p:cNvPr id="33" name="Text 31"/>
          <p:cNvSpPr/>
          <p:nvPr/>
        </p:nvSpPr>
        <p:spPr>
          <a:xfrm>
            <a:off x="4791456" y="2971800"/>
            <a:ext cx="1719072" cy="384048"/>
          </a:xfrm>
          <a:prstGeom prst="rect">
            <a:avLst/>
          </a:prstGeom>
          <a:noFill/>
          <a:ln/>
        </p:spPr>
        <p:txBody>
          <a:bodyPr wrap="square" rtlCol="0" anchor="ctr"/>
          <a:lstStyle/>
          <a:p>
            <a:pPr indent="0" marL="0">
              <a:lnSpc>
                <a:spcPct val="100000"/>
              </a:lnSpc>
              <a:buNone/>
            </a:pPr>
            <a:r>
              <a:rPr lang="en-US" sz="1100" b="1" dirty="0">
                <a:solidFill>
                  <a:srgbClr val="7B1818"/>
                </a:solidFill>
                <a:latin typeface="Calibri" pitchFamily="34" charset="0"/>
                <a:ea typeface="Calibri" pitchFamily="34" charset="-122"/>
                <a:cs typeface="Calibri" pitchFamily="34" charset="-120"/>
              </a:rPr>
              <a:t>AI Hallucination Risk</a:t>
            </a:r>
            <a:endParaRPr lang="en-US" sz="1100" dirty="0"/>
          </a:p>
        </p:txBody>
      </p:sp>
      <p:sp>
        <p:nvSpPr>
          <p:cNvPr id="34" name="Text 32"/>
          <p:cNvSpPr/>
          <p:nvPr/>
        </p:nvSpPr>
        <p:spPr>
          <a:xfrm>
            <a:off x="4791456" y="3392424"/>
            <a:ext cx="1719072" cy="768096"/>
          </a:xfrm>
          <a:prstGeom prst="rect">
            <a:avLst/>
          </a:prstGeom>
          <a:noFill/>
          <a:ln/>
        </p:spPr>
        <p:txBody>
          <a:bodyPr wrap="square" rtlCol="0" anchor="ctr"/>
          <a:lstStyle/>
          <a:p>
            <a:pPr indent="0" marL="0">
              <a:lnSpc>
                <a:spcPct val="120000"/>
              </a:lnSpc>
              <a:buNone/>
            </a:pPr>
            <a:r>
              <a:rPr lang="en-US" sz="850" dirty="0">
                <a:solidFill>
                  <a:srgbClr val="7B3333"/>
                </a:solidFill>
                <a:latin typeface="Calibri" pitchFamily="34" charset="0"/>
                <a:ea typeface="Calibri" pitchFamily="34" charset="-122"/>
                <a:cs typeface="Calibri" pitchFamily="34" charset="-120"/>
              </a:rPr>
              <a:t>AI could generate incorrect billing variance flags or misleading claims</a:t>
            </a:r>
            <a:endParaRPr lang="en-US" sz="850" dirty="0"/>
          </a:p>
        </p:txBody>
      </p:sp>
      <p:sp>
        <p:nvSpPr>
          <p:cNvPr id="35" name="Shape 33"/>
          <p:cNvSpPr/>
          <p:nvPr/>
        </p:nvSpPr>
        <p:spPr>
          <a:xfrm>
            <a:off x="6601968" y="3456432"/>
            <a:ext cx="128016" cy="18288"/>
          </a:xfrm>
          <a:prstGeom prst="RECTANGLE">
            <a:avLst/>
          </a:prstGeom>
          <a:solidFill>
            <a:srgbClr val="718096"/>
          </a:solidFill>
          <a:ln w="12700">
            <a:solidFill>
              <a:srgbClr val="718096"/>
            </a:solidFill>
            <a:prstDash val="solid"/>
          </a:ln>
        </p:spPr>
      </p:sp>
      <p:sp>
        <p:nvSpPr>
          <p:cNvPr id="36" name="Shape 34"/>
          <p:cNvSpPr/>
          <p:nvPr/>
        </p:nvSpPr>
        <p:spPr>
          <a:xfrm>
            <a:off x="6729984" y="2679192"/>
            <a:ext cx="1901952" cy="1572768"/>
          </a:xfrm>
          <a:prstGeom prst="ROUNDED_RECTANGLE">
            <a:avLst>
              <a:gd name="adj" fmla="val 4651"/>
            </a:avLst>
          </a:prstGeom>
          <a:solidFill>
            <a:srgbClr val="F0FFF4"/>
          </a:solidFill>
          <a:ln w="12700">
            <a:solidFill>
              <a:srgbClr val="B2DFDB"/>
            </a:solidFill>
            <a:prstDash val="solid"/>
          </a:ln>
        </p:spPr>
      </p:sp>
      <p:sp>
        <p:nvSpPr>
          <p:cNvPr id="37" name="Text 35"/>
          <p:cNvSpPr/>
          <p:nvPr/>
        </p:nvSpPr>
        <p:spPr>
          <a:xfrm>
            <a:off x="6821424" y="2752344"/>
            <a:ext cx="1719072" cy="201168"/>
          </a:xfrm>
          <a:prstGeom prst="rect">
            <a:avLst/>
          </a:prstGeom>
          <a:noFill/>
          <a:ln/>
        </p:spPr>
        <p:txBody>
          <a:bodyPr wrap="square" rtlCol="0" anchor="ctr"/>
          <a:lstStyle/>
          <a:p>
            <a:pPr indent="0" marL="0">
              <a:buNone/>
            </a:pPr>
            <a:r>
              <a:rPr lang="en-US" sz="750" b="1" spc="100" kern="0" dirty="0">
                <a:solidFill>
                  <a:srgbClr val="059669"/>
                </a:solidFill>
                <a:latin typeface="Calibri" pitchFamily="34" charset="0"/>
                <a:ea typeface="Calibri" pitchFamily="34" charset="-122"/>
                <a:cs typeface="Calibri" pitchFamily="34" charset="-120"/>
              </a:rPr>
              <a:t>Solution</a:t>
            </a:r>
            <a:endParaRPr lang="en-US" sz="750" dirty="0"/>
          </a:p>
        </p:txBody>
      </p:sp>
      <p:sp>
        <p:nvSpPr>
          <p:cNvPr id="38" name="Text 36"/>
          <p:cNvSpPr/>
          <p:nvPr/>
        </p:nvSpPr>
        <p:spPr>
          <a:xfrm>
            <a:off x="6821424" y="2971800"/>
            <a:ext cx="1719072" cy="384048"/>
          </a:xfrm>
          <a:prstGeom prst="rect">
            <a:avLst/>
          </a:prstGeom>
          <a:noFill/>
          <a:ln/>
        </p:spPr>
        <p:txBody>
          <a:bodyPr wrap="square" rtlCol="0" anchor="ctr"/>
          <a:lstStyle/>
          <a:p>
            <a:pPr indent="0" marL="0">
              <a:lnSpc>
                <a:spcPct val="100000"/>
              </a:lnSpc>
              <a:buNone/>
            </a:pPr>
            <a:r>
              <a:rPr lang="en-US" sz="1100" b="1" dirty="0">
                <a:solidFill>
                  <a:srgbClr val="1B5E20"/>
                </a:solidFill>
                <a:latin typeface="Calibri" pitchFamily="34" charset="0"/>
                <a:ea typeface="Calibri" pitchFamily="34" charset="-122"/>
                <a:cs typeface="Calibri" pitchFamily="34" charset="-120"/>
              </a:rPr>
              <a:t>Responsible AI Output Design</a:t>
            </a:r>
            <a:endParaRPr lang="en-US" sz="1100" dirty="0"/>
          </a:p>
        </p:txBody>
      </p:sp>
      <p:sp>
        <p:nvSpPr>
          <p:cNvPr id="39" name="Text 37"/>
          <p:cNvSpPr/>
          <p:nvPr/>
        </p:nvSpPr>
        <p:spPr>
          <a:xfrm>
            <a:off x="6821424" y="3392424"/>
            <a:ext cx="1719072" cy="768096"/>
          </a:xfrm>
          <a:prstGeom prst="rect">
            <a:avLst/>
          </a:prstGeom>
          <a:noFill/>
          <a:ln/>
        </p:spPr>
        <p:txBody>
          <a:bodyPr wrap="square" rtlCol="0" anchor="ctr"/>
          <a:lstStyle/>
          <a:p>
            <a:pPr indent="0" marL="0">
              <a:lnSpc>
                <a:spcPct val="120000"/>
              </a:lnSpc>
              <a:buNone/>
            </a:pPr>
            <a:r>
              <a:rPr lang="en-US" sz="850" dirty="0">
                <a:solidFill>
                  <a:srgbClr val="2E7D32"/>
                </a:solidFill>
                <a:latin typeface="Calibri" pitchFamily="34" charset="0"/>
                <a:ea typeface="Calibri" pitchFamily="34" charset="-122"/>
                <a:cs typeface="Calibri" pitchFamily="34" charset="-120"/>
              </a:rPr>
              <a:t>Confidence scores per variance · Evidence-based language only · Explicit caveats on every output</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Results — MVP Delivered &amp; Measured</a:t>
            </a:r>
            <a:endParaRPr lang="en-US" sz="2600" dirty="0"/>
          </a:p>
        </p:txBody>
      </p:sp>
      <p:sp>
        <p:nvSpPr>
          <p:cNvPr id="3" name="Shape 1"/>
          <p:cNvSpPr/>
          <p:nvPr/>
        </p:nvSpPr>
        <p:spPr>
          <a:xfrm>
            <a:off x="457200" y="749808"/>
            <a:ext cx="384048" cy="50292"/>
          </a:xfrm>
          <a:prstGeom prst="ROUNDED_RECTANGLE">
            <a:avLst>
              <a:gd name="adj" fmla="val 54545"/>
            </a:avLst>
          </a:prstGeom>
          <a:solidFill>
            <a:srgbClr val="12B5A8"/>
          </a:solidFill>
          <a:ln w="12700">
            <a:solidFill>
              <a:srgbClr val="12B5A8"/>
            </a:solidFill>
            <a:prstDash val="solid"/>
          </a:ln>
        </p:spPr>
      </p:sp>
      <p:sp>
        <p:nvSpPr>
          <p:cNvPr id="4" name="Shape 2"/>
          <p:cNvSpPr/>
          <p:nvPr/>
        </p:nvSpPr>
        <p:spPr>
          <a:xfrm>
            <a:off x="457200" y="914400"/>
            <a:ext cx="2633472" cy="1097280"/>
          </a:xfrm>
          <a:prstGeom prst="ROUNDED_RECTANGLE">
            <a:avLst>
              <a:gd name="adj" fmla="val 7500"/>
            </a:avLst>
          </a:prstGeom>
          <a:solidFill>
            <a:srgbClr val="162635"/>
          </a:solidFill>
          <a:ln w="12700">
            <a:solidFill>
              <a:srgbClr val="1E3A50"/>
            </a:solidFill>
            <a:prstDash val="solid"/>
          </a:ln>
        </p:spPr>
      </p:sp>
      <p:sp>
        <p:nvSpPr>
          <p:cNvPr id="5" name="Shape 3"/>
          <p:cNvSpPr/>
          <p:nvPr/>
        </p:nvSpPr>
        <p:spPr>
          <a:xfrm>
            <a:off x="457200" y="914400"/>
            <a:ext cx="2633472" cy="64008"/>
          </a:xfrm>
          <a:prstGeom prst="ROUNDED_RECTANGLE">
            <a:avLst>
              <a:gd name="adj" fmla="val 71429"/>
            </a:avLst>
          </a:prstGeom>
          <a:solidFill>
            <a:srgbClr val="12B5A8"/>
          </a:solidFill>
          <a:ln w="12700">
            <a:solidFill>
              <a:srgbClr val="12B5A8"/>
            </a:solidFill>
            <a:prstDash val="solid"/>
          </a:ln>
        </p:spPr>
      </p:sp>
      <p:sp>
        <p:nvSpPr>
          <p:cNvPr id="6" name="Text 4"/>
          <p:cNvSpPr/>
          <p:nvPr/>
        </p:nvSpPr>
        <p:spPr>
          <a:xfrm>
            <a:off x="594360" y="1024128"/>
            <a:ext cx="2359152" cy="548640"/>
          </a:xfrm>
          <a:prstGeom prst="rect">
            <a:avLst/>
          </a:prstGeom>
          <a:noFill/>
          <a:ln/>
        </p:spPr>
        <p:txBody>
          <a:bodyPr wrap="square" lIns="0" tIns="0" rIns="0" bIns="0" rtlCol="0" anchor="ctr"/>
          <a:lstStyle/>
          <a:p>
            <a:pPr indent="0" marL="0">
              <a:buNone/>
            </a:pPr>
            <a:r>
              <a:rPr lang="en-US" sz="3600" b="1" dirty="0">
                <a:solidFill>
                  <a:srgbClr val="12B5A8"/>
                </a:solidFill>
                <a:latin typeface="Cambria" pitchFamily="34" charset="0"/>
                <a:ea typeface="Cambria" pitchFamily="34" charset="-122"/>
                <a:cs typeface="Cambria" pitchFamily="34" charset="-120"/>
              </a:rPr>
              <a:t>32</a:t>
            </a:r>
            <a:endParaRPr lang="en-US" sz="3600" dirty="0"/>
          </a:p>
        </p:txBody>
      </p:sp>
      <p:sp>
        <p:nvSpPr>
          <p:cNvPr id="7" name="Text 5"/>
          <p:cNvSpPr/>
          <p:nvPr/>
        </p:nvSpPr>
        <p:spPr>
          <a:xfrm>
            <a:off x="594360" y="1572768"/>
            <a:ext cx="2359152"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Hospitals</a:t>
            </a:r>
            <a:endParaRPr lang="en-US" sz="1200" dirty="0"/>
          </a:p>
        </p:txBody>
      </p:sp>
      <p:sp>
        <p:nvSpPr>
          <p:cNvPr id="8" name="Text 6"/>
          <p:cNvSpPr/>
          <p:nvPr/>
        </p:nvSpPr>
        <p:spPr>
          <a:xfrm>
            <a:off x="594360" y="1810512"/>
            <a:ext cx="2359152" cy="164592"/>
          </a:xfrm>
          <a:prstGeom prst="rect">
            <a:avLst/>
          </a:prstGeom>
          <a:noFill/>
          <a:ln/>
        </p:spPr>
        <p:txBody>
          <a:bodyPr wrap="square" rtlCol="0" anchor="ctr"/>
          <a:lstStyle/>
          <a:p>
            <a:pPr indent="0" marL="0">
              <a:buNone/>
            </a:pPr>
            <a:r>
              <a:rPr lang="en-US" sz="850" dirty="0">
                <a:solidFill>
                  <a:srgbClr val="B0C4C3"/>
                </a:solidFill>
                <a:latin typeface="Calibri" pitchFamily="34" charset="0"/>
                <a:ea typeface="Calibri" pitchFamily="34" charset="-122"/>
                <a:cs typeface="Calibri" pitchFamily="34" charset="-120"/>
              </a:rPr>
              <a:t>across 11 Indian cities</a:t>
            </a:r>
            <a:endParaRPr lang="en-US" sz="850" dirty="0"/>
          </a:p>
        </p:txBody>
      </p:sp>
      <p:sp>
        <p:nvSpPr>
          <p:cNvPr id="9" name="Shape 7"/>
          <p:cNvSpPr/>
          <p:nvPr/>
        </p:nvSpPr>
        <p:spPr>
          <a:xfrm>
            <a:off x="3163824" y="914400"/>
            <a:ext cx="2633472" cy="1097280"/>
          </a:xfrm>
          <a:prstGeom prst="ROUNDED_RECTANGLE">
            <a:avLst>
              <a:gd name="adj" fmla="val 7500"/>
            </a:avLst>
          </a:prstGeom>
          <a:solidFill>
            <a:srgbClr val="162635"/>
          </a:solidFill>
          <a:ln w="12700">
            <a:solidFill>
              <a:srgbClr val="1E3A50"/>
            </a:solidFill>
            <a:prstDash val="solid"/>
          </a:ln>
        </p:spPr>
      </p:sp>
      <p:sp>
        <p:nvSpPr>
          <p:cNvPr id="10" name="Shape 8"/>
          <p:cNvSpPr/>
          <p:nvPr/>
        </p:nvSpPr>
        <p:spPr>
          <a:xfrm>
            <a:off x="3163824" y="914400"/>
            <a:ext cx="2633472" cy="64008"/>
          </a:xfrm>
          <a:prstGeom prst="ROUNDED_RECTANGLE">
            <a:avLst>
              <a:gd name="adj" fmla="val 71429"/>
            </a:avLst>
          </a:prstGeom>
          <a:solidFill>
            <a:srgbClr val="12B5A8"/>
          </a:solidFill>
          <a:ln w="12700">
            <a:solidFill>
              <a:srgbClr val="12B5A8"/>
            </a:solidFill>
            <a:prstDash val="solid"/>
          </a:ln>
        </p:spPr>
      </p:sp>
      <p:sp>
        <p:nvSpPr>
          <p:cNvPr id="11" name="Text 9"/>
          <p:cNvSpPr/>
          <p:nvPr/>
        </p:nvSpPr>
        <p:spPr>
          <a:xfrm>
            <a:off x="3300984" y="1024128"/>
            <a:ext cx="2359152" cy="548640"/>
          </a:xfrm>
          <a:prstGeom prst="rect">
            <a:avLst/>
          </a:prstGeom>
          <a:noFill/>
          <a:ln/>
        </p:spPr>
        <p:txBody>
          <a:bodyPr wrap="square" lIns="0" tIns="0" rIns="0" bIns="0" rtlCol="0" anchor="ctr"/>
          <a:lstStyle/>
          <a:p>
            <a:pPr indent="0" marL="0">
              <a:buNone/>
            </a:pPr>
            <a:r>
              <a:rPr lang="en-US" sz="3600" b="1" dirty="0">
                <a:solidFill>
                  <a:srgbClr val="12B5A8"/>
                </a:solidFill>
                <a:latin typeface="Cambria" pitchFamily="34" charset="0"/>
                <a:ea typeface="Cambria" pitchFamily="34" charset="-122"/>
                <a:cs typeface="Cambria" pitchFamily="34" charset="-120"/>
              </a:rPr>
              <a:t>11</a:t>
            </a:r>
            <a:endParaRPr lang="en-US" sz="3600" dirty="0"/>
          </a:p>
        </p:txBody>
      </p:sp>
      <p:sp>
        <p:nvSpPr>
          <p:cNvPr id="12" name="Text 10"/>
          <p:cNvSpPr/>
          <p:nvPr/>
        </p:nvSpPr>
        <p:spPr>
          <a:xfrm>
            <a:off x="3300984" y="1572768"/>
            <a:ext cx="2359152"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Cities</a:t>
            </a:r>
            <a:endParaRPr lang="en-US" sz="1200" dirty="0"/>
          </a:p>
        </p:txBody>
      </p:sp>
      <p:sp>
        <p:nvSpPr>
          <p:cNvPr id="13" name="Text 11"/>
          <p:cNvSpPr/>
          <p:nvPr/>
        </p:nvSpPr>
        <p:spPr>
          <a:xfrm>
            <a:off x="3300984" y="1810512"/>
            <a:ext cx="2359152" cy="164592"/>
          </a:xfrm>
          <a:prstGeom prst="rect">
            <a:avLst/>
          </a:prstGeom>
          <a:noFill/>
          <a:ln/>
        </p:spPr>
        <p:txBody>
          <a:bodyPr wrap="square" rtlCol="0" anchor="ctr"/>
          <a:lstStyle/>
          <a:p>
            <a:pPr indent="0" marL="0">
              <a:buNone/>
            </a:pPr>
            <a:r>
              <a:rPr lang="en-US" sz="850" dirty="0">
                <a:solidFill>
                  <a:srgbClr val="B0C4C3"/>
                </a:solidFill>
                <a:latin typeface="Calibri" pitchFamily="34" charset="0"/>
                <a:ea typeface="Calibri" pitchFamily="34" charset="-122"/>
                <a:cs typeface="Calibri" pitchFamily="34" charset="-120"/>
              </a:rPr>
              <a:t>Tier-1 to Tier-3 coverage</a:t>
            </a:r>
            <a:endParaRPr lang="en-US" sz="850" dirty="0"/>
          </a:p>
        </p:txBody>
      </p:sp>
      <p:sp>
        <p:nvSpPr>
          <p:cNvPr id="14" name="Shape 12"/>
          <p:cNvSpPr/>
          <p:nvPr/>
        </p:nvSpPr>
        <p:spPr>
          <a:xfrm>
            <a:off x="5870448" y="914400"/>
            <a:ext cx="2633472" cy="1097280"/>
          </a:xfrm>
          <a:prstGeom prst="ROUNDED_RECTANGLE">
            <a:avLst>
              <a:gd name="adj" fmla="val 7500"/>
            </a:avLst>
          </a:prstGeom>
          <a:solidFill>
            <a:srgbClr val="162635"/>
          </a:solidFill>
          <a:ln w="12700">
            <a:solidFill>
              <a:srgbClr val="1E3A50"/>
            </a:solidFill>
            <a:prstDash val="solid"/>
          </a:ln>
        </p:spPr>
      </p:sp>
      <p:sp>
        <p:nvSpPr>
          <p:cNvPr id="15" name="Shape 13"/>
          <p:cNvSpPr/>
          <p:nvPr/>
        </p:nvSpPr>
        <p:spPr>
          <a:xfrm>
            <a:off x="5870448" y="914400"/>
            <a:ext cx="2633472" cy="64008"/>
          </a:xfrm>
          <a:prstGeom prst="ROUNDED_RECTANGLE">
            <a:avLst>
              <a:gd name="adj" fmla="val 71429"/>
            </a:avLst>
          </a:prstGeom>
          <a:solidFill>
            <a:srgbClr val="12B5A8"/>
          </a:solidFill>
          <a:ln w="12700">
            <a:solidFill>
              <a:srgbClr val="12B5A8"/>
            </a:solidFill>
            <a:prstDash val="solid"/>
          </a:ln>
        </p:spPr>
      </p:sp>
      <p:sp>
        <p:nvSpPr>
          <p:cNvPr id="16" name="Text 14"/>
          <p:cNvSpPr/>
          <p:nvPr/>
        </p:nvSpPr>
        <p:spPr>
          <a:xfrm>
            <a:off x="6007608" y="1024128"/>
            <a:ext cx="2359152" cy="548640"/>
          </a:xfrm>
          <a:prstGeom prst="rect">
            <a:avLst/>
          </a:prstGeom>
          <a:noFill/>
          <a:ln/>
        </p:spPr>
        <p:txBody>
          <a:bodyPr wrap="square" lIns="0" tIns="0" rIns="0" bIns="0" rtlCol="0" anchor="ctr"/>
          <a:lstStyle/>
          <a:p>
            <a:pPr indent="0" marL="0">
              <a:buNone/>
            </a:pPr>
            <a:r>
              <a:rPr lang="en-US" sz="3600" b="1" dirty="0">
                <a:solidFill>
                  <a:srgbClr val="12B5A8"/>
                </a:solidFill>
                <a:latin typeface="Cambria" pitchFamily="34" charset="0"/>
                <a:ea typeface="Cambria" pitchFamily="34" charset="-122"/>
                <a:cs typeface="Cambria" pitchFamily="34" charset="-120"/>
              </a:rPr>
              <a:t>5</a:t>
            </a:r>
            <a:endParaRPr lang="en-US" sz="3600" dirty="0"/>
          </a:p>
        </p:txBody>
      </p:sp>
      <p:sp>
        <p:nvSpPr>
          <p:cNvPr id="17" name="Text 15"/>
          <p:cNvSpPr/>
          <p:nvPr/>
        </p:nvSpPr>
        <p:spPr>
          <a:xfrm>
            <a:off x="6007608" y="1572768"/>
            <a:ext cx="2359152"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AI Features</a:t>
            </a:r>
            <a:endParaRPr lang="en-US" sz="1200" dirty="0"/>
          </a:p>
        </p:txBody>
      </p:sp>
      <p:sp>
        <p:nvSpPr>
          <p:cNvPr id="18" name="Text 16"/>
          <p:cNvSpPr/>
          <p:nvPr/>
        </p:nvSpPr>
        <p:spPr>
          <a:xfrm>
            <a:off x="6007608" y="1810512"/>
            <a:ext cx="2359152" cy="164592"/>
          </a:xfrm>
          <a:prstGeom prst="rect">
            <a:avLst/>
          </a:prstGeom>
          <a:noFill/>
          <a:ln/>
        </p:spPr>
        <p:txBody>
          <a:bodyPr wrap="square" rtlCol="0" anchor="ctr"/>
          <a:lstStyle/>
          <a:p>
            <a:pPr indent="0" marL="0">
              <a:buNone/>
            </a:pPr>
            <a:r>
              <a:rPr lang="en-US" sz="850" dirty="0">
                <a:solidFill>
                  <a:srgbClr val="B0C4C3"/>
                </a:solidFill>
                <a:latin typeface="Calibri" pitchFamily="34" charset="0"/>
                <a:ea typeface="Calibri" pitchFamily="34" charset="-122"/>
                <a:cs typeface="Calibri" pitchFamily="34" charset="-120"/>
              </a:rPr>
              <a:t>Core healthcare decision capabilities</a:t>
            </a:r>
            <a:endParaRPr lang="en-US" sz="850" dirty="0"/>
          </a:p>
        </p:txBody>
      </p:sp>
      <p:sp>
        <p:nvSpPr>
          <p:cNvPr id="19" name="Shape 17"/>
          <p:cNvSpPr/>
          <p:nvPr/>
        </p:nvSpPr>
        <p:spPr>
          <a:xfrm>
            <a:off x="457200" y="2103120"/>
            <a:ext cx="2633472" cy="1097280"/>
          </a:xfrm>
          <a:prstGeom prst="ROUNDED_RECTANGLE">
            <a:avLst>
              <a:gd name="adj" fmla="val 7500"/>
            </a:avLst>
          </a:prstGeom>
          <a:solidFill>
            <a:srgbClr val="162635"/>
          </a:solidFill>
          <a:ln w="12700">
            <a:solidFill>
              <a:srgbClr val="1E3A50"/>
            </a:solidFill>
            <a:prstDash val="solid"/>
          </a:ln>
        </p:spPr>
      </p:sp>
      <p:sp>
        <p:nvSpPr>
          <p:cNvPr id="20" name="Shape 18"/>
          <p:cNvSpPr/>
          <p:nvPr/>
        </p:nvSpPr>
        <p:spPr>
          <a:xfrm>
            <a:off x="457200" y="2103120"/>
            <a:ext cx="2633472" cy="64008"/>
          </a:xfrm>
          <a:prstGeom prst="ROUNDED_RECTANGLE">
            <a:avLst>
              <a:gd name="adj" fmla="val 71429"/>
            </a:avLst>
          </a:prstGeom>
          <a:solidFill>
            <a:srgbClr val="12B5A8"/>
          </a:solidFill>
          <a:ln w="12700">
            <a:solidFill>
              <a:srgbClr val="12B5A8"/>
            </a:solidFill>
            <a:prstDash val="solid"/>
          </a:ln>
        </p:spPr>
      </p:sp>
      <p:sp>
        <p:nvSpPr>
          <p:cNvPr id="21" name="Text 19"/>
          <p:cNvSpPr/>
          <p:nvPr/>
        </p:nvSpPr>
        <p:spPr>
          <a:xfrm>
            <a:off x="594360" y="2212848"/>
            <a:ext cx="2359152" cy="548640"/>
          </a:xfrm>
          <a:prstGeom prst="rect">
            <a:avLst/>
          </a:prstGeom>
          <a:noFill/>
          <a:ln/>
        </p:spPr>
        <p:txBody>
          <a:bodyPr wrap="square" lIns="0" tIns="0" rIns="0" bIns="0" rtlCol="0" anchor="ctr"/>
          <a:lstStyle/>
          <a:p>
            <a:pPr indent="0" marL="0">
              <a:buNone/>
            </a:pPr>
            <a:r>
              <a:rPr lang="en-US" sz="3600" b="1" dirty="0">
                <a:solidFill>
                  <a:srgbClr val="12B5A8"/>
                </a:solidFill>
                <a:latin typeface="Cambria" pitchFamily="34" charset="0"/>
                <a:ea typeface="Cambria" pitchFamily="34" charset="-122"/>
                <a:cs typeface="Cambria" pitchFamily="34" charset="-120"/>
              </a:rPr>
              <a:t>₹5.26L</a:t>
            </a:r>
            <a:endParaRPr lang="en-US" sz="3600" dirty="0"/>
          </a:p>
        </p:txBody>
      </p:sp>
      <p:sp>
        <p:nvSpPr>
          <p:cNvPr id="22" name="Text 20"/>
          <p:cNvSpPr/>
          <p:nvPr/>
        </p:nvSpPr>
        <p:spPr>
          <a:xfrm>
            <a:off x="594360" y="2761488"/>
            <a:ext cx="2359152"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Bill Analyzed</a:t>
            </a:r>
            <a:endParaRPr lang="en-US" sz="1200" dirty="0"/>
          </a:p>
        </p:txBody>
      </p:sp>
      <p:sp>
        <p:nvSpPr>
          <p:cNvPr id="23" name="Text 21"/>
          <p:cNvSpPr/>
          <p:nvPr/>
        </p:nvSpPr>
        <p:spPr>
          <a:xfrm>
            <a:off x="594360" y="2999232"/>
            <a:ext cx="2359152" cy="164592"/>
          </a:xfrm>
          <a:prstGeom prst="rect">
            <a:avLst/>
          </a:prstGeom>
          <a:noFill/>
          <a:ln/>
        </p:spPr>
        <p:txBody>
          <a:bodyPr wrap="square" rtlCol="0" anchor="ctr"/>
          <a:lstStyle/>
          <a:p>
            <a:pPr indent="0" marL="0">
              <a:buNone/>
            </a:pPr>
            <a:r>
              <a:rPr lang="en-US" sz="850" dirty="0">
                <a:solidFill>
                  <a:srgbClr val="B0C4C3"/>
                </a:solidFill>
                <a:latin typeface="Calibri" pitchFamily="34" charset="0"/>
                <a:ea typeface="Calibri" pitchFamily="34" charset="-122"/>
                <a:cs typeface="Calibri" pitchFamily="34" charset="-120"/>
              </a:rPr>
              <a:t>Apollo Delhi · 22 line items</a:t>
            </a:r>
            <a:endParaRPr lang="en-US" sz="850" dirty="0"/>
          </a:p>
        </p:txBody>
      </p:sp>
      <p:sp>
        <p:nvSpPr>
          <p:cNvPr id="24" name="Shape 22"/>
          <p:cNvSpPr/>
          <p:nvPr/>
        </p:nvSpPr>
        <p:spPr>
          <a:xfrm>
            <a:off x="3163824" y="2103120"/>
            <a:ext cx="2633472" cy="1097280"/>
          </a:xfrm>
          <a:prstGeom prst="ROUNDED_RECTANGLE">
            <a:avLst>
              <a:gd name="adj" fmla="val 7500"/>
            </a:avLst>
          </a:prstGeom>
          <a:solidFill>
            <a:srgbClr val="162635"/>
          </a:solidFill>
          <a:ln w="12700">
            <a:solidFill>
              <a:srgbClr val="1E3A50"/>
            </a:solidFill>
            <a:prstDash val="solid"/>
          </a:ln>
        </p:spPr>
      </p:sp>
      <p:sp>
        <p:nvSpPr>
          <p:cNvPr id="25" name="Shape 23"/>
          <p:cNvSpPr/>
          <p:nvPr/>
        </p:nvSpPr>
        <p:spPr>
          <a:xfrm>
            <a:off x="3163824" y="2103120"/>
            <a:ext cx="2633472" cy="64008"/>
          </a:xfrm>
          <a:prstGeom prst="ROUNDED_RECTANGLE">
            <a:avLst>
              <a:gd name="adj" fmla="val 71429"/>
            </a:avLst>
          </a:prstGeom>
          <a:solidFill>
            <a:srgbClr val="12B5A8"/>
          </a:solidFill>
          <a:ln w="12700">
            <a:solidFill>
              <a:srgbClr val="12B5A8"/>
            </a:solidFill>
            <a:prstDash val="solid"/>
          </a:ln>
        </p:spPr>
      </p:sp>
      <p:sp>
        <p:nvSpPr>
          <p:cNvPr id="26" name="Text 24"/>
          <p:cNvSpPr/>
          <p:nvPr/>
        </p:nvSpPr>
        <p:spPr>
          <a:xfrm>
            <a:off x="3300984" y="2212848"/>
            <a:ext cx="2359152" cy="548640"/>
          </a:xfrm>
          <a:prstGeom prst="rect">
            <a:avLst/>
          </a:prstGeom>
          <a:noFill/>
          <a:ln/>
        </p:spPr>
        <p:txBody>
          <a:bodyPr wrap="square" lIns="0" tIns="0" rIns="0" bIns="0" rtlCol="0" anchor="ctr"/>
          <a:lstStyle/>
          <a:p>
            <a:pPr indent="0" marL="0">
              <a:buNone/>
            </a:pPr>
            <a:r>
              <a:rPr lang="en-US" sz="3600" b="1" dirty="0">
                <a:solidFill>
                  <a:srgbClr val="12B5A8"/>
                </a:solidFill>
                <a:latin typeface="Cambria" pitchFamily="34" charset="0"/>
                <a:ea typeface="Cambria" pitchFamily="34" charset="-122"/>
                <a:cs typeface="Cambria" pitchFamily="34" charset="-120"/>
              </a:rPr>
              <a:t>~₹1.7L</a:t>
            </a:r>
            <a:endParaRPr lang="en-US" sz="3600" dirty="0"/>
          </a:p>
        </p:txBody>
      </p:sp>
      <p:sp>
        <p:nvSpPr>
          <p:cNvPr id="27" name="Text 25"/>
          <p:cNvSpPr/>
          <p:nvPr/>
        </p:nvSpPr>
        <p:spPr>
          <a:xfrm>
            <a:off x="3300984" y="2761488"/>
            <a:ext cx="2359152"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Variances Flagged</a:t>
            </a:r>
            <a:endParaRPr lang="en-US" sz="1200" dirty="0"/>
          </a:p>
        </p:txBody>
      </p:sp>
      <p:sp>
        <p:nvSpPr>
          <p:cNvPr id="28" name="Text 26"/>
          <p:cNvSpPr/>
          <p:nvPr/>
        </p:nvSpPr>
        <p:spPr>
          <a:xfrm>
            <a:off x="3300984" y="2999232"/>
            <a:ext cx="2359152" cy="164592"/>
          </a:xfrm>
          <a:prstGeom prst="rect">
            <a:avLst/>
          </a:prstGeom>
          <a:noFill/>
          <a:ln/>
        </p:spPr>
        <p:txBody>
          <a:bodyPr wrap="square" rtlCol="0" anchor="ctr"/>
          <a:lstStyle/>
          <a:p>
            <a:pPr indent="0" marL="0">
              <a:buNone/>
            </a:pPr>
            <a:r>
              <a:rPr lang="en-US" sz="850" dirty="0">
                <a:solidFill>
                  <a:srgbClr val="B0C4C3"/>
                </a:solidFill>
                <a:latin typeface="Calibri" pitchFamily="34" charset="0"/>
                <a:ea typeface="Calibri" pitchFamily="34" charset="-122"/>
                <a:cs typeface="Calibri" pitchFamily="34" charset="-120"/>
              </a:rPr>
              <a:t>Potential overcharges (high confidence)</a:t>
            </a:r>
            <a:endParaRPr lang="en-US" sz="850" dirty="0"/>
          </a:p>
        </p:txBody>
      </p:sp>
      <p:sp>
        <p:nvSpPr>
          <p:cNvPr id="29" name="Shape 27"/>
          <p:cNvSpPr/>
          <p:nvPr/>
        </p:nvSpPr>
        <p:spPr>
          <a:xfrm>
            <a:off x="5870448" y="2103120"/>
            <a:ext cx="2633472" cy="1097280"/>
          </a:xfrm>
          <a:prstGeom prst="ROUNDED_RECTANGLE">
            <a:avLst>
              <a:gd name="adj" fmla="val 7500"/>
            </a:avLst>
          </a:prstGeom>
          <a:solidFill>
            <a:srgbClr val="162635"/>
          </a:solidFill>
          <a:ln w="12700">
            <a:solidFill>
              <a:srgbClr val="1E3A50"/>
            </a:solidFill>
            <a:prstDash val="solid"/>
          </a:ln>
        </p:spPr>
      </p:sp>
      <p:sp>
        <p:nvSpPr>
          <p:cNvPr id="30" name="Shape 28"/>
          <p:cNvSpPr/>
          <p:nvPr/>
        </p:nvSpPr>
        <p:spPr>
          <a:xfrm>
            <a:off x="5870448" y="2103120"/>
            <a:ext cx="2633472" cy="64008"/>
          </a:xfrm>
          <a:prstGeom prst="ROUNDED_RECTANGLE">
            <a:avLst>
              <a:gd name="adj" fmla="val 71429"/>
            </a:avLst>
          </a:prstGeom>
          <a:solidFill>
            <a:srgbClr val="12B5A8"/>
          </a:solidFill>
          <a:ln w="12700">
            <a:solidFill>
              <a:srgbClr val="12B5A8"/>
            </a:solidFill>
            <a:prstDash val="solid"/>
          </a:ln>
        </p:spPr>
      </p:sp>
      <p:sp>
        <p:nvSpPr>
          <p:cNvPr id="31" name="Text 29"/>
          <p:cNvSpPr/>
          <p:nvPr/>
        </p:nvSpPr>
        <p:spPr>
          <a:xfrm>
            <a:off x="6007608" y="2212848"/>
            <a:ext cx="2359152" cy="548640"/>
          </a:xfrm>
          <a:prstGeom prst="rect">
            <a:avLst/>
          </a:prstGeom>
          <a:noFill/>
          <a:ln/>
        </p:spPr>
        <p:txBody>
          <a:bodyPr wrap="square" lIns="0" tIns="0" rIns="0" bIns="0" rtlCol="0" anchor="ctr"/>
          <a:lstStyle/>
          <a:p>
            <a:pPr indent="0" marL="0">
              <a:buNone/>
            </a:pPr>
            <a:r>
              <a:rPr lang="en-US" sz="3600" b="1" dirty="0">
                <a:solidFill>
                  <a:srgbClr val="12B5A8"/>
                </a:solidFill>
                <a:latin typeface="Cambria" pitchFamily="34" charset="0"/>
                <a:ea typeface="Cambria" pitchFamily="34" charset="-122"/>
                <a:cs typeface="Cambria" pitchFamily="34" charset="-120"/>
              </a:rPr>
              <a:t>4</a:t>
            </a:r>
            <a:endParaRPr lang="en-US" sz="3600" dirty="0"/>
          </a:p>
        </p:txBody>
      </p:sp>
      <p:sp>
        <p:nvSpPr>
          <p:cNvPr id="32" name="Text 30"/>
          <p:cNvSpPr/>
          <p:nvPr/>
        </p:nvSpPr>
        <p:spPr>
          <a:xfrm>
            <a:off x="6007608" y="2761488"/>
            <a:ext cx="2359152"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Procedures</a:t>
            </a:r>
            <a:endParaRPr lang="en-US" sz="1200" dirty="0"/>
          </a:p>
        </p:txBody>
      </p:sp>
      <p:sp>
        <p:nvSpPr>
          <p:cNvPr id="33" name="Text 31"/>
          <p:cNvSpPr/>
          <p:nvPr/>
        </p:nvSpPr>
        <p:spPr>
          <a:xfrm>
            <a:off x="6007608" y="2999232"/>
            <a:ext cx="2359152" cy="164592"/>
          </a:xfrm>
          <a:prstGeom prst="rect">
            <a:avLst/>
          </a:prstGeom>
          <a:noFill/>
          <a:ln/>
        </p:spPr>
        <p:txBody>
          <a:bodyPr wrap="square" rtlCol="0" anchor="ctr"/>
          <a:lstStyle/>
          <a:p>
            <a:pPr indent="0" marL="0">
              <a:buNone/>
            </a:pPr>
            <a:r>
              <a:rPr lang="en-US" sz="850" dirty="0">
                <a:solidFill>
                  <a:srgbClr val="B0C4C3"/>
                </a:solidFill>
                <a:latin typeface="Calibri" pitchFamily="34" charset="0"/>
                <a:ea typeface="Calibri" pitchFamily="34" charset="-122"/>
                <a:cs typeface="Calibri" pitchFamily="34" charset="-120"/>
              </a:rPr>
              <a:t>AI cost estimation validated</a:t>
            </a:r>
            <a:endParaRPr lang="en-US" sz="850" dirty="0"/>
          </a:p>
        </p:txBody>
      </p:sp>
      <p:sp>
        <p:nvSpPr>
          <p:cNvPr id="34" name="Shape 32"/>
          <p:cNvSpPr/>
          <p:nvPr/>
        </p:nvSpPr>
        <p:spPr>
          <a:xfrm>
            <a:off x="457200" y="3328416"/>
            <a:ext cx="8229600" cy="1188720"/>
          </a:xfrm>
          <a:prstGeom prst="ROUNDED_RECTANGLE">
            <a:avLst>
              <a:gd name="adj" fmla="val 6923"/>
            </a:avLst>
          </a:prstGeom>
          <a:solidFill>
            <a:srgbClr val="162635"/>
          </a:solidFill>
          <a:ln w="12700">
            <a:solidFill>
              <a:srgbClr val="1E3A50"/>
            </a:solidFill>
            <a:prstDash val="solid"/>
          </a:ln>
        </p:spPr>
      </p:sp>
      <p:sp>
        <p:nvSpPr>
          <p:cNvPr id="35" name="Text 33"/>
          <p:cNvSpPr/>
          <p:nvPr/>
        </p:nvSpPr>
        <p:spPr>
          <a:xfrm>
            <a:off x="640080" y="3419856"/>
            <a:ext cx="3657600" cy="201168"/>
          </a:xfrm>
          <a:prstGeom prst="rect">
            <a:avLst/>
          </a:prstGeom>
          <a:noFill/>
          <a:ln/>
        </p:spPr>
        <p:txBody>
          <a:bodyPr wrap="square" rtlCol="0" anchor="ctr"/>
          <a:lstStyle/>
          <a:p>
            <a:pPr indent="0" marL="0">
              <a:buNone/>
            </a:pPr>
            <a:r>
              <a:rPr lang="en-US" sz="800" b="1" spc="150" kern="0" dirty="0">
                <a:solidFill>
                  <a:srgbClr val="B0C4C3"/>
                </a:solidFill>
                <a:latin typeface="Calibri" pitchFamily="34" charset="0"/>
                <a:ea typeface="Calibri" pitchFamily="34" charset="-122"/>
                <a:cs typeface="Calibri" pitchFamily="34" charset="-120"/>
              </a:rPr>
              <a:t>ADDITIONAL DELIVERABLES</a:t>
            </a:r>
            <a:endParaRPr lang="en-US" sz="800" dirty="0"/>
          </a:p>
        </p:txBody>
      </p:sp>
      <p:sp>
        <p:nvSpPr>
          <p:cNvPr id="36" name="Text 34"/>
          <p:cNvSpPr/>
          <p:nvPr/>
        </p:nvSpPr>
        <p:spPr>
          <a:xfrm>
            <a:off x="640080" y="3657600"/>
            <a:ext cx="2651760" cy="329184"/>
          </a:xfrm>
          <a:prstGeom prst="rect">
            <a:avLst/>
          </a:prstGeom>
          <a:noFill/>
          <a:ln/>
        </p:spPr>
        <p:txBody>
          <a:bodyPr wrap="square" rtlCol="0" anchor="ctr"/>
          <a:lstStyle/>
          <a:p>
            <a:pPr indent="0" marL="0">
              <a:buNone/>
            </a:pPr>
            <a:r>
              <a:rPr lang="en-US" sz="1000" dirty="0">
                <a:solidFill>
                  <a:srgbClr val="B0C4C3"/>
                </a:solidFill>
                <a:latin typeface="Calibri" pitchFamily="34" charset="0"/>
                <a:ea typeface="Calibri" pitchFamily="34" charset="-122"/>
                <a:cs typeface="Calibri" pitchFamily="34" charset="-120"/>
              </a:rPr>
              <a:t>✅  Email/JWT + Google OAuth authentication</a:t>
            </a:r>
            <a:endParaRPr lang="en-US" sz="1000" dirty="0"/>
          </a:p>
        </p:txBody>
      </p:sp>
      <p:sp>
        <p:nvSpPr>
          <p:cNvPr id="37" name="Text 35"/>
          <p:cNvSpPr/>
          <p:nvPr/>
        </p:nvSpPr>
        <p:spPr>
          <a:xfrm>
            <a:off x="3383280" y="3657600"/>
            <a:ext cx="2651760" cy="329184"/>
          </a:xfrm>
          <a:prstGeom prst="rect">
            <a:avLst/>
          </a:prstGeom>
          <a:noFill/>
          <a:ln/>
        </p:spPr>
        <p:txBody>
          <a:bodyPr wrap="square" rtlCol="0" anchor="ctr"/>
          <a:lstStyle/>
          <a:p>
            <a:pPr indent="0" marL="0">
              <a:buNone/>
            </a:pPr>
            <a:r>
              <a:rPr lang="en-US" sz="1000" dirty="0">
                <a:solidFill>
                  <a:srgbClr val="B0C4C3"/>
                </a:solidFill>
                <a:latin typeface="Calibri" pitchFamily="34" charset="0"/>
                <a:ea typeface="Calibri" pitchFamily="34" charset="-122"/>
                <a:cs typeface="Calibri" pitchFamily="34" charset="-120"/>
              </a:rPr>
              <a:t>✅  AES-256 encrypted health records vault</a:t>
            </a:r>
            <a:endParaRPr lang="en-US" sz="1000" dirty="0"/>
          </a:p>
        </p:txBody>
      </p:sp>
      <p:sp>
        <p:nvSpPr>
          <p:cNvPr id="38" name="Text 36"/>
          <p:cNvSpPr/>
          <p:nvPr/>
        </p:nvSpPr>
        <p:spPr>
          <a:xfrm>
            <a:off x="6126480" y="3657600"/>
            <a:ext cx="2651760" cy="329184"/>
          </a:xfrm>
          <a:prstGeom prst="rect">
            <a:avLst/>
          </a:prstGeom>
          <a:noFill/>
          <a:ln/>
        </p:spPr>
        <p:txBody>
          <a:bodyPr wrap="square" rtlCol="0" anchor="ctr"/>
          <a:lstStyle/>
          <a:p>
            <a:pPr indent="0" marL="0">
              <a:buNone/>
            </a:pPr>
            <a:r>
              <a:rPr lang="en-US" sz="1000" dirty="0">
                <a:solidFill>
                  <a:srgbClr val="B0C4C3"/>
                </a:solidFill>
                <a:latin typeface="Calibri" pitchFamily="34" charset="0"/>
                <a:ea typeface="Calibri" pitchFamily="34" charset="-122"/>
                <a:cs typeface="Calibri" pitchFamily="34" charset="-120"/>
              </a:rPr>
              <a:t>✅  Emergency hospital navigation + 7 helplines</a:t>
            </a:r>
            <a:endParaRPr lang="en-US" sz="1000" dirty="0"/>
          </a:p>
        </p:txBody>
      </p:sp>
      <p:sp>
        <p:nvSpPr>
          <p:cNvPr id="39" name="Text 37"/>
          <p:cNvSpPr/>
          <p:nvPr/>
        </p:nvSpPr>
        <p:spPr>
          <a:xfrm>
            <a:off x="640080" y="4041648"/>
            <a:ext cx="2651760" cy="329184"/>
          </a:xfrm>
          <a:prstGeom prst="rect">
            <a:avLst/>
          </a:prstGeom>
          <a:noFill/>
          <a:ln/>
        </p:spPr>
        <p:txBody>
          <a:bodyPr wrap="square" rtlCol="0" anchor="ctr"/>
          <a:lstStyle/>
          <a:p>
            <a:pPr indent="0" marL="0">
              <a:buNone/>
            </a:pPr>
            <a:r>
              <a:rPr lang="en-US" sz="1000" dirty="0">
                <a:solidFill>
                  <a:srgbClr val="B0C4C3"/>
                </a:solidFill>
                <a:latin typeface="Calibri" pitchFamily="34" charset="0"/>
                <a:ea typeface="Calibri" pitchFamily="34" charset="-122"/>
                <a:cs typeface="Calibri" pitchFamily="34" charset="-120"/>
              </a:rPr>
              <a:t>✅  Responsive WCAG-oriented UI (mobile + desktop)</a:t>
            </a:r>
            <a:endParaRPr lang="en-US" sz="1000" dirty="0"/>
          </a:p>
        </p:txBody>
      </p:sp>
      <p:sp>
        <p:nvSpPr>
          <p:cNvPr id="40" name="Text 38"/>
          <p:cNvSpPr/>
          <p:nvPr/>
        </p:nvSpPr>
        <p:spPr>
          <a:xfrm>
            <a:off x="3383280" y="4041648"/>
            <a:ext cx="2651760" cy="329184"/>
          </a:xfrm>
          <a:prstGeom prst="rect">
            <a:avLst/>
          </a:prstGeom>
          <a:noFill/>
          <a:ln/>
        </p:spPr>
        <p:txBody>
          <a:bodyPr wrap="square" rtlCol="0" anchor="ctr"/>
          <a:lstStyle/>
          <a:p>
            <a:pPr indent="0" marL="0">
              <a:buNone/>
            </a:pPr>
            <a:r>
              <a:rPr lang="en-US" sz="1000" dirty="0">
                <a:solidFill>
                  <a:srgbClr val="B0C4C3"/>
                </a:solidFill>
                <a:latin typeface="Calibri" pitchFamily="34" charset="0"/>
                <a:ea typeface="Calibri" pitchFamily="34" charset="-122"/>
                <a:cs typeface="Calibri" pitchFamily="34" charset="-120"/>
              </a:rPr>
              <a:t>✅  AIProvider abstraction — future-proof AI layer</a:t>
            </a:r>
            <a:endParaRPr lang="en-US" sz="1000" dirty="0"/>
          </a:p>
        </p:txBody>
      </p:sp>
      <p:sp>
        <p:nvSpPr>
          <p:cNvPr id="41" name="Text 39"/>
          <p:cNvSpPr/>
          <p:nvPr/>
        </p:nvSpPr>
        <p:spPr>
          <a:xfrm>
            <a:off x="6126480" y="4041648"/>
            <a:ext cx="2651760" cy="329184"/>
          </a:xfrm>
          <a:prstGeom prst="rect">
            <a:avLst/>
          </a:prstGeom>
          <a:noFill/>
          <a:ln/>
        </p:spPr>
        <p:txBody>
          <a:bodyPr wrap="square" rtlCol="0" anchor="ctr"/>
          <a:lstStyle/>
          <a:p>
            <a:pPr indent="0" marL="0">
              <a:buNone/>
            </a:pPr>
            <a:r>
              <a:rPr lang="en-US" sz="1000" dirty="0">
                <a:solidFill>
                  <a:srgbClr val="B0C4C3"/>
                </a:solidFill>
                <a:latin typeface="Calibri" pitchFamily="34" charset="0"/>
                <a:ea typeface="Calibri" pitchFamily="34" charset="-122"/>
                <a:cs typeface="Calibri" pitchFamily="34" charset="-120"/>
              </a:rPr>
              <a:t>✅  supervisord production deployment configuration</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Future Roadmap</a:t>
            </a:r>
            <a:endParaRPr lang="en-US" sz="2600" dirty="0"/>
          </a:p>
        </p:txBody>
      </p:sp>
      <p:sp>
        <p:nvSpPr>
          <p:cNvPr id="3" name="Shape 1"/>
          <p:cNvSpPr/>
          <p:nvPr/>
        </p:nvSpPr>
        <p:spPr>
          <a:xfrm>
            <a:off x="457200" y="749808"/>
            <a:ext cx="384048" cy="50292"/>
          </a:xfrm>
          <a:prstGeom prst="ROUNDED_RECTANGLE">
            <a:avLst>
              <a:gd name="adj" fmla="val 54545"/>
            </a:avLst>
          </a:prstGeom>
          <a:solidFill>
            <a:srgbClr val="12B5A8"/>
          </a:solidFill>
          <a:ln w="12700">
            <a:solidFill>
              <a:srgbClr val="12B5A8"/>
            </a:solidFill>
            <a:prstDash val="solid"/>
          </a:ln>
        </p:spPr>
      </p:sp>
      <p:sp>
        <p:nvSpPr>
          <p:cNvPr id="4" name="Shape 2"/>
          <p:cNvSpPr/>
          <p:nvPr/>
        </p:nvSpPr>
        <p:spPr>
          <a:xfrm>
            <a:off x="457200" y="932688"/>
            <a:ext cx="3886200" cy="384048"/>
          </a:xfrm>
          <a:prstGeom prst="ROUNDED_RECTANGLE">
            <a:avLst>
              <a:gd name="adj" fmla="val 16667"/>
            </a:avLst>
          </a:prstGeom>
          <a:solidFill>
            <a:srgbClr val="1A8884"/>
          </a:solidFill>
          <a:ln w="12700">
            <a:solidFill>
              <a:srgbClr val="1A8884"/>
            </a:solidFill>
            <a:prstDash val="solid"/>
          </a:ln>
        </p:spPr>
      </p:sp>
      <p:sp>
        <p:nvSpPr>
          <p:cNvPr id="5" name="Text 3"/>
          <p:cNvSpPr/>
          <p:nvPr/>
        </p:nvSpPr>
        <p:spPr>
          <a:xfrm>
            <a:off x="594360" y="932688"/>
            <a:ext cx="3657600" cy="38404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Phase 2  —  Consumer Scale</a:t>
            </a:r>
            <a:endParaRPr lang="en-US" sz="1250" dirty="0"/>
          </a:p>
        </p:txBody>
      </p:sp>
      <p:sp>
        <p:nvSpPr>
          <p:cNvPr id="6" name="Shape 4"/>
          <p:cNvSpPr/>
          <p:nvPr/>
        </p:nvSpPr>
        <p:spPr>
          <a:xfrm>
            <a:off x="457200" y="1417320"/>
            <a:ext cx="3886200" cy="402336"/>
          </a:xfrm>
          <a:prstGeom prst="ROUNDED_RECTANGLE">
            <a:avLst>
              <a:gd name="adj" fmla="val 13636"/>
            </a:avLst>
          </a:prstGeom>
          <a:solidFill>
            <a:srgbClr val="162635"/>
          </a:solidFill>
          <a:ln w="12700">
            <a:solidFill>
              <a:srgbClr val="1E3A50"/>
            </a:solidFill>
            <a:prstDash val="solid"/>
          </a:ln>
        </p:spPr>
      </p:sp>
      <p:sp>
        <p:nvSpPr>
          <p:cNvPr id="7" name="Text 5"/>
          <p:cNvSpPr/>
          <p:nvPr/>
        </p:nvSpPr>
        <p:spPr>
          <a:xfrm>
            <a:off x="594360" y="1444752"/>
            <a:ext cx="3657600" cy="347472"/>
          </a:xfrm>
          <a:prstGeom prst="rect">
            <a:avLst/>
          </a:prstGeom>
          <a:noFill/>
          <a:ln/>
        </p:spPr>
        <p:txBody>
          <a:bodyPr wrap="square" lIns="0" tIns="0" rIns="0" bIns="0" rtlCol="0" anchor="ctr"/>
          <a:lstStyle/>
          <a:p>
            <a:pPr indent="0" marL="0">
              <a:buNone/>
            </a:pPr>
            <a:r>
              <a:rPr lang="en-US" sz="1050" dirty="0">
                <a:solidFill>
                  <a:srgbClr val="B0C4C3"/>
                </a:solidFill>
                <a:latin typeface="Calibri" pitchFamily="34" charset="0"/>
                <a:ea typeface="Calibri" pitchFamily="34" charset="-122"/>
                <a:cs typeface="Calibri" pitchFamily="34" charset="-120"/>
              </a:rPr>
              <a:t>›  Doctor directory + appointment booking</a:t>
            </a:r>
            <a:endParaRPr lang="en-US" sz="1050" dirty="0"/>
          </a:p>
        </p:txBody>
      </p:sp>
      <p:sp>
        <p:nvSpPr>
          <p:cNvPr id="8" name="Shape 6"/>
          <p:cNvSpPr/>
          <p:nvPr/>
        </p:nvSpPr>
        <p:spPr>
          <a:xfrm>
            <a:off x="457200" y="1892808"/>
            <a:ext cx="3886200" cy="402336"/>
          </a:xfrm>
          <a:prstGeom prst="ROUNDED_RECTANGLE">
            <a:avLst>
              <a:gd name="adj" fmla="val 13636"/>
            </a:avLst>
          </a:prstGeom>
          <a:solidFill>
            <a:srgbClr val="162635"/>
          </a:solidFill>
          <a:ln w="12700">
            <a:solidFill>
              <a:srgbClr val="1E3A50"/>
            </a:solidFill>
            <a:prstDash val="solid"/>
          </a:ln>
        </p:spPr>
      </p:sp>
      <p:sp>
        <p:nvSpPr>
          <p:cNvPr id="9" name="Text 7"/>
          <p:cNvSpPr/>
          <p:nvPr/>
        </p:nvSpPr>
        <p:spPr>
          <a:xfrm>
            <a:off x="594360" y="1920240"/>
            <a:ext cx="3657600" cy="347472"/>
          </a:xfrm>
          <a:prstGeom prst="rect">
            <a:avLst/>
          </a:prstGeom>
          <a:noFill/>
          <a:ln/>
        </p:spPr>
        <p:txBody>
          <a:bodyPr wrap="square" lIns="0" tIns="0" rIns="0" bIns="0" rtlCol="0" anchor="ctr"/>
          <a:lstStyle/>
          <a:p>
            <a:pPr indent="0" marL="0">
              <a:buNone/>
            </a:pPr>
            <a:r>
              <a:rPr lang="en-US" sz="1050" dirty="0">
                <a:solidFill>
                  <a:srgbClr val="B0C4C3"/>
                </a:solidFill>
                <a:latin typeface="Calibri" pitchFamily="34" charset="0"/>
                <a:ea typeface="Calibri" pitchFamily="34" charset="-122"/>
                <a:cs typeface="Calibri" pitchFamily="34" charset="-120"/>
              </a:rPr>
              <a:t>›  Family health profiles</a:t>
            </a:r>
            <a:endParaRPr lang="en-US" sz="1050" dirty="0"/>
          </a:p>
        </p:txBody>
      </p:sp>
      <p:sp>
        <p:nvSpPr>
          <p:cNvPr id="10" name="Shape 8"/>
          <p:cNvSpPr/>
          <p:nvPr/>
        </p:nvSpPr>
        <p:spPr>
          <a:xfrm>
            <a:off x="457200" y="2368296"/>
            <a:ext cx="3886200" cy="402336"/>
          </a:xfrm>
          <a:prstGeom prst="ROUNDED_RECTANGLE">
            <a:avLst>
              <a:gd name="adj" fmla="val 13636"/>
            </a:avLst>
          </a:prstGeom>
          <a:solidFill>
            <a:srgbClr val="162635"/>
          </a:solidFill>
          <a:ln w="12700">
            <a:solidFill>
              <a:srgbClr val="1E3A50"/>
            </a:solidFill>
            <a:prstDash val="solid"/>
          </a:ln>
        </p:spPr>
      </p:sp>
      <p:sp>
        <p:nvSpPr>
          <p:cNvPr id="11" name="Text 9"/>
          <p:cNvSpPr/>
          <p:nvPr/>
        </p:nvSpPr>
        <p:spPr>
          <a:xfrm>
            <a:off x="594360" y="2395728"/>
            <a:ext cx="3657600" cy="347472"/>
          </a:xfrm>
          <a:prstGeom prst="rect">
            <a:avLst/>
          </a:prstGeom>
          <a:noFill/>
          <a:ln/>
        </p:spPr>
        <p:txBody>
          <a:bodyPr wrap="square" lIns="0" tIns="0" rIns="0" bIns="0" rtlCol="0" anchor="ctr"/>
          <a:lstStyle/>
          <a:p>
            <a:pPr indent="0" marL="0">
              <a:buNone/>
            </a:pPr>
            <a:r>
              <a:rPr lang="en-US" sz="1050" dirty="0">
                <a:solidFill>
                  <a:srgbClr val="B0C4C3"/>
                </a:solidFill>
                <a:latin typeface="Calibri" pitchFamily="34" charset="0"/>
                <a:ea typeface="Calibri" pitchFamily="34" charset="-122"/>
                <a:cs typeface="Calibri" pitchFamily="34" charset="-120"/>
              </a:rPr>
              <a:t>›  Preventive package comparison</a:t>
            </a:r>
            <a:endParaRPr lang="en-US" sz="1050" dirty="0"/>
          </a:p>
        </p:txBody>
      </p:sp>
      <p:sp>
        <p:nvSpPr>
          <p:cNvPr id="12" name="Shape 10"/>
          <p:cNvSpPr/>
          <p:nvPr/>
        </p:nvSpPr>
        <p:spPr>
          <a:xfrm>
            <a:off x="457200" y="2843784"/>
            <a:ext cx="3886200" cy="402336"/>
          </a:xfrm>
          <a:prstGeom prst="ROUNDED_RECTANGLE">
            <a:avLst>
              <a:gd name="adj" fmla="val 13636"/>
            </a:avLst>
          </a:prstGeom>
          <a:solidFill>
            <a:srgbClr val="162635"/>
          </a:solidFill>
          <a:ln w="12700">
            <a:solidFill>
              <a:srgbClr val="1E3A50"/>
            </a:solidFill>
            <a:prstDash val="solid"/>
          </a:ln>
        </p:spPr>
      </p:sp>
      <p:sp>
        <p:nvSpPr>
          <p:cNvPr id="13" name="Text 11"/>
          <p:cNvSpPr/>
          <p:nvPr/>
        </p:nvSpPr>
        <p:spPr>
          <a:xfrm>
            <a:off x="594360" y="2871216"/>
            <a:ext cx="3657600" cy="347472"/>
          </a:xfrm>
          <a:prstGeom prst="rect">
            <a:avLst/>
          </a:prstGeom>
          <a:noFill/>
          <a:ln/>
        </p:spPr>
        <p:txBody>
          <a:bodyPr wrap="square" lIns="0" tIns="0" rIns="0" bIns="0" rtlCol="0" anchor="ctr"/>
          <a:lstStyle/>
          <a:p>
            <a:pPr indent="0" marL="0">
              <a:buNone/>
            </a:pPr>
            <a:r>
              <a:rPr lang="en-US" sz="1050" dirty="0">
                <a:solidFill>
                  <a:srgbClr val="B0C4C3"/>
                </a:solidFill>
                <a:latin typeface="Calibri" pitchFamily="34" charset="0"/>
                <a:ea typeface="Calibri" pitchFamily="34" charset="-122"/>
                <a:cs typeface="Calibri" pitchFamily="34" charset="-120"/>
              </a:rPr>
              <a:t>›  Insurance coverage analyzer</a:t>
            </a:r>
            <a:endParaRPr lang="en-US" sz="1050" dirty="0"/>
          </a:p>
        </p:txBody>
      </p:sp>
      <p:sp>
        <p:nvSpPr>
          <p:cNvPr id="14" name="Shape 12"/>
          <p:cNvSpPr/>
          <p:nvPr/>
        </p:nvSpPr>
        <p:spPr>
          <a:xfrm>
            <a:off x="457200" y="3319272"/>
            <a:ext cx="3886200" cy="402336"/>
          </a:xfrm>
          <a:prstGeom prst="ROUNDED_RECTANGLE">
            <a:avLst>
              <a:gd name="adj" fmla="val 13636"/>
            </a:avLst>
          </a:prstGeom>
          <a:solidFill>
            <a:srgbClr val="162635"/>
          </a:solidFill>
          <a:ln w="12700">
            <a:solidFill>
              <a:srgbClr val="1E3A50"/>
            </a:solidFill>
            <a:prstDash val="solid"/>
          </a:ln>
        </p:spPr>
      </p:sp>
      <p:sp>
        <p:nvSpPr>
          <p:cNvPr id="15" name="Text 13"/>
          <p:cNvSpPr/>
          <p:nvPr/>
        </p:nvSpPr>
        <p:spPr>
          <a:xfrm>
            <a:off x="594360" y="3346704"/>
            <a:ext cx="3657600" cy="347472"/>
          </a:xfrm>
          <a:prstGeom prst="rect">
            <a:avLst/>
          </a:prstGeom>
          <a:noFill/>
          <a:ln/>
        </p:spPr>
        <p:txBody>
          <a:bodyPr wrap="square" lIns="0" tIns="0" rIns="0" bIns="0" rtlCol="0" anchor="ctr"/>
          <a:lstStyle/>
          <a:p>
            <a:pPr indent="0" marL="0">
              <a:buNone/>
            </a:pPr>
            <a:r>
              <a:rPr lang="en-US" sz="1050" dirty="0">
                <a:solidFill>
                  <a:srgbClr val="B0C4C3"/>
                </a:solidFill>
                <a:latin typeface="Calibri" pitchFamily="34" charset="0"/>
                <a:ea typeface="Calibri" pitchFamily="34" charset="-122"/>
                <a:cs typeface="Calibri" pitchFamily="34" charset="-120"/>
              </a:rPr>
              <a:t>›  WhatsApp Bill Bot</a:t>
            </a:r>
            <a:endParaRPr lang="en-US" sz="1050" dirty="0"/>
          </a:p>
        </p:txBody>
      </p:sp>
      <p:sp>
        <p:nvSpPr>
          <p:cNvPr id="16" name="Shape 14"/>
          <p:cNvSpPr/>
          <p:nvPr/>
        </p:nvSpPr>
        <p:spPr>
          <a:xfrm>
            <a:off x="457200" y="3794760"/>
            <a:ext cx="3886200" cy="402336"/>
          </a:xfrm>
          <a:prstGeom prst="ROUNDED_RECTANGLE">
            <a:avLst>
              <a:gd name="adj" fmla="val 13636"/>
            </a:avLst>
          </a:prstGeom>
          <a:solidFill>
            <a:srgbClr val="162635"/>
          </a:solidFill>
          <a:ln w="12700">
            <a:solidFill>
              <a:srgbClr val="1E3A50"/>
            </a:solidFill>
            <a:prstDash val="solid"/>
          </a:ln>
        </p:spPr>
      </p:sp>
      <p:sp>
        <p:nvSpPr>
          <p:cNvPr id="17" name="Text 15"/>
          <p:cNvSpPr/>
          <p:nvPr/>
        </p:nvSpPr>
        <p:spPr>
          <a:xfrm>
            <a:off x="594360" y="3822192"/>
            <a:ext cx="3657600" cy="347472"/>
          </a:xfrm>
          <a:prstGeom prst="rect">
            <a:avLst/>
          </a:prstGeom>
          <a:noFill/>
          <a:ln/>
        </p:spPr>
        <p:txBody>
          <a:bodyPr wrap="square" lIns="0" tIns="0" rIns="0" bIns="0" rtlCol="0" anchor="ctr"/>
          <a:lstStyle/>
          <a:p>
            <a:pPr indent="0" marL="0">
              <a:buNone/>
            </a:pPr>
            <a:r>
              <a:rPr lang="en-US" sz="1050" dirty="0">
                <a:solidFill>
                  <a:srgbClr val="B0C4C3"/>
                </a:solidFill>
                <a:latin typeface="Calibri" pitchFamily="34" charset="0"/>
                <a:ea typeface="Calibri" pitchFamily="34" charset="-122"/>
                <a:cs typeface="Calibri" pitchFamily="34" charset="-120"/>
              </a:rPr>
              <a:t>›  ABHA (Ayushman Bharat) ID linking</a:t>
            </a:r>
            <a:endParaRPr lang="en-US" sz="1050" dirty="0"/>
          </a:p>
        </p:txBody>
      </p:sp>
      <p:sp>
        <p:nvSpPr>
          <p:cNvPr id="18" name="Shape 16"/>
          <p:cNvSpPr/>
          <p:nvPr/>
        </p:nvSpPr>
        <p:spPr>
          <a:xfrm>
            <a:off x="4800600" y="932688"/>
            <a:ext cx="3886200" cy="384048"/>
          </a:xfrm>
          <a:prstGeom prst="ROUNDED_RECTANGLE">
            <a:avLst>
              <a:gd name="adj" fmla="val 16667"/>
            </a:avLst>
          </a:prstGeom>
          <a:solidFill>
            <a:srgbClr val="1A4B8C"/>
          </a:solidFill>
          <a:ln w="12700">
            <a:solidFill>
              <a:srgbClr val="1A4B8C"/>
            </a:solidFill>
            <a:prstDash val="solid"/>
          </a:ln>
        </p:spPr>
      </p:sp>
      <p:sp>
        <p:nvSpPr>
          <p:cNvPr id="19" name="Text 17"/>
          <p:cNvSpPr/>
          <p:nvPr/>
        </p:nvSpPr>
        <p:spPr>
          <a:xfrm>
            <a:off x="4937760" y="932688"/>
            <a:ext cx="3657600" cy="38404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Phase 3  —  Platform &amp; B2B</a:t>
            </a:r>
            <a:endParaRPr lang="en-US" sz="1250" dirty="0"/>
          </a:p>
        </p:txBody>
      </p:sp>
      <p:sp>
        <p:nvSpPr>
          <p:cNvPr id="20" name="Shape 18"/>
          <p:cNvSpPr/>
          <p:nvPr/>
        </p:nvSpPr>
        <p:spPr>
          <a:xfrm>
            <a:off x="4800600" y="1417320"/>
            <a:ext cx="3886200" cy="402336"/>
          </a:xfrm>
          <a:prstGeom prst="ROUNDED_RECTANGLE">
            <a:avLst>
              <a:gd name="adj" fmla="val 13636"/>
            </a:avLst>
          </a:prstGeom>
          <a:solidFill>
            <a:srgbClr val="162635"/>
          </a:solidFill>
          <a:ln w="12700">
            <a:solidFill>
              <a:srgbClr val="1E3A50"/>
            </a:solidFill>
            <a:prstDash val="solid"/>
          </a:ln>
        </p:spPr>
      </p:sp>
      <p:sp>
        <p:nvSpPr>
          <p:cNvPr id="21" name="Text 19"/>
          <p:cNvSpPr/>
          <p:nvPr/>
        </p:nvSpPr>
        <p:spPr>
          <a:xfrm>
            <a:off x="4937760" y="1444752"/>
            <a:ext cx="3657600" cy="347472"/>
          </a:xfrm>
          <a:prstGeom prst="rect">
            <a:avLst/>
          </a:prstGeom>
          <a:noFill/>
          <a:ln/>
        </p:spPr>
        <p:txBody>
          <a:bodyPr wrap="square" lIns="0" tIns="0" rIns="0" bIns="0" rtlCol="0" anchor="ctr"/>
          <a:lstStyle/>
          <a:p>
            <a:pPr indent="0" marL="0">
              <a:buNone/>
            </a:pPr>
            <a:r>
              <a:rPr lang="en-US" sz="1050" dirty="0">
                <a:solidFill>
                  <a:srgbClr val="B0C4C3"/>
                </a:solidFill>
                <a:latin typeface="Calibri" pitchFamily="34" charset="0"/>
                <a:ea typeface="Calibri" pitchFamily="34" charset="-122"/>
                <a:cs typeface="Calibri" pitchFamily="34" charset="-120"/>
              </a:rPr>
              <a:t>›  Hospital SaaS analytics dashboard</a:t>
            </a:r>
            <a:endParaRPr lang="en-US" sz="1050" dirty="0"/>
          </a:p>
        </p:txBody>
      </p:sp>
      <p:sp>
        <p:nvSpPr>
          <p:cNvPr id="22" name="Shape 20"/>
          <p:cNvSpPr/>
          <p:nvPr/>
        </p:nvSpPr>
        <p:spPr>
          <a:xfrm>
            <a:off x="4800600" y="1892808"/>
            <a:ext cx="3886200" cy="402336"/>
          </a:xfrm>
          <a:prstGeom prst="ROUNDED_RECTANGLE">
            <a:avLst>
              <a:gd name="adj" fmla="val 13636"/>
            </a:avLst>
          </a:prstGeom>
          <a:solidFill>
            <a:srgbClr val="162635"/>
          </a:solidFill>
          <a:ln w="12700">
            <a:solidFill>
              <a:srgbClr val="1E3A50"/>
            </a:solidFill>
            <a:prstDash val="solid"/>
          </a:ln>
        </p:spPr>
      </p:sp>
      <p:sp>
        <p:nvSpPr>
          <p:cNvPr id="23" name="Text 21"/>
          <p:cNvSpPr/>
          <p:nvPr/>
        </p:nvSpPr>
        <p:spPr>
          <a:xfrm>
            <a:off x="4937760" y="1920240"/>
            <a:ext cx="3657600" cy="347472"/>
          </a:xfrm>
          <a:prstGeom prst="rect">
            <a:avLst/>
          </a:prstGeom>
          <a:noFill/>
          <a:ln/>
        </p:spPr>
        <p:txBody>
          <a:bodyPr wrap="square" lIns="0" tIns="0" rIns="0" bIns="0" rtlCol="0" anchor="ctr"/>
          <a:lstStyle/>
          <a:p>
            <a:pPr indent="0" marL="0">
              <a:buNone/>
            </a:pPr>
            <a:r>
              <a:rPr lang="en-US" sz="1050" dirty="0">
                <a:solidFill>
                  <a:srgbClr val="B0C4C3"/>
                </a:solidFill>
                <a:latin typeface="Calibri" pitchFamily="34" charset="0"/>
                <a:ea typeface="Calibri" pitchFamily="34" charset="-122"/>
                <a:cs typeface="Calibri" pitchFamily="34" charset="-120"/>
              </a:rPr>
              <a:t>›  Government B2G healthcare analytics</a:t>
            </a:r>
            <a:endParaRPr lang="en-US" sz="1050" dirty="0"/>
          </a:p>
        </p:txBody>
      </p:sp>
      <p:sp>
        <p:nvSpPr>
          <p:cNvPr id="24" name="Shape 22"/>
          <p:cNvSpPr/>
          <p:nvPr/>
        </p:nvSpPr>
        <p:spPr>
          <a:xfrm>
            <a:off x="4800600" y="2368296"/>
            <a:ext cx="3886200" cy="402336"/>
          </a:xfrm>
          <a:prstGeom prst="ROUNDED_RECTANGLE">
            <a:avLst>
              <a:gd name="adj" fmla="val 13636"/>
            </a:avLst>
          </a:prstGeom>
          <a:solidFill>
            <a:srgbClr val="162635"/>
          </a:solidFill>
          <a:ln w="12700">
            <a:solidFill>
              <a:srgbClr val="1E3A50"/>
            </a:solidFill>
            <a:prstDash val="solid"/>
          </a:ln>
        </p:spPr>
      </p:sp>
      <p:sp>
        <p:nvSpPr>
          <p:cNvPr id="25" name="Text 23"/>
          <p:cNvSpPr/>
          <p:nvPr/>
        </p:nvSpPr>
        <p:spPr>
          <a:xfrm>
            <a:off x="4937760" y="2395728"/>
            <a:ext cx="3657600" cy="347472"/>
          </a:xfrm>
          <a:prstGeom prst="rect">
            <a:avLst/>
          </a:prstGeom>
          <a:noFill/>
          <a:ln/>
        </p:spPr>
        <p:txBody>
          <a:bodyPr wrap="square" lIns="0" tIns="0" rIns="0" bIns="0" rtlCol="0" anchor="ctr"/>
          <a:lstStyle/>
          <a:p>
            <a:pPr indent="0" marL="0">
              <a:buNone/>
            </a:pPr>
            <a:r>
              <a:rPr lang="en-US" sz="1050" dirty="0">
                <a:solidFill>
                  <a:srgbClr val="B0C4C3"/>
                </a:solidFill>
                <a:latin typeface="Calibri" pitchFamily="34" charset="0"/>
                <a:ea typeface="Calibri" pitchFamily="34" charset="-122"/>
                <a:cs typeface="Calibri" pitchFamily="34" charset="-120"/>
              </a:rPr>
              <a:t>›  Insurance Partner API integration</a:t>
            </a:r>
            <a:endParaRPr lang="en-US" sz="1050" dirty="0"/>
          </a:p>
        </p:txBody>
      </p:sp>
      <p:sp>
        <p:nvSpPr>
          <p:cNvPr id="26" name="Shape 24"/>
          <p:cNvSpPr/>
          <p:nvPr/>
        </p:nvSpPr>
        <p:spPr>
          <a:xfrm>
            <a:off x="4800600" y="2843784"/>
            <a:ext cx="3886200" cy="402336"/>
          </a:xfrm>
          <a:prstGeom prst="ROUNDED_RECTANGLE">
            <a:avLst>
              <a:gd name="adj" fmla="val 13636"/>
            </a:avLst>
          </a:prstGeom>
          <a:solidFill>
            <a:srgbClr val="162635"/>
          </a:solidFill>
          <a:ln w="12700">
            <a:solidFill>
              <a:srgbClr val="1E3A50"/>
            </a:solidFill>
            <a:prstDash val="solid"/>
          </a:ln>
        </p:spPr>
      </p:sp>
      <p:sp>
        <p:nvSpPr>
          <p:cNvPr id="27" name="Text 25"/>
          <p:cNvSpPr/>
          <p:nvPr/>
        </p:nvSpPr>
        <p:spPr>
          <a:xfrm>
            <a:off x="4937760" y="2871216"/>
            <a:ext cx="3657600" cy="347472"/>
          </a:xfrm>
          <a:prstGeom prst="rect">
            <a:avLst/>
          </a:prstGeom>
          <a:noFill/>
          <a:ln/>
        </p:spPr>
        <p:txBody>
          <a:bodyPr wrap="square" lIns="0" tIns="0" rIns="0" bIns="0" rtlCol="0" anchor="ctr"/>
          <a:lstStyle/>
          <a:p>
            <a:pPr indent="0" marL="0">
              <a:buNone/>
            </a:pPr>
            <a:r>
              <a:rPr lang="en-US" sz="1050" dirty="0">
                <a:solidFill>
                  <a:srgbClr val="B0C4C3"/>
                </a:solidFill>
                <a:latin typeface="Calibri" pitchFamily="34" charset="0"/>
                <a:ea typeface="Calibri" pitchFamily="34" charset="-122"/>
                <a:cs typeface="Calibri" pitchFamily="34" charset="-120"/>
              </a:rPr>
              <a:t>›  Hindi &amp; regional language voice interface</a:t>
            </a:r>
            <a:endParaRPr lang="en-US" sz="1050" dirty="0"/>
          </a:p>
        </p:txBody>
      </p:sp>
      <p:sp>
        <p:nvSpPr>
          <p:cNvPr id="28" name="Shape 26"/>
          <p:cNvSpPr/>
          <p:nvPr/>
        </p:nvSpPr>
        <p:spPr>
          <a:xfrm>
            <a:off x="4800600" y="3319272"/>
            <a:ext cx="3886200" cy="402336"/>
          </a:xfrm>
          <a:prstGeom prst="ROUNDED_RECTANGLE">
            <a:avLst>
              <a:gd name="adj" fmla="val 13636"/>
            </a:avLst>
          </a:prstGeom>
          <a:solidFill>
            <a:srgbClr val="162635"/>
          </a:solidFill>
          <a:ln w="12700">
            <a:solidFill>
              <a:srgbClr val="1E3A50"/>
            </a:solidFill>
            <a:prstDash val="solid"/>
          </a:ln>
        </p:spPr>
      </p:sp>
      <p:sp>
        <p:nvSpPr>
          <p:cNvPr id="29" name="Text 27"/>
          <p:cNvSpPr/>
          <p:nvPr/>
        </p:nvSpPr>
        <p:spPr>
          <a:xfrm>
            <a:off x="4937760" y="3346704"/>
            <a:ext cx="3657600" cy="347472"/>
          </a:xfrm>
          <a:prstGeom prst="rect">
            <a:avLst/>
          </a:prstGeom>
          <a:noFill/>
          <a:ln/>
        </p:spPr>
        <p:txBody>
          <a:bodyPr wrap="square" lIns="0" tIns="0" rIns="0" bIns="0" rtlCol="0" anchor="ctr"/>
          <a:lstStyle/>
          <a:p>
            <a:pPr indent="0" marL="0">
              <a:buNone/>
            </a:pPr>
            <a:r>
              <a:rPr lang="en-US" sz="1050" dirty="0">
                <a:solidFill>
                  <a:srgbClr val="B0C4C3"/>
                </a:solidFill>
                <a:latin typeface="Calibri" pitchFamily="34" charset="0"/>
                <a:ea typeface="Calibri" pitchFamily="34" charset="-122"/>
                <a:cs typeface="Calibri" pitchFamily="34" charset="-120"/>
              </a:rPr>
              <a:t>›  Predictive bed availability model</a:t>
            </a:r>
            <a:endParaRPr lang="en-US" sz="1050" dirty="0"/>
          </a:p>
        </p:txBody>
      </p:sp>
      <p:sp>
        <p:nvSpPr>
          <p:cNvPr id="30" name="Shape 28"/>
          <p:cNvSpPr/>
          <p:nvPr/>
        </p:nvSpPr>
        <p:spPr>
          <a:xfrm>
            <a:off x="4800600" y="3794760"/>
            <a:ext cx="3886200" cy="402336"/>
          </a:xfrm>
          <a:prstGeom prst="ROUNDED_RECTANGLE">
            <a:avLst>
              <a:gd name="adj" fmla="val 13636"/>
            </a:avLst>
          </a:prstGeom>
          <a:solidFill>
            <a:srgbClr val="162635"/>
          </a:solidFill>
          <a:ln w="12700">
            <a:solidFill>
              <a:srgbClr val="1E3A50"/>
            </a:solidFill>
            <a:prstDash val="solid"/>
          </a:ln>
        </p:spPr>
      </p:sp>
      <p:sp>
        <p:nvSpPr>
          <p:cNvPr id="31" name="Text 29"/>
          <p:cNvSpPr/>
          <p:nvPr/>
        </p:nvSpPr>
        <p:spPr>
          <a:xfrm>
            <a:off x="4937760" y="3822192"/>
            <a:ext cx="3657600" cy="347472"/>
          </a:xfrm>
          <a:prstGeom prst="rect">
            <a:avLst/>
          </a:prstGeom>
          <a:noFill/>
          <a:ln/>
        </p:spPr>
        <p:txBody>
          <a:bodyPr wrap="square" lIns="0" tIns="0" rIns="0" bIns="0" rtlCol="0" anchor="ctr"/>
          <a:lstStyle/>
          <a:p>
            <a:pPr indent="0" marL="0">
              <a:buNone/>
            </a:pPr>
            <a:r>
              <a:rPr lang="en-US" sz="1050" dirty="0">
                <a:solidFill>
                  <a:srgbClr val="B0C4C3"/>
                </a:solidFill>
                <a:latin typeface="Calibri" pitchFamily="34" charset="0"/>
                <a:ea typeface="Calibri" pitchFamily="34" charset="-122"/>
                <a:cs typeface="Calibri" pitchFamily="34" charset="-120"/>
              </a:rPr>
              <a:t>›  Full ABDM (Ayushman Bharat) certification</a:t>
            </a:r>
            <a:endParaRPr lang="en-US" sz="1050" dirty="0"/>
          </a:p>
        </p:txBody>
      </p:sp>
      <p:sp>
        <p:nvSpPr>
          <p:cNvPr id="32" name="Shape 30"/>
          <p:cNvSpPr/>
          <p:nvPr/>
        </p:nvSpPr>
        <p:spPr>
          <a:xfrm>
            <a:off x="457200" y="4407408"/>
            <a:ext cx="8229600" cy="530352"/>
          </a:xfrm>
          <a:prstGeom prst="ROUNDED_RECTANGLE">
            <a:avLst>
              <a:gd name="adj" fmla="val 15517"/>
            </a:avLst>
          </a:prstGeom>
          <a:solidFill>
            <a:srgbClr val="1A8884"/>
          </a:solidFill>
          <a:ln w="12700">
            <a:solidFill>
              <a:srgbClr val="1A8884"/>
            </a:solidFill>
            <a:prstDash val="solid"/>
          </a:ln>
        </p:spPr>
      </p:sp>
      <p:sp>
        <p:nvSpPr>
          <p:cNvPr id="33" name="Text 31"/>
          <p:cNvSpPr/>
          <p:nvPr/>
        </p:nvSpPr>
        <p:spPr>
          <a:xfrm>
            <a:off x="640080" y="4416552"/>
            <a:ext cx="7863840" cy="512064"/>
          </a:xfrm>
          <a:prstGeom prst="rect">
            <a:avLst/>
          </a:prstGeom>
          <a:noFill/>
          <a:ln/>
        </p:spPr>
        <p:txBody>
          <a:bodyPr wrap="square" lIns="0" tIns="0" rIns="0" bIns="0" rtlCol="0" anchor="ctr"/>
          <a:lstStyle/>
          <a:p>
            <a:pPr algn="ctr" indent="0" marL="0">
              <a:buNone/>
            </a:pPr>
            <a:r>
              <a:rPr lang="en-US" sz="1200" i="1" dirty="0">
                <a:solidFill>
                  <a:srgbClr val="FFFFFF"/>
                </a:solidFill>
                <a:latin typeface="Cambria" pitchFamily="34" charset="0"/>
                <a:ea typeface="Cambria" pitchFamily="34" charset="-122"/>
                <a:cs typeface="Cambria" pitchFamily="34" charset="-120"/>
              </a:rPr>
              <a:t>GavixaCare aims to make healthcare decisions clearer, more transparent, and financially safer for every Indian family.</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ANGLE">
            <a:avLst/>
          </a:prstGeom>
          <a:solidFill>
            <a:srgbClr val="12B5A8"/>
          </a:solidFill>
          <a:ln w="12700">
            <a:solidFill>
              <a:srgbClr val="12B5A8"/>
            </a:solidFill>
            <a:prstDash val="solid"/>
          </a:ln>
        </p:spPr>
      </p:sp>
      <p:sp>
        <p:nvSpPr>
          <p:cNvPr id="3" name="Shape 1"/>
          <p:cNvSpPr/>
          <p:nvPr/>
        </p:nvSpPr>
        <p:spPr>
          <a:xfrm>
            <a:off x="0" y="5093208"/>
            <a:ext cx="9144000" cy="50292"/>
          </a:xfrm>
          <a:prstGeom prst="RECTANGLE">
            <a:avLst/>
          </a:prstGeom>
          <a:solidFill>
            <a:srgbClr val="1A8884"/>
          </a:solidFill>
          <a:ln w="12700">
            <a:solidFill>
              <a:srgbClr val="1A8884"/>
            </a:solidFill>
            <a:prstDash val="solid"/>
          </a:ln>
        </p:spPr>
      </p:sp>
      <p:sp>
        <p:nvSpPr>
          <p:cNvPr id="4" name="Text 2"/>
          <p:cNvSpPr/>
          <p:nvPr/>
        </p:nvSpPr>
        <p:spPr>
          <a:xfrm>
            <a:off x="457200" y="1051560"/>
            <a:ext cx="8229600" cy="1097280"/>
          </a:xfrm>
          <a:prstGeom prst="rect">
            <a:avLst/>
          </a:prstGeom>
          <a:noFill/>
          <a:ln/>
        </p:spPr>
        <p:txBody>
          <a:bodyPr wrap="square"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Thank You</a:t>
            </a:r>
            <a:endParaRPr lang="en-US" sz="5600" dirty="0"/>
          </a:p>
        </p:txBody>
      </p:sp>
      <p:sp>
        <p:nvSpPr>
          <p:cNvPr id="5" name="Text 3"/>
          <p:cNvSpPr/>
          <p:nvPr/>
        </p:nvSpPr>
        <p:spPr>
          <a:xfrm>
            <a:off x="457200" y="2240280"/>
            <a:ext cx="8229600" cy="475488"/>
          </a:xfrm>
          <a:prstGeom prst="rect">
            <a:avLst/>
          </a:prstGeom>
          <a:noFill/>
          <a:ln/>
        </p:spPr>
        <p:txBody>
          <a:bodyPr wrap="square" rtlCol="0" anchor="ctr"/>
          <a:lstStyle/>
          <a:p>
            <a:pPr algn="ctr" indent="0" marL="0">
              <a:buNone/>
            </a:pPr>
            <a:r>
              <a:rPr lang="en-US" sz="2000" i="1" dirty="0">
                <a:solidFill>
                  <a:srgbClr val="12B5A8"/>
                </a:solidFill>
                <a:latin typeface="Calibri" pitchFamily="34" charset="0"/>
                <a:ea typeface="Calibri" pitchFamily="34" charset="-122"/>
                <a:cs typeface="Calibri" pitchFamily="34" charset="-120"/>
              </a:rPr>
              <a:t>Questions &amp; Discussion</a:t>
            </a:r>
            <a:endParaRPr lang="en-US" sz="2000" dirty="0"/>
          </a:p>
        </p:txBody>
      </p:sp>
      <p:sp>
        <p:nvSpPr>
          <p:cNvPr id="6" name="Shape 4"/>
          <p:cNvSpPr/>
          <p:nvPr/>
        </p:nvSpPr>
        <p:spPr>
          <a:xfrm>
            <a:off x="3200400" y="2816352"/>
            <a:ext cx="2743200" cy="11887"/>
          </a:xfrm>
          <a:prstGeom prst="RECTANGLE">
            <a:avLst/>
          </a:prstGeom>
          <a:solidFill>
            <a:srgbClr val="253B51"/>
          </a:solidFill>
          <a:ln w="12700">
            <a:solidFill>
              <a:srgbClr val="253B51"/>
            </a:solidFill>
            <a:prstDash val="solid"/>
          </a:ln>
        </p:spPr>
      </p:sp>
      <p:sp>
        <p:nvSpPr>
          <p:cNvPr id="7" name="Text 5"/>
          <p:cNvSpPr/>
          <p:nvPr/>
        </p:nvSpPr>
        <p:spPr>
          <a:xfrm>
            <a:off x="457200" y="2907792"/>
            <a:ext cx="8229600" cy="36576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Gagan Tiwari</a:t>
            </a:r>
            <a:endParaRPr lang="en-US" sz="1500" dirty="0"/>
          </a:p>
        </p:txBody>
      </p:sp>
      <p:sp>
        <p:nvSpPr>
          <p:cNvPr id="8" name="Text 6"/>
          <p:cNvSpPr/>
          <p:nvPr/>
        </p:nvSpPr>
        <p:spPr>
          <a:xfrm>
            <a:off x="457200" y="3291840"/>
            <a:ext cx="8229600" cy="274320"/>
          </a:xfrm>
          <a:prstGeom prst="rect">
            <a:avLst/>
          </a:prstGeom>
          <a:noFill/>
          <a:ln/>
        </p:spPr>
        <p:txBody>
          <a:bodyPr wrap="square" rtlCol="0" anchor="ctr"/>
          <a:lstStyle/>
          <a:p>
            <a:pPr algn="ctr" indent="0" marL="0">
              <a:buNone/>
            </a:pPr>
            <a:r>
              <a:rPr lang="en-US" sz="1100" dirty="0">
                <a:solidFill>
                  <a:srgbClr val="B0C4C3"/>
                </a:solidFill>
                <a:latin typeface="Calibri" pitchFamily="34" charset="0"/>
                <a:ea typeface="Calibri" pitchFamily="34" charset="-122"/>
                <a:cs typeface="Calibri" pitchFamily="34" charset="-120"/>
              </a:rPr>
              <a:t>B.Tech AIML  ·  IILM University, Greater Noida</a:t>
            </a:r>
            <a:endParaRPr lang="en-US" sz="1100" dirty="0"/>
          </a:p>
        </p:txBody>
      </p:sp>
      <p:sp>
        <p:nvSpPr>
          <p:cNvPr id="9" name="Text 7"/>
          <p:cNvSpPr/>
          <p:nvPr/>
        </p:nvSpPr>
        <p:spPr>
          <a:xfrm>
            <a:off x="457200" y="3621024"/>
            <a:ext cx="8229600" cy="274320"/>
          </a:xfrm>
          <a:prstGeom prst="rect">
            <a:avLst/>
          </a:prstGeom>
          <a:noFill/>
          <a:ln/>
        </p:spPr>
        <p:txBody>
          <a:bodyPr wrap="square" rtlCol="0" anchor="ctr"/>
          <a:lstStyle/>
          <a:p>
            <a:pPr algn="ctr" indent="0" marL="0">
              <a:buNone/>
            </a:pPr>
            <a:r>
              <a:rPr lang="en-US" sz="1000" i="1" dirty="0">
                <a:solidFill>
                  <a:srgbClr val="B0C4C3"/>
                </a:solidFill>
                <a:latin typeface="Calibri" pitchFamily="34" charset="0"/>
                <a:ea typeface="Calibri" pitchFamily="34" charset="-122"/>
                <a:cs typeface="Calibri" pitchFamily="34" charset="-120"/>
              </a:rPr>
              <a:t>Internship Project: GavixaCare — AI-Powered Healthcare Decision Support Platform</a:t>
            </a:r>
            <a:endParaRPr lang="en-US" sz="1000" dirty="0"/>
          </a:p>
        </p:txBody>
      </p:sp>
      <p:sp>
        <p:nvSpPr>
          <p:cNvPr id="10" name="Shape 8"/>
          <p:cNvSpPr/>
          <p:nvPr/>
        </p:nvSpPr>
        <p:spPr>
          <a:xfrm>
            <a:off x="3429000" y="4160520"/>
            <a:ext cx="2286000" cy="402336"/>
          </a:xfrm>
          <a:prstGeom prst="ROUNDED_RECTANGLE">
            <a:avLst>
              <a:gd name="adj" fmla="val 18182"/>
            </a:avLst>
          </a:prstGeom>
          <a:solidFill>
            <a:srgbClr val="1A8884"/>
          </a:solidFill>
          <a:ln w="12700">
            <a:solidFill>
              <a:srgbClr val="1A8884"/>
            </a:solidFill>
            <a:prstDash val="solid"/>
          </a:ln>
        </p:spPr>
      </p:sp>
      <p:sp>
        <p:nvSpPr>
          <p:cNvPr id="11" name="Text 9"/>
          <p:cNvSpPr/>
          <p:nvPr/>
        </p:nvSpPr>
        <p:spPr>
          <a:xfrm>
            <a:off x="3429000" y="4160520"/>
            <a:ext cx="2286000"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GavixaCare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2026-08-26T21:51:54Z</dcterms:created>
  <dcterms:modified xsi:type="dcterms:W3CDTF">2026-08-26T21:51:54Z</dcterms:modified>
</cp:coreProperties>
</file>